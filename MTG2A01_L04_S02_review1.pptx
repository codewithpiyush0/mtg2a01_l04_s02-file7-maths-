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468" autoAdjust="0"/>
  </p:normalViewPr>
  <p:slideViewPr>
    <p:cSldViewPr snapToGrid="0" snapToObjects="1">
      <p:cViewPr>
        <p:scale>
          <a:sx n="75" d="100"/>
          <a:sy n="75" d="100"/>
        </p:scale>
        <p:origin x="874" y="54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EA1CC6-3C71-43C5-B4B6-B3A952CDF9DF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BFB05-213A-4B42-BB90-96CC8BDDD9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98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b="1" dirty="0">
                <a:solidFill>
                  <a:srgbClr val="0B3D8C"/>
                </a:solidFill>
              </a:rPr>
              <a:t>Recommendations child interactions</a:t>
            </a:r>
          </a:p>
          <a:p>
            <a:r>
              <a:rPr lang="en-GB" sz="1200" b="1" i="0" dirty="0">
                <a:solidFill>
                  <a:srgbClr val="1B2A44"/>
                </a:solidFill>
              </a:rPr>
              <a:t>Text: </a:t>
            </a:r>
            <a:r>
              <a:rPr lang="hi-IN" sz="1200" b="0" i="0" dirty="0">
                <a:solidFill>
                  <a:srgbClr val="1B2A44"/>
                </a:solidFill>
              </a:rPr>
              <a:t>कितने बचे।</a:t>
            </a:r>
          </a:p>
          <a:p>
            <a:r>
              <a:rPr lang="en-GB" sz="1200" b="1" i="0" dirty="0">
                <a:solidFill>
                  <a:srgbClr val="1B2A44"/>
                </a:solidFill>
              </a:rPr>
              <a:t>ON the same screen, the interaction will cover.</a:t>
            </a:r>
          </a:p>
          <a:p>
            <a:r>
              <a:rPr lang="en-GB" sz="1200" b="1" i="0" dirty="0">
                <a:solidFill>
                  <a:srgbClr val="1B2A44"/>
                </a:solidFill>
              </a:rPr>
              <a:t>VO1: </a:t>
            </a:r>
            <a:r>
              <a:rPr lang="hi-IN" sz="1200" b="1" i="0" dirty="0">
                <a:solidFill>
                  <a:srgbClr val="1B2A44"/>
                </a:solidFill>
              </a:rPr>
              <a:t>अब 30 मे से 17 घटाते हैं। </a:t>
            </a:r>
            <a:r>
              <a:rPr lang="hi-IN" sz="1200" b="0" i="0" dirty="0">
                <a:solidFill>
                  <a:srgbClr val="1B2A44"/>
                </a:solidFill>
              </a:rPr>
              <a:t>सबसे पहले ब्लॉक्स की सहायता से 25 बनाते हैं।</a:t>
            </a:r>
          </a:p>
          <a:p>
            <a:r>
              <a:rPr lang="en-GB" sz="1200" dirty="0">
                <a:solidFill>
                  <a:srgbClr val="1B2A44"/>
                </a:solidFill>
              </a:rPr>
              <a:t>Buttons and blank table appears below </a:t>
            </a:r>
            <a:r>
              <a:rPr lang="hi-IN" sz="1200" dirty="0">
                <a:solidFill>
                  <a:srgbClr val="1B2A44"/>
                </a:solidFill>
              </a:rPr>
              <a:t>30 </a:t>
            </a:r>
            <a:r>
              <a:rPr lang="en-GB" sz="1200" dirty="0">
                <a:solidFill>
                  <a:srgbClr val="1B2A44"/>
                </a:solidFill>
              </a:rPr>
              <a:t> and text “</a:t>
            </a:r>
            <a:r>
              <a:rPr lang="hi-IN" sz="1200" dirty="0">
                <a:solidFill>
                  <a:srgbClr val="1B2A44"/>
                </a:solidFill>
              </a:rPr>
              <a:t>दहाई” </a:t>
            </a:r>
            <a:r>
              <a:rPr lang="en-GB" sz="1200" dirty="0">
                <a:solidFill>
                  <a:srgbClr val="1B2A44"/>
                </a:solidFill>
              </a:rPr>
              <a:t>and “</a:t>
            </a:r>
            <a:r>
              <a:rPr lang="hi-IN" sz="1200" dirty="0">
                <a:solidFill>
                  <a:srgbClr val="1B2A44"/>
                </a:solidFill>
              </a:rPr>
              <a:t>इकाई” </a:t>
            </a:r>
            <a:r>
              <a:rPr lang="en-GB" sz="1200" dirty="0">
                <a:solidFill>
                  <a:srgbClr val="1B2A44"/>
                </a:solidFill>
              </a:rPr>
              <a:t>is written in the box.</a:t>
            </a:r>
          </a:p>
          <a:p>
            <a:r>
              <a:rPr lang="en-GB" sz="1200" b="1" i="0" dirty="0">
                <a:solidFill>
                  <a:srgbClr val="1B2A44"/>
                </a:solidFill>
              </a:rPr>
              <a:t>VO2: </a:t>
            </a:r>
            <a:r>
              <a:rPr lang="hi-IN" sz="1200" b="0" i="0" dirty="0">
                <a:solidFill>
                  <a:srgbClr val="1B2A44"/>
                </a:solidFill>
              </a:rPr>
              <a:t>30</a:t>
            </a:r>
            <a:r>
              <a:rPr lang="en-GB" sz="1200" b="0" i="0" dirty="0">
                <a:solidFill>
                  <a:srgbClr val="1B2A44"/>
                </a:solidFill>
              </a:rPr>
              <a:t> </a:t>
            </a:r>
            <a:r>
              <a:rPr lang="hi-IN" sz="1200" b="0" i="0" dirty="0">
                <a:solidFill>
                  <a:srgbClr val="1B2A44"/>
                </a:solidFill>
              </a:rPr>
              <a:t>में 3 दहाई और 0  इकाई होती हैं। आप दहाई के ब्लॉकस बनाइए।</a:t>
            </a:r>
            <a:endParaRPr lang="hi-IN" sz="1050" b="0" dirty="0">
              <a:solidFill>
                <a:srgbClr val="1B2A44"/>
              </a:solidFill>
            </a:endParaRPr>
          </a:p>
          <a:p>
            <a:r>
              <a:rPr lang="en-GB" sz="1200" b="1" i="0" dirty="0">
                <a:solidFill>
                  <a:srgbClr val="1B2A44"/>
                </a:solidFill>
              </a:rPr>
              <a:t>Child will tap three times on the rod button (+), 3 rods and 3 in the table will appear acc.</a:t>
            </a:r>
          </a:p>
          <a:p>
            <a:r>
              <a:rPr lang="en-GB" sz="1200" b="1" i="0" dirty="0">
                <a:solidFill>
                  <a:srgbClr val="1B2A44"/>
                </a:solidFill>
              </a:rPr>
              <a:t>Once the child tap three times the button should be non-clickable.</a:t>
            </a:r>
          </a:p>
          <a:p>
            <a:endParaRPr lang="en-GB" sz="1200" dirty="0">
              <a:solidFill>
                <a:srgbClr val="1B2A44"/>
              </a:solidFill>
            </a:endParaRPr>
          </a:p>
          <a:p>
            <a:r>
              <a:rPr lang="en-GB" sz="1200" dirty="0">
                <a:solidFill>
                  <a:srgbClr val="1B2A44"/>
                </a:solidFill>
              </a:rPr>
              <a:t>VO: </a:t>
            </a:r>
            <a:r>
              <a:rPr lang="hi-IN" sz="1200" dirty="0">
                <a:solidFill>
                  <a:srgbClr val="1B2A44"/>
                </a:solidFill>
              </a:rPr>
              <a:t>यह आपने ब्लॉकस से संख्या 30 बनाली। </a:t>
            </a:r>
          </a:p>
          <a:p>
            <a:endParaRPr lang="hi-IN" sz="1200" b="0" i="0" dirty="0">
              <a:solidFill>
                <a:srgbClr val="1B2A44"/>
              </a:solidFill>
            </a:endParaRPr>
          </a:p>
          <a:p>
            <a:r>
              <a:rPr lang="en-GB" sz="1200" dirty="0">
                <a:solidFill>
                  <a:srgbClr val="1B2A44"/>
                </a:solidFill>
              </a:rPr>
              <a:t>Then transitioning to this screen:</a:t>
            </a:r>
            <a:endParaRPr lang="en-GB" sz="1200" b="0" i="0" dirty="0">
              <a:solidFill>
                <a:srgbClr val="1B2A44"/>
              </a:solidFill>
            </a:endParaRPr>
          </a:p>
          <a:p>
            <a:endParaRPr lang="en-GB" sz="1200" b="0" i="0" dirty="0">
              <a:solidFill>
                <a:srgbClr val="1B2A44"/>
              </a:solidFill>
            </a:endParaRPr>
          </a:p>
          <a:p>
            <a:r>
              <a:rPr lang="hi-IN" sz="1200" b="0" i="0" dirty="0">
                <a:solidFill>
                  <a:srgbClr val="1B2A44"/>
                </a:solidFill>
              </a:rPr>
              <a:t>अब 30 में से 17 घटाते हैं</a:t>
            </a:r>
            <a:r>
              <a:rPr lang="hi-IN" sz="1200" dirty="0">
                <a:solidFill>
                  <a:srgbClr val="1B2A44"/>
                </a:solidFill>
              </a:rPr>
              <a:t>।</a:t>
            </a:r>
            <a:r>
              <a:rPr lang="hi-IN" sz="1200" b="0" i="0" dirty="0">
                <a:solidFill>
                  <a:srgbClr val="1B2A44"/>
                </a:solidFill>
              </a:rPr>
              <a:t> तो पहले हम इकाई से घटाएंगे। यहाँ शून्य इकाई हैं, तो </a:t>
            </a:r>
            <a:r>
              <a:rPr lang="hi-IN" sz="1050" dirty="0">
                <a:solidFill>
                  <a:srgbClr val="1B2A44"/>
                </a:solidFill>
              </a:rPr>
              <a:t>हम 1 दहाई को यहाँ लाएंगे ओर इसको तोड़ेंगे, अब ये 1 दहाई, 10 इकाई मे हो गई। </a:t>
            </a:r>
          </a:p>
          <a:p>
            <a:r>
              <a:rPr lang="en-GB" sz="1050" dirty="0">
                <a:solidFill>
                  <a:srgbClr val="1B2A44"/>
                </a:solidFill>
              </a:rPr>
              <a:t>When VO is playing “</a:t>
            </a:r>
            <a:r>
              <a:rPr lang="hi-IN" sz="1050" dirty="0">
                <a:solidFill>
                  <a:srgbClr val="1B2A44"/>
                </a:solidFill>
              </a:rPr>
              <a:t>हम 1 दहाई को यहाँ लाएंगे” 1 </a:t>
            </a:r>
            <a:r>
              <a:rPr lang="en-GB" sz="1050" dirty="0">
                <a:solidFill>
                  <a:srgbClr val="1B2A44"/>
                </a:solidFill>
              </a:rPr>
              <a:t>tens rod will move in the ones blocks.</a:t>
            </a:r>
          </a:p>
          <a:p>
            <a:r>
              <a:rPr lang="hi-IN" sz="1200" dirty="0">
                <a:solidFill>
                  <a:srgbClr val="1B2A44"/>
                </a:solidFill>
              </a:rPr>
              <a:t>अब इसमे से 7 इकाई को हटाइए, 1, 2, 3, 4, 5, 6, 7. </a:t>
            </a:r>
            <a:endParaRPr lang="hi-IN" sz="1200" b="0" i="0" dirty="0">
              <a:solidFill>
                <a:srgbClr val="1B2A44"/>
              </a:solidFill>
            </a:endParaRPr>
          </a:p>
          <a:p>
            <a:r>
              <a:rPr lang="hi-IN" sz="1200" b="0" i="0" dirty="0">
                <a:solidFill>
                  <a:srgbClr val="1B2A44"/>
                </a:solidFill>
              </a:rPr>
              <a:t>इन 10 इकाई में से 7 इकाई घटाने पर बचीं, 3 इकाई। </a:t>
            </a:r>
          </a:p>
          <a:p>
            <a:r>
              <a:rPr lang="en-GB" sz="1050" b="0" dirty="0">
                <a:solidFill>
                  <a:srgbClr val="1B2A44"/>
                </a:solidFill>
              </a:rPr>
              <a:t>The </a:t>
            </a:r>
            <a:r>
              <a:rPr lang="hi-IN" sz="1050" b="0" dirty="0">
                <a:solidFill>
                  <a:srgbClr val="1B2A44"/>
                </a:solidFill>
              </a:rPr>
              <a:t>3 </a:t>
            </a:r>
            <a:r>
              <a:rPr lang="en-GB" sz="1050" b="0" dirty="0">
                <a:solidFill>
                  <a:srgbClr val="1B2A44"/>
                </a:solidFill>
              </a:rPr>
              <a:t> remaining blocks move to the answer card; show “</a:t>
            </a:r>
            <a:r>
              <a:rPr lang="hi-IN" sz="1050" b="0" dirty="0">
                <a:solidFill>
                  <a:srgbClr val="1B2A44"/>
                </a:solidFill>
              </a:rPr>
              <a:t>3 </a:t>
            </a:r>
            <a:r>
              <a:rPr lang="en-GB" sz="1050" b="0" dirty="0">
                <a:solidFill>
                  <a:srgbClr val="1B2A44"/>
                </a:solidFill>
              </a:rPr>
              <a:t> </a:t>
            </a:r>
            <a:r>
              <a:rPr lang="hi-IN" sz="1050" b="0" dirty="0">
                <a:solidFill>
                  <a:srgbClr val="1B2A44"/>
                </a:solidFill>
              </a:rPr>
              <a:t>इकाई” </a:t>
            </a:r>
            <a:r>
              <a:rPr lang="en-GB" sz="1050" b="0" dirty="0">
                <a:solidFill>
                  <a:srgbClr val="1B2A44"/>
                </a:solidFill>
              </a:rPr>
              <a:t>in sync with the VO.</a:t>
            </a:r>
          </a:p>
          <a:p>
            <a:r>
              <a:rPr lang="hi-IN" sz="1200" b="0" i="0" dirty="0">
                <a:solidFill>
                  <a:srgbClr val="1B2A44"/>
                </a:solidFill>
              </a:rPr>
              <a:t>VO: अब आप दहाइयाँ घटाइए। </a:t>
            </a:r>
            <a:r>
              <a:rPr lang="en-US" sz="1200" b="0" i="0" dirty="0">
                <a:solidFill>
                  <a:srgbClr val="1B2A44"/>
                </a:solidFill>
              </a:rPr>
              <a:t>2</a:t>
            </a:r>
            <a:r>
              <a:rPr lang="hi-IN" sz="1200" b="0" i="0" dirty="0">
                <a:solidFill>
                  <a:srgbClr val="1B2A44"/>
                </a:solidFill>
              </a:rPr>
              <a:t> दहाई में से </a:t>
            </a:r>
            <a:r>
              <a:rPr lang="en-US" sz="1200" b="0" i="0" dirty="0">
                <a:solidFill>
                  <a:srgbClr val="1B2A44"/>
                </a:solidFill>
              </a:rPr>
              <a:t>1</a:t>
            </a:r>
            <a:r>
              <a:rPr lang="hi-IN" sz="1200" b="0" i="0" dirty="0">
                <a:solidFill>
                  <a:srgbClr val="1B2A44"/>
                </a:solidFill>
              </a:rPr>
              <a:t> दहाई हटाइए। </a:t>
            </a:r>
            <a:endParaRPr lang="en-US" sz="1200" b="0" i="0" dirty="0">
              <a:solidFill>
                <a:srgbClr val="1B2A44"/>
              </a:solidFill>
            </a:endParaRPr>
          </a:p>
          <a:p>
            <a:r>
              <a:rPr lang="en-US" sz="1050" b="0" dirty="0">
                <a:solidFill>
                  <a:srgbClr val="1B2A44"/>
                </a:solidFill>
              </a:rPr>
              <a:t>Pulsate the Tens rods; once the child tap on the rod, leaving a greyed-out image behind. If the child doesn’t respond for 3 seconds hand nudge will appear 1 tap, pulsate again.]</a:t>
            </a:r>
          </a:p>
          <a:p>
            <a:r>
              <a:rPr lang="hi-IN" sz="1200" b="0" i="0" dirty="0">
                <a:solidFill>
                  <a:srgbClr val="1B2A44"/>
                </a:solidFill>
              </a:rPr>
              <a:t>बहुत बढ़िया! </a:t>
            </a:r>
            <a:r>
              <a:rPr lang="en-US" sz="1200" b="0" i="0" dirty="0">
                <a:solidFill>
                  <a:srgbClr val="1B2A44"/>
                </a:solidFill>
              </a:rPr>
              <a:t>2</a:t>
            </a:r>
            <a:r>
              <a:rPr lang="hi-IN" sz="1200" b="0" i="0" dirty="0">
                <a:solidFill>
                  <a:srgbClr val="1B2A44"/>
                </a:solidFill>
              </a:rPr>
              <a:t> दहाई में से </a:t>
            </a:r>
            <a:r>
              <a:rPr lang="en-US" sz="1200" b="0" i="0" dirty="0">
                <a:solidFill>
                  <a:srgbClr val="1B2A44"/>
                </a:solidFill>
              </a:rPr>
              <a:t>1</a:t>
            </a:r>
            <a:r>
              <a:rPr lang="hi-IN" sz="1200" b="0" i="0" dirty="0">
                <a:solidFill>
                  <a:srgbClr val="1B2A44"/>
                </a:solidFill>
              </a:rPr>
              <a:t> दहाई घटाने पर बची, </a:t>
            </a:r>
            <a:r>
              <a:rPr lang="en-US" sz="1200" dirty="0">
                <a:solidFill>
                  <a:srgbClr val="1B2A44"/>
                </a:solidFill>
              </a:rPr>
              <a:t>1</a:t>
            </a:r>
            <a:r>
              <a:rPr lang="hi-IN" sz="1200" b="0" i="0" dirty="0">
                <a:solidFill>
                  <a:srgbClr val="1B2A44"/>
                </a:solidFill>
              </a:rPr>
              <a:t> दहाई। </a:t>
            </a:r>
            <a:endParaRPr lang="en-US" sz="1200" b="0" i="0" dirty="0">
              <a:solidFill>
                <a:srgbClr val="1B2A44"/>
              </a:solidFill>
            </a:endParaRPr>
          </a:p>
          <a:p>
            <a:r>
              <a:rPr lang="hi-IN" sz="1050" b="0" dirty="0">
                <a:solidFill>
                  <a:srgbClr val="1B2A44"/>
                </a:solidFill>
              </a:rPr>
              <a:t>The </a:t>
            </a:r>
            <a:r>
              <a:rPr lang="en-US" sz="1050" b="0" dirty="0">
                <a:solidFill>
                  <a:srgbClr val="1B2A44"/>
                </a:solidFill>
              </a:rPr>
              <a:t>1</a:t>
            </a:r>
            <a:r>
              <a:rPr lang="hi-IN" sz="1050" b="0" dirty="0">
                <a:solidFill>
                  <a:srgbClr val="1B2A44"/>
                </a:solidFill>
              </a:rPr>
              <a:t> remaining rods move to the answer card; show “</a:t>
            </a:r>
            <a:r>
              <a:rPr lang="en-US" sz="1050" b="0" dirty="0">
                <a:solidFill>
                  <a:srgbClr val="1B2A44"/>
                </a:solidFill>
              </a:rPr>
              <a:t>1</a:t>
            </a:r>
            <a:r>
              <a:rPr lang="hi-IN" sz="1050" b="0" dirty="0">
                <a:solidFill>
                  <a:srgbClr val="1B2A44"/>
                </a:solidFill>
              </a:rPr>
              <a:t> दहाई” in sync with the VO.</a:t>
            </a:r>
          </a:p>
          <a:p>
            <a:endParaRPr lang="hi-IN" sz="1050" b="0" i="1" dirty="0">
              <a:solidFill>
                <a:srgbClr val="1B2A44"/>
              </a:solidFill>
            </a:endParaRPr>
          </a:p>
          <a:p>
            <a:r>
              <a:rPr lang="hi-IN" sz="1200" b="0" i="0" dirty="0">
                <a:solidFill>
                  <a:srgbClr val="1B2A44"/>
                </a:solidFill>
              </a:rPr>
              <a:t>30  में से </a:t>
            </a:r>
            <a:r>
              <a:rPr lang="en-US" sz="1200" b="0" i="0" dirty="0">
                <a:solidFill>
                  <a:srgbClr val="1B2A44"/>
                </a:solidFill>
              </a:rPr>
              <a:t>1</a:t>
            </a:r>
            <a:r>
              <a:rPr lang="hi-IN" sz="1200" b="0" i="0" dirty="0">
                <a:solidFill>
                  <a:srgbClr val="1B2A44"/>
                </a:solidFill>
              </a:rPr>
              <a:t>7 घटाने पर हमें मिलीं, </a:t>
            </a:r>
            <a:r>
              <a:rPr lang="en-US" sz="1200" b="0" i="0" dirty="0">
                <a:solidFill>
                  <a:srgbClr val="1B2A44"/>
                </a:solidFill>
              </a:rPr>
              <a:t>1</a:t>
            </a:r>
            <a:r>
              <a:rPr lang="hi-IN" sz="1200" b="0" i="0" dirty="0">
                <a:solidFill>
                  <a:srgbClr val="1B2A44"/>
                </a:solidFill>
              </a:rPr>
              <a:t> दहाई और 3  इकाई, यानी </a:t>
            </a:r>
            <a:r>
              <a:rPr lang="en-US" sz="1200" b="0" i="0" dirty="0">
                <a:solidFill>
                  <a:srgbClr val="1B2A44"/>
                </a:solidFill>
              </a:rPr>
              <a:t>1</a:t>
            </a:r>
            <a:r>
              <a:rPr lang="hi-IN" sz="1200" b="0" i="0" dirty="0">
                <a:solidFill>
                  <a:srgbClr val="1B2A44"/>
                </a:solidFill>
              </a:rPr>
              <a:t>3  </a:t>
            </a:r>
            <a:br>
              <a:rPr lang="en-US" sz="1200" b="0" i="0" dirty="0">
                <a:solidFill>
                  <a:srgbClr val="1B2A44"/>
                </a:solidFill>
              </a:rPr>
            </a:br>
            <a:r>
              <a:rPr lang="en-US" sz="1050" b="0" dirty="0">
                <a:solidFill>
                  <a:srgbClr val="1B2A44"/>
                </a:solidFill>
              </a:rPr>
              <a:t>Highlight the rods, blocks and text in sync with the VO. Show the 1</a:t>
            </a:r>
            <a:r>
              <a:rPr lang="hi-IN" sz="1050" b="0" dirty="0">
                <a:solidFill>
                  <a:srgbClr val="1B2A44"/>
                </a:solidFill>
              </a:rPr>
              <a:t>3 </a:t>
            </a:r>
            <a:r>
              <a:rPr lang="en-US" sz="1050" b="0" dirty="0">
                <a:solidFill>
                  <a:srgbClr val="1B2A44"/>
                </a:solidFill>
              </a:rPr>
              <a:t>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BFB05-213A-4B42-BB90-96CC8BDDD92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566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B3D8C"/>
                </a:solidFill>
              </a:rPr>
              <a:t>MTG2A01_L04_S02 — दहाई खोलकर घटाइए</a:t>
            </a:r>
          </a:p>
          <a:p>
            <a:pPr algn="ctr"/>
            <a:r>
              <a:rPr sz="1800">
                <a:solidFill>
                  <a:srgbClr val="5A6678"/>
                </a:solidFill>
              </a:rPr>
              <a:t>Page-by-page review · 17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3D8C"/>
                </a:solidFill>
              </a:rPr>
              <a:t>Overall recommendations &amp; open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B2A44"/>
                </a:solidFill>
              </a:rPr>
              <a:t>• WHAT IT TEACHES — subtracting 2-digit numbers horizontally WHEN THE ONES RUN SHORT: open one दहाई into ten इकाई, then take away ones from ones and tens from tens, and read the अंतर. Every problem in the lesson genuinely needs that regroup.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B2A44"/>
                </a:solidFill>
              </a:rPr>
              <a:t>• THE FLOW YOU ASKED FOR — (1) TEACH on blocks and then on a NUMBER LINE: 42 as 4 tens + 2 ones, one ten opened into ten ones (42 = 30 + 12), 17 taken away, and the same move shown as jumps 42 −10→ 32 −7→ 25. (2) GUIDED: the child WALKS that number line himself, then does the two columns with support. (3) PRACTICE alone. (4) ONE GAME at the end that needs everything taught — finish the number-line jump for 53 − 27 and land on the answer.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B2A44"/>
                </a:solidFill>
              </a:rPr>
              <a:t>• SIX PROBLEMS, all regrouping — teach 42−17=25 · guided 61−24=37 and 45−18 on the line · practice 45−18=27, 72−35=37, 84−46=38 · game 53−27=26.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B2A44"/>
                </a:solidFill>
              </a:rPr>
              <a:t>• FIVE DIFFERENT HAND ACTIONS across 10 test screens — tap-each-leftover-into-the-tray (×3), BUILD the rods that remain (×3), drop the missing number into the number-line jump (×2, one of them is the game), count-then-drag-to-record, and pick-the-group. No family dominates.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B2A44"/>
                </a:solidFill>
              </a:rPr>
              <a:t>• THE ROW'S REQUIRED VOCABULARY is named in the teach beats before any test uses it — जिसमें से घटाते हैं (minuend), जो घटाते हैं (subtrahend), घटाना यानी निकालना (take away), and जो बचा वही अंतर (difference).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B2A44"/>
                </a:solidFill>
              </a:rPr>
              <a:t>• ✅ FIXED BEFORE YOU SAW IT: the number line was first drawn with the values running the WRONG way (decreasing left→right) — redrawn ascending with the jumps arcing backwards, which is how a number line actually behaves.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B2A44"/>
                </a:solidFill>
              </a:rPr>
              <a:t>• ℹ THE TEACH PICTURES ARE COMPOSED, NOT AI-DRAWN — assembled from the same rod/cube art the interactive screens use, so 4 rods + 2 cubes really is 42 and the opened ten really produces exactly ten new ones. Image models cannot be trusted with an exact count, and here the count is the maths.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B2A44"/>
                </a:solidFill>
              </a:rPr>
              <a:t>• THREE THINGS THE KIT WOULD NOT LET ME BUILD — (a) there is NO take-away/place-value mechanic, so OPENING a ten is enacted in the teach art and narrated on the interactive screens, where the child handles the RESULT of the exchange one column at a time; (b) pathway 3's 'repair the wrong working' (added ten ones but forgot to remove a ten) has no matching mechanic at all — it is the sharpest misconception probe in the row and is written up as a request; (c) the BUILD screens say 'डालो' (informal) in an आप game — hardcoded in the shared engine. The engine is read-only in this kit, so all three are engine tickets. Proposed mechanic REGROUP_BLOCKS is spec'd in the build-script header.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B2A44"/>
                </a:solidFill>
              </a:rPr>
              <a:t>• ❓ FOR YOU TO DECIDE — (1) I named the vocabulary in child words rather than the formal वियोज्य / वियोजक, which read as Grade 5 — confirm or correct. (2) The game's wrong answers are the two classic slips (24 = took a ten too many, 36 = forgot the ones jump); vet those distractors. (3) Should the range push past 84−46?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B2A44"/>
                </a:solidFill>
              </a:rPr>
              <a:t>• कान से जाँचें / EAR-CHECK — all 59 Hindi lines are machine-generated (voice: Kore) and no human has heard them yet. Please listen before this reaches children.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B2A44"/>
                </a:solidFill>
              </a:rPr>
              <a:t>• REGISTER — polite आप throughout (देखिए, खोलिए, डालिए, बनाइए, गिनिए, रखिए), matching the kit's standard phase-change lines. Shown text always equals the spoken 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 · 01_landing.png</a:t>
            </a:r>
          </a:p>
        </p:txBody>
      </p:sp>
      <p:pic>
        <p:nvPicPr>
          <p:cNvPr id="3" name="Picture 2" descr="0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97" y="974354"/>
            <a:ext cx="6603175" cy="37053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  <a:endParaRPr lang="en-GB" sz="2400" b="1" dirty="0">
              <a:solidFill>
                <a:srgbClr val="1F4E79"/>
              </a:solidFill>
              <a:latin typeface="Noto Sans"/>
            </a:endParaRPr>
          </a:p>
          <a:p>
            <a:pPr>
              <a:spcAft>
                <a:spcPts val="300"/>
              </a:spcAft>
              <a:defRPr sz="1050">
                <a:solidFill>
                  <a:srgbClr val="1E1E1E"/>
                </a:solidFill>
                <a:latin typeface="Noto Sans"/>
              </a:defRPr>
            </a:pPr>
            <a:endParaRPr lang="en-GB" sz="1000" dirty="0"/>
          </a:p>
          <a:p>
            <a:pPr>
              <a:spcAft>
                <a:spcPts val="300"/>
              </a:spcAft>
              <a:defRPr sz="1050">
                <a:solidFill>
                  <a:srgbClr val="1E1E1E"/>
                </a:solidFill>
                <a:latin typeface="Noto Sans"/>
              </a:defRPr>
            </a:pPr>
            <a:r>
              <a:rPr lang="en-GB" sz="1000" dirty="0"/>
              <a:t>VO: </a:t>
            </a:r>
            <a:r>
              <a:rPr lang="hi-IN" sz="1000" dirty="0"/>
              <a:t>नमस्ते दोस्त! मैं हूँ स्विफ्टी! आज हम दहाई खोलकर घटाना सीखेंगे।</a:t>
            </a:r>
          </a:p>
          <a:p>
            <a:pPr>
              <a:spcAft>
                <a:spcPts val="300"/>
              </a:spcAft>
              <a:defRPr sz="1050">
                <a:solidFill>
                  <a:srgbClr val="1E1E1E"/>
                </a:solidFill>
                <a:latin typeface="Noto Sans"/>
              </a:defRPr>
            </a:pPr>
            <a:r>
              <a:rPr lang="en-GB" sz="1000" dirty="0"/>
              <a:t>Text: </a:t>
            </a:r>
            <a:r>
              <a:rPr lang="hi-IN" sz="1000" dirty="0"/>
              <a:t>दहाई खोलकर घटाइए</a:t>
            </a:r>
          </a:p>
          <a:p>
            <a:pPr>
              <a:spcAft>
                <a:spcPts val="300"/>
              </a:spcAft>
              <a:defRPr sz="1050">
                <a:solidFill>
                  <a:srgbClr val="1E1E1E"/>
                </a:solidFill>
                <a:latin typeface="Noto Sans"/>
              </a:defRPr>
            </a:pPr>
            <a:r>
              <a:rPr lang="en-GB" sz="1000" dirty="0"/>
              <a:t>Example on landing: 42 − 17 = ?</a:t>
            </a:r>
          </a:p>
          <a:p>
            <a:pPr>
              <a:spcAft>
                <a:spcPts val="300"/>
              </a:spcAft>
              <a:defRPr sz="1050">
                <a:solidFill>
                  <a:srgbClr val="1E1E1E"/>
                </a:solidFill>
                <a:latin typeface="Noto Sans"/>
              </a:defRPr>
            </a:pPr>
            <a:r>
              <a:rPr lang="en-GB" sz="1000" dirty="0"/>
              <a:t>Keep the same blue landing layout, mascot position, and Start button style as S01.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DA27363-AB83-1A32-497E-33D27E58978D}"/>
              </a:ext>
            </a:extLst>
          </p:cNvPr>
          <p:cNvSpPr/>
          <p:nvPr/>
        </p:nvSpPr>
        <p:spPr>
          <a:xfrm>
            <a:off x="2646293" y="2402290"/>
            <a:ext cx="3119894" cy="84943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23  −  15  =  ?</a:t>
            </a:r>
            <a:endParaRPr lang="en-IN" sz="36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82F2F1-A744-F93B-9F16-050EFDBC916C}"/>
              </a:ext>
            </a:extLst>
          </p:cNvPr>
          <p:cNvSpPr/>
          <p:nvPr/>
        </p:nvSpPr>
        <p:spPr>
          <a:xfrm>
            <a:off x="2117531" y="1850043"/>
            <a:ext cx="4704688" cy="49730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i-IN" sz="3600" b="1" dirty="0"/>
              <a:t>दहाई खोलकर घटाइए। </a:t>
            </a:r>
            <a:endParaRPr lang="en-IN" sz="3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 · 02_STORY_SCENE.png</a:t>
            </a:r>
          </a:p>
        </p:txBody>
      </p:sp>
      <p:pic>
        <p:nvPicPr>
          <p:cNvPr id="3" name="Picture 2" descr="02_STORY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2894275" cy="16240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  <a:endParaRPr lang="en-GB" sz="1600" b="1" dirty="0">
              <a:solidFill>
                <a:srgbClr val="0B3D8C"/>
              </a:solidFill>
            </a:endParaRPr>
          </a:p>
          <a:p>
            <a:pPr>
              <a:spcAft>
                <a:spcPts val="300"/>
              </a:spcAft>
              <a:defRPr sz="1050">
                <a:solidFill>
                  <a:srgbClr val="1E1E1E"/>
                </a:solidFill>
                <a:latin typeface="Noto Sans"/>
              </a:defRPr>
            </a:pPr>
            <a:r>
              <a:rPr lang="en-GB" sz="1400" dirty="0"/>
              <a:t>Text: </a:t>
            </a:r>
            <a:r>
              <a:rPr lang="hi-IN" sz="1400" dirty="0"/>
              <a:t>कितने बचे?</a:t>
            </a:r>
          </a:p>
          <a:p>
            <a:pPr>
              <a:spcAft>
                <a:spcPts val="300"/>
              </a:spcAft>
              <a:defRPr sz="1050">
                <a:solidFill>
                  <a:srgbClr val="1E1E1E"/>
                </a:solidFill>
                <a:latin typeface="Noto Sans"/>
              </a:defRPr>
            </a:pPr>
            <a:r>
              <a:rPr lang="en-GB" sz="1400" dirty="0"/>
              <a:t>VO: </a:t>
            </a:r>
            <a:r>
              <a:rPr lang="hi-IN" sz="1400" dirty="0"/>
              <a:t>यहाँ एक संख्या वाक्य दिया हुआ है। पच्चीस घटा छः बराबर कितना?</a:t>
            </a:r>
          </a:p>
          <a:p>
            <a:pPr>
              <a:spcAft>
                <a:spcPts val="300"/>
              </a:spcAft>
              <a:defRPr sz="1050">
                <a:solidFill>
                  <a:srgbClr val="1E1E1E"/>
                </a:solidFill>
                <a:latin typeface="Noto Sans"/>
              </a:defRPr>
            </a:pPr>
            <a:r>
              <a:rPr lang="hi-IN" sz="1400" dirty="0"/>
              <a:t>आइए, ब्लॉक्स की सहायता से सीखते हैं कि </a:t>
            </a:r>
            <a:r>
              <a:rPr lang="en-US" sz="1400" dirty="0"/>
              <a:t>25</a:t>
            </a:r>
            <a:r>
              <a:rPr lang="hi-IN" sz="1400" dirty="0"/>
              <a:t> में से </a:t>
            </a:r>
            <a:r>
              <a:rPr lang="en-US" sz="1400" dirty="0"/>
              <a:t>6</a:t>
            </a:r>
            <a:r>
              <a:rPr lang="hi-IN" sz="1400" dirty="0"/>
              <a:t> घटाने पर कितने बचते हैं।</a:t>
            </a:r>
          </a:p>
          <a:p>
            <a:pPr>
              <a:spcAft>
                <a:spcPts val="300"/>
              </a:spcAft>
              <a:defRPr sz="1050">
                <a:solidFill>
                  <a:srgbClr val="1E1E1E"/>
                </a:solidFill>
                <a:latin typeface="Noto Sans"/>
              </a:defRPr>
            </a:pPr>
            <a:r>
              <a:rPr lang="en-GB" sz="1400" dirty="0"/>
              <a:t>Sync 25, −, 6, =, ? with the VO.</a:t>
            </a:r>
          </a:p>
          <a:p>
            <a:endParaRPr lang="en-GB" sz="1300" dirty="0">
              <a:solidFill>
                <a:srgbClr val="1B2A44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9872B3E-013B-7BD9-F537-F73C34DC655F}"/>
              </a:ext>
            </a:extLst>
          </p:cNvPr>
          <p:cNvSpPr/>
          <p:nvPr/>
        </p:nvSpPr>
        <p:spPr>
          <a:xfrm>
            <a:off x="1129085" y="2396639"/>
            <a:ext cx="6400800" cy="3017520"/>
          </a:xfrm>
          <a:prstGeom prst="roundRect">
            <a:avLst>
              <a:gd name="adj" fmla="val 5000"/>
            </a:avLst>
          </a:prstGeom>
          <a:solidFill>
            <a:srgbClr val="F2F6FB"/>
          </a:solidFill>
          <a:ln w="50800">
            <a:solidFill>
              <a:srgbClr val="4DA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355CBF-7F48-6B5C-A2C5-C35A3EE84F0D}"/>
              </a:ext>
            </a:extLst>
          </p:cNvPr>
          <p:cNvSpPr txBox="1"/>
          <p:nvPr/>
        </p:nvSpPr>
        <p:spPr>
          <a:xfrm>
            <a:off x="3495768" y="2488079"/>
            <a:ext cx="16674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hi-IN" sz="2400" b="1" dirty="0">
                <a:solidFill>
                  <a:srgbClr val="0B3D8C"/>
                </a:solidFill>
              </a:rPr>
              <a:t>कितने बचे?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DB08E9-C2EE-517C-55A8-73C5613B9BA0}"/>
              </a:ext>
            </a:extLst>
          </p:cNvPr>
          <p:cNvSpPr/>
          <p:nvPr/>
        </p:nvSpPr>
        <p:spPr>
          <a:xfrm>
            <a:off x="2291964" y="3386939"/>
            <a:ext cx="1067463" cy="7330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25</a:t>
            </a:r>
            <a:endParaRPr lang="en-IN" sz="4000" b="1" dirty="0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8549965C-2806-D556-DD22-B07BA9CE1BC0}"/>
              </a:ext>
            </a:extLst>
          </p:cNvPr>
          <p:cNvSpPr txBox="1"/>
          <p:nvPr/>
        </p:nvSpPr>
        <p:spPr>
          <a:xfrm>
            <a:off x="3467636" y="3491867"/>
            <a:ext cx="372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−</a:t>
            </a:r>
            <a:endParaRPr lang="en-IN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Rectangle: Rounded Corners 6">
            <a:extLst>
              <a:ext uri="{FF2B5EF4-FFF2-40B4-BE49-F238E27FC236}">
                <a16:creationId xmlns:a16="http://schemas.microsoft.com/office/drawing/2014/main" id="{52D5EFDB-A89F-92BD-B33F-20A011306522}"/>
              </a:ext>
            </a:extLst>
          </p:cNvPr>
          <p:cNvSpPr/>
          <p:nvPr/>
        </p:nvSpPr>
        <p:spPr>
          <a:xfrm>
            <a:off x="3948814" y="3386939"/>
            <a:ext cx="1067463" cy="7330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  <a:endParaRPr lang="en-IN" sz="4000" b="1" dirty="0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795DC673-827F-551A-0E85-04A33B6DDA25}"/>
              </a:ext>
            </a:extLst>
          </p:cNvPr>
          <p:cNvSpPr txBox="1"/>
          <p:nvPr/>
        </p:nvSpPr>
        <p:spPr>
          <a:xfrm>
            <a:off x="5159272" y="3501805"/>
            <a:ext cx="372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en-IN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Rectangle: Rounded Corners 6">
            <a:extLst>
              <a:ext uri="{FF2B5EF4-FFF2-40B4-BE49-F238E27FC236}">
                <a16:creationId xmlns:a16="http://schemas.microsoft.com/office/drawing/2014/main" id="{604F998E-4409-A5F3-8378-5AD5A9DAAD8D}"/>
              </a:ext>
            </a:extLst>
          </p:cNvPr>
          <p:cNvSpPr/>
          <p:nvPr/>
        </p:nvSpPr>
        <p:spPr>
          <a:xfrm>
            <a:off x="5675237" y="3386939"/>
            <a:ext cx="1067463" cy="7330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?</a:t>
            </a:r>
            <a:endParaRPr lang="en-IN" sz="40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3 · 03_STORY_SCENE.png</a:t>
            </a:r>
          </a:p>
        </p:txBody>
      </p:sp>
      <p:pic>
        <p:nvPicPr>
          <p:cNvPr id="3" name="Picture 2" descr="03_STORY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443" y="0"/>
            <a:ext cx="1912937" cy="1073426"/>
          </a:xfrm>
          <a:prstGeom prst="rect">
            <a:avLst/>
          </a:prstGeom>
        </p:spPr>
      </p:pic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9C9C026A-3E45-2AFA-EF4F-E9AECF9F868F}"/>
              </a:ext>
            </a:extLst>
          </p:cNvPr>
          <p:cNvSpPr/>
          <p:nvPr/>
        </p:nvSpPr>
        <p:spPr>
          <a:xfrm>
            <a:off x="1564886" y="4352544"/>
            <a:ext cx="566928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i-IN" b="1" dirty="0"/>
              <a:t>25</a:t>
            </a:r>
            <a:endParaRPr lang="en-IN" b="1" dirty="0"/>
          </a:p>
        </p:txBody>
      </p:sp>
      <p:cxnSp>
        <p:nvCxnSpPr>
          <p:cNvPr id="6" name="Connector 30">
            <a:extLst>
              <a:ext uri="{FF2B5EF4-FFF2-40B4-BE49-F238E27FC236}">
                <a16:creationId xmlns:a16="http://schemas.microsoft.com/office/drawing/2014/main" id="{33C16292-E95B-69D7-D7B1-0AC4DD3EB2E4}"/>
              </a:ext>
            </a:extLst>
          </p:cNvPr>
          <p:cNvCxnSpPr>
            <a:cxnSpLocks/>
          </p:cNvCxnSpPr>
          <p:nvPr/>
        </p:nvCxnSpPr>
        <p:spPr>
          <a:xfrm>
            <a:off x="3487114" y="5668286"/>
            <a:ext cx="849130" cy="0"/>
          </a:xfrm>
          <a:prstGeom prst="line">
            <a:avLst/>
          </a:prstGeom>
          <a:ln w="28575">
            <a:solidFill>
              <a:srgbClr val="4F8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9">
            <a:extLst>
              <a:ext uri="{FF2B5EF4-FFF2-40B4-BE49-F238E27FC236}">
                <a16:creationId xmlns:a16="http://schemas.microsoft.com/office/drawing/2014/main" id="{3D0FE5FE-4231-AAD4-AA54-5F1C6FB404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93100" y="3462836"/>
            <a:ext cx="1086002" cy="523948"/>
          </a:xfrm>
          <a:prstGeom prst="rect">
            <a:avLst/>
          </a:prstGeom>
        </p:spPr>
      </p:pic>
      <p:pic>
        <p:nvPicPr>
          <p:cNvPr id="8" name="Picture 16">
            <a:extLst>
              <a:ext uri="{FF2B5EF4-FFF2-40B4-BE49-F238E27FC236}">
                <a16:creationId xmlns:a16="http://schemas.microsoft.com/office/drawing/2014/main" id="{C6DE2DF3-DAF3-FDBE-B1B4-823872FE5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746" y="3429000"/>
            <a:ext cx="1373908" cy="5239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A28984-A012-C69D-CE83-740A86767993}"/>
              </a:ext>
            </a:extLst>
          </p:cNvPr>
          <p:cNvSpPr txBox="1"/>
          <p:nvPr/>
        </p:nvSpPr>
        <p:spPr>
          <a:xfrm>
            <a:off x="7667301" y="129540"/>
            <a:ext cx="4526280" cy="6417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lang="en-US" sz="1100" b="1" i="0" dirty="0">
                <a:solidFill>
                  <a:srgbClr val="1B2A44"/>
                </a:solidFill>
              </a:rPr>
              <a:t>Text: </a:t>
            </a:r>
            <a:r>
              <a:rPr lang="hi-IN" sz="1100" b="0" i="0" dirty="0">
                <a:solidFill>
                  <a:srgbClr val="1B2A44"/>
                </a:solidFill>
              </a:rPr>
              <a:t>पहले 25 बनाते है।</a:t>
            </a:r>
          </a:p>
          <a:p>
            <a:r>
              <a:rPr lang="en-US" sz="1100" b="1" i="0" dirty="0">
                <a:solidFill>
                  <a:srgbClr val="1B2A44"/>
                </a:solidFill>
              </a:rPr>
              <a:t>On screen, only 25 is shown</a:t>
            </a:r>
            <a:endParaRPr lang="hi-IN" sz="1100" b="1" i="0" dirty="0">
              <a:solidFill>
                <a:srgbClr val="1B2A44"/>
              </a:solidFill>
            </a:endParaRPr>
          </a:p>
          <a:p>
            <a:r>
              <a:rPr lang="en-US" sz="1100" b="1" i="0" dirty="0">
                <a:solidFill>
                  <a:srgbClr val="1B2A44"/>
                </a:solidFill>
              </a:rPr>
              <a:t>VO1: </a:t>
            </a:r>
            <a:r>
              <a:rPr lang="hi-IN" sz="1100" b="0" i="0" dirty="0">
                <a:solidFill>
                  <a:srgbClr val="1B2A44"/>
                </a:solidFill>
              </a:rPr>
              <a:t>सबसे पहले ब्लॉक्स की सहायता से 25 बनाते हैं।</a:t>
            </a:r>
          </a:p>
          <a:p>
            <a:r>
              <a:rPr lang="hi-IN" sz="1100" dirty="0">
                <a:solidFill>
                  <a:srgbClr val="1B2A44"/>
                </a:solidFill>
              </a:rPr>
              <a:t>Buttons </a:t>
            </a:r>
            <a:r>
              <a:rPr lang="en-US" sz="1100" dirty="0">
                <a:solidFill>
                  <a:srgbClr val="1B2A44"/>
                </a:solidFill>
              </a:rPr>
              <a:t>and blank table </a:t>
            </a:r>
            <a:r>
              <a:rPr lang="hi-IN" sz="1100" dirty="0">
                <a:solidFill>
                  <a:srgbClr val="1B2A44"/>
                </a:solidFill>
              </a:rPr>
              <a:t>appears below </a:t>
            </a:r>
            <a:r>
              <a:rPr lang="en-US" sz="1100" dirty="0">
                <a:solidFill>
                  <a:srgbClr val="1B2A44"/>
                </a:solidFill>
              </a:rPr>
              <a:t>25</a:t>
            </a:r>
            <a:r>
              <a:rPr lang="hi-IN" sz="1100" dirty="0">
                <a:solidFill>
                  <a:srgbClr val="1B2A44"/>
                </a:solidFill>
              </a:rPr>
              <a:t> and text “दहाई” and “इकाई”</a:t>
            </a:r>
            <a:r>
              <a:rPr lang="en-US" sz="1100" dirty="0">
                <a:solidFill>
                  <a:srgbClr val="1B2A44"/>
                </a:solidFill>
              </a:rPr>
              <a:t> is written in the box.</a:t>
            </a:r>
            <a:endParaRPr lang="hi-IN" sz="1100" dirty="0">
              <a:solidFill>
                <a:srgbClr val="1B2A44"/>
              </a:solidFill>
            </a:endParaRPr>
          </a:p>
          <a:p>
            <a:r>
              <a:rPr lang="en-US" sz="1100" b="1" i="0" dirty="0">
                <a:solidFill>
                  <a:srgbClr val="1B2A44"/>
                </a:solidFill>
              </a:rPr>
              <a:t>VO2: </a:t>
            </a:r>
            <a:r>
              <a:rPr lang="hi-IN" sz="1100" b="0" i="0" dirty="0">
                <a:solidFill>
                  <a:srgbClr val="1B2A44"/>
                </a:solidFill>
              </a:rPr>
              <a:t>25 में 2 दहाई और 5 इकाई हैं। </a:t>
            </a:r>
            <a:r>
              <a:rPr lang="en-US" sz="1100" b="0" i="0" dirty="0">
                <a:solidFill>
                  <a:srgbClr val="1B2A44"/>
                </a:solidFill>
              </a:rPr>
              <a:t>2</a:t>
            </a:r>
            <a:r>
              <a:rPr lang="hi-IN" sz="1100" b="0" i="0" dirty="0">
                <a:solidFill>
                  <a:srgbClr val="1B2A44"/>
                </a:solidFill>
              </a:rPr>
              <a:t> दहाई के लिए </a:t>
            </a:r>
            <a:r>
              <a:rPr lang="en-US" sz="1100" b="0" i="0" dirty="0">
                <a:solidFill>
                  <a:srgbClr val="1B2A44"/>
                </a:solidFill>
              </a:rPr>
              <a:t>2</a:t>
            </a:r>
            <a:r>
              <a:rPr lang="hi-IN" sz="1100" b="0" i="0" dirty="0">
                <a:solidFill>
                  <a:srgbClr val="1B2A44"/>
                </a:solidFill>
              </a:rPr>
              <a:t> बंडल रखते हैं।</a:t>
            </a:r>
            <a:endParaRPr lang="en-US" sz="1000" b="0" dirty="0">
              <a:solidFill>
                <a:srgbClr val="1B2A44"/>
              </a:solidFill>
            </a:endParaRPr>
          </a:p>
          <a:p>
            <a:r>
              <a:rPr lang="en-US" sz="1100" b="1" i="0" dirty="0" err="1">
                <a:solidFill>
                  <a:srgbClr val="1B2A44"/>
                </a:solidFill>
              </a:rPr>
              <a:t>Swiftee</a:t>
            </a:r>
            <a:r>
              <a:rPr lang="en-US" sz="1100" b="1" i="0" dirty="0">
                <a:solidFill>
                  <a:srgbClr val="1B2A44"/>
                </a:solidFill>
              </a:rPr>
              <a:t> will tap two times on the rod button (+), 2 rods and 2 in the table will appear acc.</a:t>
            </a:r>
          </a:p>
          <a:p>
            <a:endParaRPr lang="en-US" sz="1100" b="1" i="0" dirty="0">
              <a:solidFill>
                <a:srgbClr val="1B2A44"/>
              </a:solidFill>
            </a:endParaRPr>
          </a:p>
          <a:p>
            <a:r>
              <a:rPr lang="en-US" sz="1100" b="1" i="0" dirty="0">
                <a:solidFill>
                  <a:srgbClr val="1B2A44"/>
                </a:solidFill>
              </a:rPr>
              <a:t>VO3: </a:t>
            </a:r>
            <a:r>
              <a:rPr lang="hi-IN" sz="1100" b="0" i="0" dirty="0">
                <a:solidFill>
                  <a:srgbClr val="1B2A44"/>
                </a:solidFill>
              </a:rPr>
              <a:t>अब </a:t>
            </a:r>
            <a:r>
              <a:rPr lang="en-US" sz="1100" b="0" i="0" dirty="0">
                <a:solidFill>
                  <a:srgbClr val="1B2A44"/>
                </a:solidFill>
              </a:rPr>
              <a:t>5</a:t>
            </a:r>
            <a:r>
              <a:rPr lang="hi-IN" sz="1100" b="0" i="0" dirty="0">
                <a:solidFill>
                  <a:srgbClr val="1B2A44"/>
                </a:solidFill>
              </a:rPr>
              <a:t> इकाई के लिए </a:t>
            </a:r>
            <a:r>
              <a:rPr lang="en-US" sz="1100" b="0" i="0" dirty="0">
                <a:solidFill>
                  <a:srgbClr val="1B2A44"/>
                </a:solidFill>
              </a:rPr>
              <a:t>5</a:t>
            </a:r>
            <a:r>
              <a:rPr lang="hi-IN" sz="1100" b="0" i="0" dirty="0">
                <a:solidFill>
                  <a:srgbClr val="1B2A44"/>
                </a:solidFill>
              </a:rPr>
              <a:t> ब्लॉकस रखते हैं। </a:t>
            </a:r>
            <a:br>
              <a:rPr lang="en-US" sz="1100" b="0" i="0" dirty="0">
                <a:solidFill>
                  <a:srgbClr val="1B2A44"/>
                </a:solidFill>
              </a:rPr>
            </a:br>
            <a:r>
              <a:rPr lang="en-US" sz="1000" dirty="0" err="1">
                <a:solidFill>
                  <a:srgbClr val="1B2A44"/>
                </a:solidFill>
              </a:rPr>
              <a:t>Swiftee</a:t>
            </a:r>
            <a:r>
              <a:rPr lang="en-US" sz="1000" dirty="0">
                <a:solidFill>
                  <a:srgbClr val="1B2A44"/>
                </a:solidFill>
              </a:rPr>
              <a:t> will tap five times on the ones button (+), 5 units and 5 in the table will appear acc.</a:t>
            </a:r>
            <a:endParaRPr lang="en-US" sz="1000" i="1" dirty="0">
              <a:solidFill>
                <a:srgbClr val="1B2A44"/>
              </a:solidFill>
            </a:endParaRPr>
          </a:p>
          <a:p>
            <a:endParaRPr lang="en-US" sz="1100" b="0" i="0" dirty="0">
              <a:solidFill>
                <a:srgbClr val="1B2A44"/>
              </a:solidFill>
            </a:endParaRPr>
          </a:p>
          <a:p>
            <a:r>
              <a:rPr lang="en-US" sz="1100" dirty="0">
                <a:solidFill>
                  <a:srgbClr val="1B2A44"/>
                </a:solidFill>
              </a:rPr>
              <a:t>VO: </a:t>
            </a:r>
            <a:r>
              <a:rPr lang="hi-IN" sz="1100" dirty="0">
                <a:solidFill>
                  <a:srgbClr val="1B2A44"/>
                </a:solidFill>
              </a:rPr>
              <a:t>यह हमने ब्लॉकस से संख्या पच्चीस बनाली। </a:t>
            </a:r>
          </a:p>
          <a:p>
            <a:endParaRPr lang="hi-IN" sz="1100" b="0" i="0" dirty="0">
              <a:solidFill>
                <a:srgbClr val="1B2A44"/>
              </a:solidFill>
            </a:endParaRPr>
          </a:p>
          <a:p>
            <a:r>
              <a:rPr lang="en-US" sz="1100" dirty="0">
                <a:solidFill>
                  <a:srgbClr val="1B2A44"/>
                </a:solidFill>
              </a:rPr>
              <a:t>Then transitioning to this screen:</a:t>
            </a:r>
            <a:endParaRPr lang="hi-IN" sz="1100" b="0" i="0" dirty="0">
              <a:solidFill>
                <a:srgbClr val="1B2A44"/>
              </a:solidFill>
            </a:endParaRPr>
          </a:p>
          <a:p>
            <a:endParaRPr lang="en-US" sz="1100" b="0" i="0" dirty="0">
              <a:solidFill>
                <a:srgbClr val="1B2A44"/>
              </a:solidFill>
            </a:endParaRPr>
          </a:p>
          <a:p>
            <a:r>
              <a:rPr lang="hi-IN" sz="1100" b="0" i="0" dirty="0">
                <a:solidFill>
                  <a:srgbClr val="1B2A44"/>
                </a:solidFill>
              </a:rPr>
              <a:t>अब 25  में से 6 घटाते हैं</a:t>
            </a:r>
            <a:r>
              <a:rPr lang="hi-IN" sz="1100" dirty="0">
                <a:solidFill>
                  <a:srgbClr val="1B2A44"/>
                </a:solidFill>
              </a:rPr>
              <a:t>।</a:t>
            </a:r>
            <a:r>
              <a:rPr lang="hi-IN" sz="1100" b="0" i="0" dirty="0">
                <a:solidFill>
                  <a:srgbClr val="1B2A44"/>
                </a:solidFill>
              </a:rPr>
              <a:t> 6 में सिर्फ 6 इकाई होती हैं।</a:t>
            </a:r>
          </a:p>
          <a:p>
            <a:endParaRPr lang="hi-IN" sz="1000" b="0" i="1" dirty="0">
              <a:solidFill>
                <a:srgbClr val="1B2A44"/>
              </a:solidFill>
            </a:endParaRPr>
          </a:p>
          <a:p>
            <a:r>
              <a:rPr lang="en-US" sz="1100" b="0" i="0" dirty="0">
                <a:solidFill>
                  <a:srgbClr val="1B2A44"/>
                </a:solidFill>
              </a:rPr>
              <a:t>5</a:t>
            </a:r>
            <a:r>
              <a:rPr lang="hi-IN" sz="1100" b="0" i="0" dirty="0">
                <a:solidFill>
                  <a:srgbClr val="1B2A44"/>
                </a:solidFill>
              </a:rPr>
              <a:t> इकाई में से 6 इकाई नहीं घटाई जा सकती</a:t>
            </a:r>
            <a:r>
              <a:rPr lang="hi-IN" sz="1100" dirty="0">
                <a:solidFill>
                  <a:srgbClr val="1B2A44"/>
                </a:solidFill>
              </a:rPr>
              <a:t>, चूँकि संख्या 6 बड़ी है और 5 छोटी। </a:t>
            </a:r>
            <a:endParaRPr lang="hi-IN" sz="1100" b="0" i="0" dirty="0">
              <a:solidFill>
                <a:srgbClr val="1B2A44"/>
              </a:solidFill>
            </a:endParaRPr>
          </a:p>
          <a:p>
            <a:r>
              <a:rPr lang="hi-IN" sz="1000" dirty="0">
                <a:solidFill>
                  <a:srgbClr val="1B2A44"/>
                </a:solidFill>
              </a:rPr>
              <a:t>तो हम 1 दहाई को यहाँ लाएंगे ओर इसको तोड़ेंगे, अब ये 1 दहाई, 10 इकाई मे हो गई। </a:t>
            </a:r>
            <a:endParaRPr lang="en-US" sz="1000" dirty="0">
              <a:solidFill>
                <a:srgbClr val="1B2A44"/>
              </a:solidFill>
            </a:endParaRPr>
          </a:p>
          <a:p>
            <a:r>
              <a:rPr lang="en-US" sz="1000" dirty="0">
                <a:solidFill>
                  <a:srgbClr val="1B2A44"/>
                </a:solidFill>
              </a:rPr>
              <a:t>When VO is playing “</a:t>
            </a:r>
            <a:r>
              <a:rPr lang="hi-IN" sz="1000" dirty="0">
                <a:solidFill>
                  <a:srgbClr val="1B2A44"/>
                </a:solidFill>
              </a:rPr>
              <a:t>हम 1 दहाई को यहाँ लाएंगे</a:t>
            </a:r>
            <a:r>
              <a:rPr lang="en-US" sz="1000" dirty="0">
                <a:solidFill>
                  <a:srgbClr val="1B2A44"/>
                </a:solidFill>
              </a:rPr>
              <a:t>” 1 tens rod will move in the ones blocks.</a:t>
            </a:r>
          </a:p>
          <a:p>
            <a:r>
              <a:rPr lang="hi-IN" sz="1100" b="0" i="0" dirty="0">
                <a:solidFill>
                  <a:srgbClr val="1B2A44"/>
                </a:solidFill>
              </a:rPr>
              <a:t>अब यहाँ 15 इकाई हो गई। </a:t>
            </a:r>
          </a:p>
          <a:p>
            <a:r>
              <a:rPr lang="hi-IN" sz="1100" dirty="0">
                <a:solidFill>
                  <a:srgbClr val="1B2A44"/>
                </a:solidFill>
              </a:rPr>
              <a:t>अब इसमे से 6 इकाई को हटाते है, 1, 2, 3, 4, 5, 6. </a:t>
            </a:r>
            <a:endParaRPr lang="en-US" sz="1100" b="0" i="0" dirty="0">
              <a:solidFill>
                <a:srgbClr val="1B2A44"/>
              </a:solidFill>
            </a:endParaRPr>
          </a:p>
          <a:p>
            <a:r>
              <a:rPr lang="hi-IN" sz="1100" b="0" i="0" dirty="0">
                <a:solidFill>
                  <a:srgbClr val="1B2A44"/>
                </a:solidFill>
              </a:rPr>
              <a:t>इन 15 इकाई में से 6 इकाई घटाने पर बचीं, 9 इकाई। </a:t>
            </a:r>
            <a:endParaRPr lang="en-US" sz="1100" b="0" i="0" dirty="0">
              <a:solidFill>
                <a:srgbClr val="1B2A44"/>
              </a:solidFill>
            </a:endParaRPr>
          </a:p>
          <a:p>
            <a:r>
              <a:rPr lang="hi-IN" sz="1000" b="0" dirty="0">
                <a:solidFill>
                  <a:srgbClr val="1B2A44"/>
                </a:solidFill>
              </a:rPr>
              <a:t>The 9 remaining blocks move to the answer card; show “9 इकाई” in sync with the VO.</a:t>
            </a:r>
          </a:p>
          <a:p>
            <a:endParaRPr lang="hi-IN" sz="1000" b="0" i="1" dirty="0">
              <a:solidFill>
                <a:srgbClr val="1B2A44"/>
              </a:solidFill>
            </a:endParaRPr>
          </a:p>
          <a:p>
            <a:r>
              <a:rPr lang="hi-IN" sz="1100" b="0" i="0" dirty="0">
                <a:solidFill>
                  <a:srgbClr val="1B2A44"/>
                </a:solidFill>
              </a:rPr>
              <a:t>चूँकि इसमे दहाइयाँ नहीं थी, तो यहाँ 1 इकाई ही बची। </a:t>
            </a:r>
          </a:p>
          <a:p>
            <a:endParaRPr lang="hi-IN" sz="1100" b="0" i="0" dirty="0">
              <a:solidFill>
                <a:srgbClr val="1B2A44"/>
              </a:solidFill>
            </a:endParaRPr>
          </a:p>
          <a:p>
            <a:r>
              <a:rPr lang="hi-IN" sz="1100" b="0" i="0" dirty="0">
                <a:solidFill>
                  <a:srgbClr val="1B2A44"/>
                </a:solidFill>
              </a:rPr>
              <a:t>तो, अब यहाँ 1 दहाई और 9 इकाई बची। </a:t>
            </a:r>
          </a:p>
          <a:p>
            <a:r>
              <a:rPr lang="hi-IN" sz="1100" dirty="0">
                <a:solidFill>
                  <a:srgbClr val="1B2A44"/>
                </a:solidFill>
              </a:rPr>
              <a:t>यानि </a:t>
            </a:r>
            <a:r>
              <a:rPr lang="en-US" sz="1100" b="0" i="0" dirty="0">
                <a:solidFill>
                  <a:srgbClr val="1B2A44"/>
                </a:solidFill>
              </a:rPr>
              <a:t>25</a:t>
            </a:r>
            <a:r>
              <a:rPr lang="hi-IN" sz="1100" b="0" i="0" dirty="0">
                <a:solidFill>
                  <a:srgbClr val="1B2A44"/>
                </a:solidFill>
              </a:rPr>
              <a:t> में से 6 घटाने पर हमें मिली, </a:t>
            </a:r>
            <a:r>
              <a:rPr lang="en-US" sz="1100" b="0" i="0" dirty="0">
                <a:solidFill>
                  <a:srgbClr val="1B2A44"/>
                </a:solidFill>
              </a:rPr>
              <a:t>1</a:t>
            </a:r>
            <a:r>
              <a:rPr lang="hi-IN" sz="1100" b="0" i="0" dirty="0">
                <a:solidFill>
                  <a:srgbClr val="1B2A44"/>
                </a:solidFill>
              </a:rPr>
              <a:t> दहाई और 9 इकाई, यानी 19  </a:t>
            </a:r>
            <a:br>
              <a:rPr lang="en-US" sz="1100" b="0" i="0" dirty="0">
                <a:solidFill>
                  <a:srgbClr val="1B2A44"/>
                </a:solidFill>
              </a:rPr>
            </a:br>
            <a:r>
              <a:rPr lang="en-US" sz="1000" b="0" dirty="0">
                <a:solidFill>
                  <a:srgbClr val="1B2A44"/>
                </a:solidFill>
              </a:rPr>
              <a:t>Highlight the rods, blocks and text in sync with the VO. Show the </a:t>
            </a:r>
            <a:r>
              <a:rPr lang="hi-IN" sz="1000" dirty="0">
                <a:solidFill>
                  <a:srgbClr val="1B2A44"/>
                </a:solidFill>
              </a:rPr>
              <a:t>19</a:t>
            </a:r>
            <a:r>
              <a:rPr lang="en-US" sz="1000" b="0" dirty="0">
                <a:solidFill>
                  <a:srgbClr val="1B2A44"/>
                </a:solidFill>
              </a:rPr>
              <a:t> card.</a:t>
            </a:r>
          </a:p>
        </p:txBody>
      </p:sp>
      <p:sp>
        <p:nvSpPr>
          <p:cNvPr id="10" name="Rectangle: Rounded Corners 6">
            <a:extLst>
              <a:ext uri="{FF2B5EF4-FFF2-40B4-BE49-F238E27FC236}">
                <a16:creationId xmlns:a16="http://schemas.microsoft.com/office/drawing/2014/main" id="{D84E0955-3382-E11D-DEE3-BEF2B8A5DF50}"/>
              </a:ext>
            </a:extLst>
          </p:cNvPr>
          <p:cNvSpPr/>
          <p:nvPr/>
        </p:nvSpPr>
        <p:spPr>
          <a:xfrm>
            <a:off x="2539714" y="1010767"/>
            <a:ext cx="566928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i-IN" b="1" dirty="0"/>
              <a:t>25</a:t>
            </a:r>
            <a:endParaRPr lang="en-IN" b="1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8D11634-76B6-48CE-7DE1-E09D6536F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105891"/>
              </p:ext>
            </p:extLst>
          </p:nvPr>
        </p:nvGraphicFramePr>
        <p:xfrm>
          <a:off x="1232848" y="1469874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hi-IN" sz="1200" dirty="0"/>
                        <a:t>2 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i-IN" sz="1200" dirty="0"/>
                        <a:t>5 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FD561EE4-BE47-8A3A-7D1A-276FB90EA2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916" r="35816"/>
          <a:stretch>
            <a:fillRect/>
          </a:stretch>
        </p:blipFill>
        <p:spPr>
          <a:xfrm>
            <a:off x="1840392" y="2032185"/>
            <a:ext cx="229663" cy="1097280"/>
          </a:xfrm>
          <a:prstGeom prst="rect">
            <a:avLst/>
          </a:prstGeom>
        </p:spPr>
      </p:pic>
      <p:pic>
        <p:nvPicPr>
          <p:cNvPr id="13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5D2174C4-EB7A-4B43-5ADC-3389C24B16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916" r="35816"/>
          <a:stretch>
            <a:fillRect/>
          </a:stretch>
        </p:blipFill>
        <p:spPr>
          <a:xfrm>
            <a:off x="2055808" y="2032185"/>
            <a:ext cx="229663" cy="1097280"/>
          </a:xfrm>
          <a:prstGeom prst="rect">
            <a:avLst/>
          </a:prstGeom>
        </p:spPr>
      </p:pic>
      <p:pic>
        <p:nvPicPr>
          <p:cNvPr id="1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3FFF437A-228C-36E4-DCD2-1ACC8E041A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7915" y="2429284"/>
            <a:ext cx="256032" cy="219456"/>
          </a:xfrm>
          <a:prstGeom prst="rect">
            <a:avLst/>
          </a:prstGeom>
        </p:spPr>
      </p:pic>
      <p:pic>
        <p:nvPicPr>
          <p:cNvPr id="15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4C0F6B5A-FEA5-AB36-E7DC-1C66CAC3A0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8227" y="2429284"/>
            <a:ext cx="256032" cy="219456"/>
          </a:xfrm>
          <a:prstGeom prst="rect">
            <a:avLst/>
          </a:prstGeom>
        </p:spPr>
      </p:pic>
      <p:pic>
        <p:nvPicPr>
          <p:cNvPr id="16" name="Picture 15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67750DE5-2014-53D0-09AB-318D0D2FDC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8539" y="2429284"/>
            <a:ext cx="256032" cy="219456"/>
          </a:xfrm>
          <a:prstGeom prst="rect">
            <a:avLst/>
          </a:prstGeom>
        </p:spPr>
      </p:pic>
      <p:pic>
        <p:nvPicPr>
          <p:cNvPr id="17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C71AA7BA-6C85-7200-F62A-E5FDE1E4DA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8851" y="2429284"/>
            <a:ext cx="256032" cy="219456"/>
          </a:xfrm>
          <a:prstGeom prst="rect">
            <a:avLst/>
          </a:prstGeom>
        </p:spPr>
      </p:pic>
      <p:pic>
        <p:nvPicPr>
          <p:cNvPr id="18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D4556582-412E-7C41-F169-96B9590988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9163" y="2430147"/>
            <a:ext cx="256032" cy="219456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0DA1B6A-7264-CABD-695C-4883EC91855A}"/>
              </a:ext>
            </a:extLst>
          </p:cNvPr>
          <p:cNvSpPr/>
          <p:nvPr/>
        </p:nvSpPr>
        <p:spPr>
          <a:xfrm>
            <a:off x="348734" y="874405"/>
            <a:ext cx="4957572" cy="3209544"/>
          </a:xfrm>
          <a:prstGeom prst="roundRect">
            <a:avLst>
              <a:gd name="adj" fmla="val 1710"/>
            </a:avLst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Connector 30">
            <a:extLst>
              <a:ext uri="{FF2B5EF4-FFF2-40B4-BE49-F238E27FC236}">
                <a16:creationId xmlns:a16="http://schemas.microsoft.com/office/drawing/2014/main" id="{6D6BD2B7-6DDC-9029-9703-D12C46610837}"/>
              </a:ext>
            </a:extLst>
          </p:cNvPr>
          <p:cNvCxnSpPr>
            <a:cxnSpLocks/>
          </p:cNvCxnSpPr>
          <p:nvPr/>
        </p:nvCxnSpPr>
        <p:spPr>
          <a:xfrm flipH="1">
            <a:off x="3824571" y="3367046"/>
            <a:ext cx="3797584" cy="1235434"/>
          </a:xfrm>
          <a:prstGeom prst="line">
            <a:avLst/>
          </a:prstGeom>
          <a:ln w="28575">
            <a:solidFill>
              <a:srgbClr val="4F8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A5E1026-7D1B-8D8D-DC99-F5BB8DAA9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253895"/>
              </p:ext>
            </p:extLst>
          </p:nvPr>
        </p:nvGraphicFramePr>
        <p:xfrm>
          <a:off x="416733" y="4818213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hi-IN" sz="1200" dirty="0"/>
                        <a:t>2 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i-IN" sz="1200" dirty="0"/>
                        <a:t>5 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2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C34CE2C0-AA99-13B5-2877-60A36E0BC7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916" r="35816"/>
          <a:stretch>
            <a:fillRect/>
          </a:stretch>
        </p:blipFill>
        <p:spPr>
          <a:xfrm>
            <a:off x="1024277" y="5380524"/>
            <a:ext cx="229663" cy="1097280"/>
          </a:xfrm>
          <a:prstGeom prst="rect">
            <a:avLst/>
          </a:prstGeom>
        </p:spPr>
      </p:pic>
      <p:sp>
        <p:nvSpPr>
          <p:cNvPr id="29" name="Rectangle: Rounded Corners 6">
            <a:extLst>
              <a:ext uri="{FF2B5EF4-FFF2-40B4-BE49-F238E27FC236}">
                <a16:creationId xmlns:a16="http://schemas.microsoft.com/office/drawing/2014/main" id="{BFB173B7-6090-7671-4B47-85DB1B16A935}"/>
              </a:ext>
            </a:extLst>
          </p:cNvPr>
          <p:cNvSpPr/>
          <p:nvPr/>
        </p:nvSpPr>
        <p:spPr>
          <a:xfrm>
            <a:off x="3904557" y="7186246"/>
            <a:ext cx="566928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19</a:t>
            </a:r>
            <a:endParaRPr lang="en-IN" b="1" dirty="0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31154E6-FF1E-C17E-28B5-59A79FF69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084957"/>
              </p:ext>
            </p:extLst>
          </p:nvPr>
        </p:nvGraphicFramePr>
        <p:xfrm>
          <a:off x="2756404" y="7651915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r>
                        <a:rPr lang="hi-IN" sz="1200" dirty="0"/>
                        <a:t> 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  <a:r>
                        <a:rPr lang="hi-IN" sz="1200" dirty="0"/>
                        <a:t> 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1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668F6F9D-67AD-BCDB-0640-373ECE63B9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916" r="35816"/>
          <a:stretch>
            <a:fillRect/>
          </a:stretch>
        </p:blipFill>
        <p:spPr>
          <a:xfrm>
            <a:off x="3363948" y="8214226"/>
            <a:ext cx="229663" cy="1097280"/>
          </a:xfrm>
          <a:prstGeom prst="rect">
            <a:avLst/>
          </a:prstGeom>
        </p:spPr>
      </p:pic>
      <p:pic>
        <p:nvPicPr>
          <p:cNvPr id="3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74D4437C-2FC7-B6BC-BE40-C0CFEACB3E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8714" y="5794643"/>
            <a:ext cx="256032" cy="219456"/>
          </a:xfrm>
          <a:prstGeom prst="rect">
            <a:avLst/>
          </a:prstGeom>
        </p:spPr>
      </p:pic>
      <p:pic>
        <p:nvPicPr>
          <p:cNvPr id="37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F8E48051-5587-7F9B-9E2F-30853D9252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9026" y="5794643"/>
            <a:ext cx="256032" cy="219456"/>
          </a:xfrm>
          <a:prstGeom prst="rect">
            <a:avLst/>
          </a:prstGeom>
        </p:spPr>
      </p:pic>
      <p:pic>
        <p:nvPicPr>
          <p:cNvPr id="38" name="Picture 37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CF30EEAD-2D14-4F41-89C0-17C7D5BA85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9338" y="5794643"/>
            <a:ext cx="256032" cy="219456"/>
          </a:xfrm>
          <a:prstGeom prst="rect">
            <a:avLst/>
          </a:prstGeom>
        </p:spPr>
      </p:pic>
      <p:pic>
        <p:nvPicPr>
          <p:cNvPr id="39" name="Picture 38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AAB56FEF-54F7-0B8C-D881-0A10085F3F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9650" y="5794643"/>
            <a:ext cx="256032" cy="219456"/>
          </a:xfrm>
          <a:prstGeom prst="rect">
            <a:avLst/>
          </a:prstGeom>
        </p:spPr>
      </p:pic>
      <p:pic>
        <p:nvPicPr>
          <p:cNvPr id="40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AAFC1E6E-AAA5-3C90-D26B-8D73112CF0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9962" y="5795506"/>
            <a:ext cx="256032" cy="219456"/>
          </a:xfrm>
          <a:prstGeom prst="rect">
            <a:avLst/>
          </a:prstGeom>
        </p:spPr>
      </p:pic>
      <p:pic>
        <p:nvPicPr>
          <p:cNvPr id="41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64BFE975-0AE2-36F1-FE13-C19AE20D62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916" r="35816"/>
          <a:stretch>
            <a:fillRect/>
          </a:stretch>
        </p:blipFill>
        <p:spPr>
          <a:xfrm>
            <a:off x="2117972" y="5355279"/>
            <a:ext cx="229663" cy="1097280"/>
          </a:xfrm>
          <a:prstGeom prst="rect">
            <a:avLst/>
          </a:prstGeom>
        </p:spPr>
      </p:pic>
      <p:sp>
        <p:nvSpPr>
          <p:cNvPr id="42" name="Rectangle: Rounded Corners 6">
            <a:extLst>
              <a:ext uri="{FF2B5EF4-FFF2-40B4-BE49-F238E27FC236}">
                <a16:creationId xmlns:a16="http://schemas.microsoft.com/office/drawing/2014/main" id="{F4B59081-B54C-5369-7355-C8A354E3A640}"/>
              </a:ext>
            </a:extLst>
          </p:cNvPr>
          <p:cNvSpPr/>
          <p:nvPr/>
        </p:nvSpPr>
        <p:spPr>
          <a:xfrm>
            <a:off x="5512267" y="4275173"/>
            <a:ext cx="566928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i-IN" b="1" dirty="0"/>
              <a:t>25</a:t>
            </a:r>
            <a:endParaRPr lang="en-IN" b="1" dirty="0"/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A10454E3-43E6-5B46-074B-C16BC9205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173310"/>
              </p:ext>
            </p:extLst>
          </p:nvPr>
        </p:nvGraphicFramePr>
        <p:xfrm>
          <a:off x="4364114" y="4740842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r>
                        <a:rPr lang="hi-IN" sz="1200" dirty="0"/>
                        <a:t> 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</a:t>
                      </a:r>
                      <a:r>
                        <a:rPr lang="hi-IN" sz="1200" dirty="0"/>
                        <a:t> 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4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0BE8FC11-29A7-CE7F-E3CF-E0257013BF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916" r="35816"/>
          <a:stretch>
            <a:fillRect/>
          </a:stretch>
        </p:blipFill>
        <p:spPr>
          <a:xfrm>
            <a:off x="4971658" y="5303153"/>
            <a:ext cx="229663" cy="1097280"/>
          </a:xfrm>
          <a:prstGeom prst="rect">
            <a:avLst/>
          </a:prstGeom>
        </p:spPr>
      </p:pic>
      <p:pic>
        <p:nvPicPr>
          <p:cNvPr id="45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B248CBE9-DA55-27FE-BAA3-F78783A62A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6095" y="5717272"/>
            <a:ext cx="256032" cy="219456"/>
          </a:xfrm>
          <a:prstGeom prst="rect">
            <a:avLst/>
          </a:prstGeom>
        </p:spPr>
      </p:pic>
      <p:pic>
        <p:nvPicPr>
          <p:cNvPr id="4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EF3A2CE1-F06B-E243-B378-0777D696B4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6407" y="5717272"/>
            <a:ext cx="256032" cy="219456"/>
          </a:xfrm>
          <a:prstGeom prst="rect">
            <a:avLst/>
          </a:prstGeom>
        </p:spPr>
      </p:pic>
      <p:pic>
        <p:nvPicPr>
          <p:cNvPr id="47" name="Picture 4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7015C3AD-0682-6E2E-C92D-8B7691A6E8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6719" y="5717272"/>
            <a:ext cx="256032" cy="219456"/>
          </a:xfrm>
          <a:prstGeom prst="rect">
            <a:avLst/>
          </a:prstGeom>
        </p:spPr>
      </p:pic>
      <p:pic>
        <p:nvPicPr>
          <p:cNvPr id="48" name="Picture 47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56DC19B-CC2A-0AF7-418F-786560C8CE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7031" y="5717272"/>
            <a:ext cx="256032" cy="219456"/>
          </a:xfrm>
          <a:prstGeom prst="rect">
            <a:avLst/>
          </a:prstGeom>
        </p:spPr>
      </p:pic>
      <p:pic>
        <p:nvPicPr>
          <p:cNvPr id="4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4DE3E74-A4D7-E0C1-18C4-7A81EF6DB4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7343" y="5718135"/>
            <a:ext cx="256032" cy="219456"/>
          </a:xfrm>
          <a:prstGeom prst="rect">
            <a:avLst/>
          </a:prstGeom>
        </p:spPr>
      </p:pic>
      <p:pic>
        <p:nvPicPr>
          <p:cNvPr id="53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AB698D3C-D4E5-7D4A-EC50-38F4C51B52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3083" y="5286453"/>
            <a:ext cx="256032" cy="219456"/>
          </a:xfrm>
          <a:prstGeom prst="rect">
            <a:avLst/>
          </a:prstGeom>
        </p:spPr>
      </p:pic>
      <p:pic>
        <p:nvPicPr>
          <p:cNvPr id="5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2BDEDDF-6DB1-FCF7-0D3B-204D770A1D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395" y="5286453"/>
            <a:ext cx="256032" cy="219456"/>
          </a:xfrm>
          <a:prstGeom prst="rect">
            <a:avLst/>
          </a:prstGeom>
        </p:spPr>
      </p:pic>
      <p:pic>
        <p:nvPicPr>
          <p:cNvPr id="55" name="Picture 54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30F85031-AB07-B6CF-84A9-CA4D82288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707" y="5286453"/>
            <a:ext cx="256032" cy="219456"/>
          </a:xfrm>
          <a:prstGeom prst="rect">
            <a:avLst/>
          </a:prstGeom>
        </p:spPr>
      </p:pic>
      <p:pic>
        <p:nvPicPr>
          <p:cNvPr id="56" name="Picture 55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CD998499-F003-E4EE-94AC-DC6A310E26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019" y="5286453"/>
            <a:ext cx="256032" cy="219456"/>
          </a:xfrm>
          <a:prstGeom prst="rect">
            <a:avLst/>
          </a:prstGeom>
        </p:spPr>
      </p:pic>
      <p:pic>
        <p:nvPicPr>
          <p:cNvPr id="57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EF455C5-E13C-CDE1-2175-13816D828B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4331" y="5287316"/>
            <a:ext cx="256032" cy="219456"/>
          </a:xfrm>
          <a:prstGeom prst="rect">
            <a:avLst/>
          </a:prstGeom>
        </p:spPr>
      </p:pic>
      <p:pic>
        <p:nvPicPr>
          <p:cNvPr id="58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D0D18312-6B04-3CFD-C601-EAF50E2D68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3083" y="5496090"/>
            <a:ext cx="256032" cy="219456"/>
          </a:xfrm>
          <a:prstGeom prst="rect">
            <a:avLst/>
          </a:prstGeom>
        </p:spPr>
      </p:pic>
      <p:pic>
        <p:nvPicPr>
          <p:cNvPr id="5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EDAE0C06-E176-373E-69F5-377983D6E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395" y="5496090"/>
            <a:ext cx="256032" cy="219456"/>
          </a:xfrm>
          <a:prstGeom prst="rect">
            <a:avLst/>
          </a:prstGeom>
        </p:spPr>
      </p:pic>
      <p:pic>
        <p:nvPicPr>
          <p:cNvPr id="60" name="Picture 59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E9ECFD2-5C51-B765-66DC-310D5AD77B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707" y="5496090"/>
            <a:ext cx="256032" cy="219456"/>
          </a:xfrm>
          <a:prstGeom prst="rect">
            <a:avLst/>
          </a:prstGeom>
        </p:spPr>
      </p:pic>
      <p:pic>
        <p:nvPicPr>
          <p:cNvPr id="61" name="Picture 60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B3BDF107-B472-1D75-B800-254D45C416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019" y="5496090"/>
            <a:ext cx="256032" cy="219456"/>
          </a:xfrm>
          <a:prstGeom prst="rect">
            <a:avLst/>
          </a:prstGeom>
        </p:spPr>
      </p:pic>
      <p:pic>
        <p:nvPicPr>
          <p:cNvPr id="62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3BB310C-05CC-751A-3A87-938A76DFF2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4331" y="5496953"/>
            <a:ext cx="256032" cy="219456"/>
          </a:xfrm>
          <a:prstGeom prst="rect">
            <a:avLst/>
          </a:prstGeom>
        </p:spPr>
      </p:pic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7102934-B87E-E4EC-C1EB-CA7114AC1274}"/>
              </a:ext>
            </a:extLst>
          </p:cNvPr>
          <p:cNvSpPr/>
          <p:nvPr/>
        </p:nvSpPr>
        <p:spPr>
          <a:xfrm>
            <a:off x="6307552" y="5258880"/>
            <a:ext cx="1125003" cy="462762"/>
          </a:xfrm>
          <a:prstGeom prst="roundRect">
            <a:avLst>
              <a:gd name="adj" fmla="val 1710"/>
            </a:avLst>
          </a:prstGeom>
          <a:noFill/>
          <a:ln w="19050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B517DFB6-1543-3019-96FC-0B49D315B8D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4655693" y="8744091"/>
            <a:ext cx="256032" cy="219456"/>
          </a:xfrm>
          <a:prstGeom prst="rect">
            <a:avLst/>
          </a:prstGeom>
        </p:spPr>
      </p:pic>
      <p:pic>
        <p:nvPicPr>
          <p:cNvPr id="65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ECBAC686-7563-BF67-7E33-C5402726B9E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4866005" y="8744091"/>
            <a:ext cx="256032" cy="219456"/>
          </a:xfrm>
          <a:prstGeom prst="rect">
            <a:avLst/>
          </a:prstGeom>
        </p:spPr>
      </p:pic>
      <p:pic>
        <p:nvPicPr>
          <p:cNvPr id="66" name="Picture 65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8DB212E5-7973-BB7B-77ED-D54B964C10F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5076317" y="8744091"/>
            <a:ext cx="256032" cy="219456"/>
          </a:xfrm>
          <a:prstGeom prst="rect">
            <a:avLst/>
          </a:prstGeom>
        </p:spPr>
      </p:pic>
      <p:pic>
        <p:nvPicPr>
          <p:cNvPr id="67" name="Picture 6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611AAFC0-26C4-93F8-E247-7C899BBBBA8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5286629" y="8744091"/>
            <a:ext cx="256032" cy="219456"/>
          </a:xfrm>
          <a:prstGeom prst="rect">
            <a:avLst/>
          </a:prstGeom>
        </p:spPr>
      </p:pic>
      <p:pic>
        <p:nvPicPr>
          <p:cNvPr id="68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62205F2-FF4D-3E45-8354-8DF671CEAC4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5496941" y="8744954"/>
            <a:ext cx="256032" cy="219456"/>
          </a:xfrm>
          <a:prstGeom prst="rect">
            <a:avLst/>
          </a:prstGeom>
        </p:spPr>
      </p:pic>
      <p:pic>
        <p:nvPicPr>
          <p:cNvPr id="6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93209337-D2B6-CCF3-654C-B18C9F5E1E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2681" y="8313272"/>
            <a:ext cx="256032" cy="219456"/>
          </a:xfrm>
          <a:prstGeom prst="rect">
            <a:avLst/>
          </a:prstGeom>
        </p:spPr>
      </p:pic>
      <p:pic>
        <p:nvPicPr>
          <p:cNvPr id="70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59FC5145-A635-DACE-8002-3265F90E4E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2993" y="8313272"/>
            <a:ext cx="256032" cy="219456"/>
          </a:xfrm>
          <a:prstGeom prst="rect">
            <a:avLst/>
          </a:prstGeom>
        </p:spPr>
      </p:pic>
      <p:pic>
        <p:nvPicPr>
          <p:cNvPr id="71" name="Picture 70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CE9CC2E3-FA15-8E8C-5745-C90A4D6261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3305" y="8313272"/>
            <a:ext cx="256032" cy="219456"/>
          </a:xfrm>
          <a:prstGeom prst="rect">
            <a:avLst/>
          </a:prstGeom>
        </p:spPr>
      </p:pic>
      <p:pic>
        <p:nvPicPr>
          <p:cNvPr id="72" name="Picture 71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6B0C3E6B-47F9-8539-7325-FA3E0EA790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3617" y="8313272"/>
            <a:ext cx="256032" cy="219456"/>
          </a:xfrm>
          <a:prstGeom prst="rect">
            <a:avLst/>
          </a:prstGeom>
        </p:spPr>
      </p:pic>
      <p:pic>
        <p:nvPicPr>
          <p:cNvPr id="73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DFB72B04-6276-220D-F110-F5BD77C000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3929" y="8314135"/>
            <a:ext cx="256032" cy="219456"/>
          </a:xfrm>
          <a:prstGeom prst="rect">
            <a:avLst/>
          </a:prstGeom>
        </p:spPr>
      </p:pic>
      <p:pic>
        <p:nvPicPr>
          <p:cNvPr id="7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4CC2CB62-057E-F26E-970F-D17F09D184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2681" y="8522909"/>
            <a:ext cx="256032" cy="219456"/>
          </a:xfrm>
          <a:prstGeom prst="rect">
            <a:avLst/>
          </a:prstGeom>
        </p:spPr>
      </p:pic>
      <p:pic>
        <p:nvPicPr>
          <p:cNvPr id="75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37334C8-1FE1-E8C4-2946-D0415AEB7F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2993" y="8522909"/>
            <a:ext cx="256032" cy="219456"/>
          </a:xfrm>
          <a:prstGeom prst="rect">
            <a:avLst/>
          </a:prstGeom>
        </p:spPr>
      </p:pic>
      <p:pic>
        <p:nvPicPr>
          <p:cNvPr id="76" name="Picture 75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43B608E-59D7-3992-2030-6049516F31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3305" y="8522909"/>
            <a:ext cx="256032" cy="219456"/>
          </a:xfrm>
          <a:prstGeom prst="rect">
            <a:avLst/>
          </a:prstGeom>
        </p:spPr>
      </p:pic>
      <p:pic>
        <p:nvPicPr>
          <p:cNvPr id="77" name="Picture 7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A60C3F35-9EA1-5757-68BB-8F21A4A552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3617" y="8522909"/>
            <a:ext cx="256032" cy="219456"/>
          </a:xfrm>
          <a:prstGeom prst="rect">
            <a:avLst/>
          </a:prstGeom>
        </p:spPr>
      </p:pic>
      <p:pic>
        <p:nvPicPr>
          <p:cNvPr id="78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71E2C935-727B-C396-E51A-360F300B726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5493929" y="8523772"/>
            <a:ext cx="256032" cy="219456"/>
          </a:xfrm>
          <a:prstGeom prst="rect">
            <a:avLst/>
          </a:prstGeom>
        </p:spPr>
      </p:pic>
      <p:cxnSp>
        <p:nvCxnSpPr>
          <p:cNvPr id="80" name="Connector 30">
            <a:extLst>
              <a:ext uri="{FF2B5EF4-FFF2-40B4-BE49-F238E27FC236}">
                <a16:creationId xmlns:a16="http://schemas.microsoft.com/office/drawing/2014/main" id="{531D9B34-90F2-57F9-05C1-1EFB9D905253}"/>
              </a:ext>
            </a:extLst>
          </p:cNvPr>
          <p:cNvCxnSpPr>
            <a:cxnSpLocks/>
          </p:cNvCxnSpPr>
          <p:nvPr/>
        </p:nvCxnSpPr>
        <p:spPr>
          <a:xfrm flipH="1">
            <a:off x="4616380" y="6639014"/>
            <a:ext cx="1434071" cy="761530"/>
          </a:xfrm>
          <a:prstGeom prst="line">
            <a:avLst/>
          </a:prstGeom>
          <a:ln w="28575">
            <a:solidFill>
              <a:srgbClr val="4F8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65EF2-CEF7-983D-E5FF-ED14AE4DF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E3214F-C90B-73BB-470C-954D3DEC4340}"/>
              </a:ext>
            </a:extLst>
          </p:cNvPr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 · 02_STORY_SCENE.png</a:t>
            </a:r>
          </a:p>
        </p:txBody>
      </p:sp>
      <p:pic>
        <p:nvPicPr>
          <p:cNvPr id="3" name="Picture 2" descr="02_STORY_SCENE.png">
            <a:extLst>
              <a:ext uri="{FF2B5EF4-FFF2-40B4-BE49-F238E27FC236}">
                <a16:creationId xmlns:a16="http://schemas.microsoft.com/office/drawing/2014/main" id="{050D304A-48A0-05C4-7F3C-73E850719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2894275" cy="16240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5D0886-844E-8AAA-99BD-2668E01ABB19}"/>
              </a:ext>
            </a:extLst>
          </p:cNvPr>
          <p:cNvSpPr txBox="1"/>
          <p:nvPr/>
        </p:nvSpPr>
        <p:spPr>
          <a:xfrm>
            <a:off x="8229600" y="731520"/>
            <a:ext cx="3596335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  <a:endParaRPr lang="en-GB" sz="1600" b="1" dirty="0">
              <a:solidFill>
                <a:srgbClr val="0B3D8C"/>
              </a:solidFill>
            </a:endParaRPr>
          </a:p>
          <a:p>
            <a:endParaRPr lang="en-GB" b="1" dirty="0">
              <a:solidFill>
                <a:srgbClr val="0B3D8C"/>
              </a:solidFill>
            </a:endParaRPr>
          </a:p>
          <a:p>
            <a:r>
              <a:rPr lang="en-GB" sz="1400" b="1" dirty="0">
                <a:solidFill>
                  <a:srgbClr val="1B2A44"/>
                </a:solidFill>
              </a:rPr>
              <a:t>Appear the first screen.</a:t>
            </a:r>
          </a:p>
          <a:p>
            <a:endParaRPr lang="en-GB" sz="1400" b="1" dirty="0">
              <a:solidFill>
                <a:srgbClr val="1B2A44"/>
              </a:solidFill>
            </a:endParaRPr>
          </a:p>
          <a:p>
            <a:r>
              <a:rPr lang="en-GB" sz="1400" b="1" dirty="0">
                <a:solidFill>
                  <a:srgbClr val="1B2A44"/>
                </a:solidFill>
              </a:rPr>
              <a:t>VO: </a:t>
            </a:r>
            <a:r>
              <a:rPr lang="hi-IN" sz="1400" b="1" dirty="0">
                <a:solidFill>
                  <a:srgbClr val="1B2A44"/>
                </a:solidFill>
              </a:rPr>
              <a:t>यहाँ हमने पच्चीस मे से छः घटाए है, तो बचे 19। अब इस डिब्बे मे 19 आएगा। </a:t>
            </a:r>
          </a:p>
          <a:p>
            <a:r>
              <a:rPr lang="en-GB" sz="1400" b="1" dirty="0">
                <a:solidFill>
                  <a:srgbClr val="1B2A44"/>
                </a:solidFill>
              </a:rPr>
              <a:t>When </a:t>
            </a:r>
            <a:r>
              <a:rPr lang="en-GB" sz="1400" b="1" dirty="0" err="1">
                <a:solidFill>
                  <a:srgbClr val="1B2A44"/>
                </a:solidFill>
              </a:rPr>
              <a:t>swiftee</a:t>
            </a:r>
            <a:r>
              <a:rPr lang="en-GB" sz="1400" b="1" dirty="0">
                <a:solidFill>
                  <a:srgbClr val="1B2A44"/>
                </a:solidFill>
              </a:rPr>
              <a:t> saying “1</a:t>
            </a:r>
            <a:r>
              <a:rPr lang="hi-IN" sz="1400" b="1" dirty="0">
                <a:solidFill>
                  <a:srgbClr val="1B2A44"/>
                </a:solidFill>
              </a:rPr>
              <a:t>9 </a:t>
            </a:r>
            <a:r>
              <a:rPr lang="en-GB" sz="1400" b="1" dirty="0" err="1">
                <a:solidFill>
                  <a:srgbClr val="1B2A44"/>
                </a:solidFill>
              </a:rPr>
              <a:t>ayega</a:t>
            </a:r>
            <a:r>
              <a:rPr lang="en-GB" sz="1400" b="1" dirty="0">
                <a:solidFill>
                  <a:srgbClr val="1B2A44"/>
                </a:solidFill>
              </a:rPr>
              <a:t>” the number 1</a:t>
            </a:r>
            <a:r>
              <a:rPr lang="hi-IN" sz="1400" b="1" dirty="0">
                <a:solidFill>
                  <a:srgbClr val="1B2A44"/>
                </a:solidFill>
              </a:rPr>
              <a:t>9</a:t>
            </a:r>
            <a:r>
              <a:rPr lang="en-GB" sz="1400" b="1" dirty="0">
                <a:solidFill>
                  <a:srgbClr val="1B2A44"/>
                </a:solidFill>
              </a:rPr>
              <a:t> reflect in the box and sync with VO.</a:t>
            </a:r>
          </a:p>
          <a:p>
            <a:endParaRPr lang="en-GB" sz="1400" dirty="0">
              <a:solidFill>
                <a:srgbClr val="1B2A44"/>
              </a:solidFill>
            </a:endParaRPr>
          </a:p>
          <a:p>
            <a:endParaRPr lang="en-GB" sz="1300" dirty="0">
              <a:solidFill>
                <a:srgbClr val="1B2A44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F1D0455-CFB9-80C6-097E-0E19120F1567}"/>
              </a:ext>
            </a:extLst>
          </p:cNvPr>
          <p:cNvSpPr/>
          <p:nvPr/>
        </p:nvSpPr>
        <p:spPr>
          <a:xfrm>
            <a:off x="1129085" y="2396639"/>
            <a:ext cx="6400800" cy="3017520"/>
          </a:xfrm>
          <a:prstGeom prst="roundRect">
            <a:avLst>
              <a:gd name="adj" fmla="val 5000"/>
            </a:avLst>
          </a:prstGeom>
          <a:solidFill>
            <a:srgbClr val="F2F6FB"/>
          </a:solidFill>
          <a:ln w="50800">
            <a:solidFill>
              <a:srgbClr val="4DA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82E477-4A7C-31FC-9F71-0E5C83998588}"/>
              </a:ext>
            </a:extLst>
          </p:cNvPr>
          <p:cNvSpPr txBox="1"/>
          <p:nvPr/>
        </p:nvSpPr>
        <p:spPr>
          <a:xfrm>
            <a:off x="3495768" y="2488079"/>
            <a:ext cx="16674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hi-IN" sz="2400" b="1" dirty="0">
                <a:solidFill>
                  <a:srgbClr val="0B3D8C"/>
                </a:solidFill>
              </a:rPr>
              <a:t>कितने बचे?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5089A8-56E2-A1F1-F2D3-4F625B4B81C8}"/>
              </a:ext>
            </a:extLst>
          </p:cNvPr>
          <p:cNvSpPr/>
          <p:nvPr/>
        </p:nvSpPr>
        <p:spPr>
          <a:xfrm>
            <a:off x="2291964" y="3386939"/>
            <a:ext cx="1067463" cy="7330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25</a:t>
            </a:r>
            <a:endParaRPr lang="en-IN" sz="4000" b="1" dirty="0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BE716920-0EDD-F634-8ADB-9A622A1C7DEB}"/>
              </a:ext>
            </a:extLst>
          </p:cNvPr>
          <p:cNvSpPr txBox="1"/>
          <p:nvPr/>
        </p:nvSpPr>
        <p:spPr>
          <a:xfrm>
            <a:off x="3467636" y="3491867"/>
            <a:ext cx="372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−</a:t>
            </a:r>
            <a:endParaRPr lang="en-IN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Rectangle: Rounded Corners 6">
            <a:extLst>
              <a:ext uri="{FF2B5EF4-FFF2-40B4-BE49-F238E27FC236}">
                <a16:creationId xmlns:a16="http://schemas.microsoft.com/office/drawing/2014/main" id="{D834342E-685A-9A87-04E8-5ABBC3D95D23}"/>
              </a:ext>
            </a:extLst>
          </p:cNvPr>
          <p:cNvSpPr/>
          <p:nvPr/>
        </p:nvSpPr>
        <p:spPr>
          <a:xfrm>
            <a:off x="3948814" y="3386939"/>
            <a:ext cx="1067463" cy="7330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  <a:endParaRPr lang="en-IN" sz="4000" b="1" dirty="0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793FEBF9-2EF9-FE23-8FCC-90C225BC3DB4}"/>
              </a:ext>
            </a:extLst>
          </p:cNvPr>
          <p:cNvSpPr txBox="1"/>
          <p:nvPr/>
        </p:nvSpPr>
        <p:spPr>
          <a:xfrm>
            <a:off x="5159272" y="3501805"/>
            <a:ext cx="372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en-IN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Rectangle: Rounded Corners 6">
            <a:extLst>
              <a:ext uri="{FF2B5EF4-FFF2-40B4-BE49-F238E27FC236}">
                <a16:creationId xmlns:a16="http://schemas.microsoft.com/office/drawing/2014/main" id="{7C1B3F48-0866-BE30-7AAB-0788354D482B}"/>
              </a:ext>
            </a:extLst>
          </p:cNvPr>
          <p:cNvSpPr/>
          <p:nvPr/>
        </p:nvSpPr>
        <p:spPr>
          <a:xfrm>
            <a:off x="5675237" y="3386939"/>
            <a:ext cx="1067463" cy="7330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?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433190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4 · 04_STORY_SCENE.png</a:t>
            </a:r>
          </a:p>
        </p:txBody>
      </p:sp>
      <p:pic>
        <p:nvPicPr>
          <p:cNvPr id="3" name="Picture 2" descr="04_STORY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174" y="16460"/>
            <a:ext cx="2145139" cy="120372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3724924-82B4-D8EA-AD89-5EF5BCAB829B}"/>
              </a:ext>
            </a:extLst>
          </p:cNvPr>
          <p:cNvSpPr/>
          <p:nvPr/>
        </p:nvSpPr>
        <p:spPr>
          <a:xfrm>
            <a:off x="388784" y="466352"/>
            <a:ext cx="5613615" cy="2910840"/>
          </a:xfrm>
          <a:prstGeom prst="roundRect">
            <a:avLst>
              <a:gd name="adj" fmla="val 5000"/>
            </a:avLst>
          </a:prstGeom>
          <a:solidFill>
            <a:srgbClr val="F2F6FB"/>
          </a:solidFill>
          <a:ln w="50800">
            <a:solidFill>
              <a:srgbClr val="4DA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0DFB14-C742-B95E-C656-FBE22AC03AA1}"/>
              </a:ext>
            </a:extLst>
          </p:cNvPr>
          <p:cNvSpPr txBox="1"/>
          <p:nvPr/>
        </p:nvSpPr>
        <p:spPr>
          <a:xfrm>
            <a:off x="1607322" y="510759"/>
            <a:ext cx="27120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i-IN" sz="2400" b="1" dirty="0">
                <a:solidFill>
                  <a:srgbClr val="0B3D8C"/>
                </a:solidFill>
              </a:rPr>
              <a:t>कितने बचे?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C41AE3-0A15-4E17-8059-AA132C9A3D09}"/>
              </a:ext>
            </a:extLst>
          </p:cNvPr>
          <p:cNvSpPr/>
          <p:nvPr/>
        </p:nvSpPr>
        <p:spPr>
          <a:xfrm>
            <a:off x="1483084" y="972424"/>
            <a:ext cx="596015" cy="4191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i-IN" sz="2000" b="1" dirty="0"/>
              <a:t>30</a:t>
            </a:r>
            <a:endParaRPr lang="en-IN" sz="2000" b="1" dirty="0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FF26F02D-81F1-5D87-201C-FE9CACCE253D}"/>
              </a:ext>
            </a:extLst>
          </p:cNvPr>
          <p:cNvSpPr txBox="1"/>
          <p:nvPr/>
        </p:nvSpPr>
        <p:spPr>
          <a:xfrm>
            <a:off x="2197324" y="922236"/>
            <a:ext cx="32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−</a:t>
            </a:r>
            <a:endParaRPr lang="en-IN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Rectangle: Rounded Corners 6">
            <a:extLst>
              <a:ext uri="{FF2B5EF4-FFF2-40B4-BE49-F238E27FC236}">
                <a16:creationId xmlns:a16="http://schemas.microsoft.com/office/drawing/2014/main" id="{DB1B19E0-4F6A-AD34-F4A5-FFFE9ACCD5ED}"/>
              </a:ext>
            </a:extLst>
          </p:cNvPr>
          <p:cNvSpPr/>
          <p:nvPr/>
        </p:nvSpPr>
        <p:spPr>
          <a:xfrm>
            <a:off x="2622601" y="960336"/>
            <a:ext cx="596015" cy="4191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i-IN" sz="2000" b="1" dirty="0"/>
              <a:t>17 </a:t>
            </a:r>
            <a:endParaRPr lang="en-IN" sz="2000" b="1" dirty="0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98B4C50E-F58F-421C-5B15-417401AC8CF7}"/>
              </a:ext>
            </a:extLst>
          </p:cNvPr>
          <p:cNvSpPr txBox="1"/>
          <p:nvPr/>
        </p:nvSpPr>
        <p:spPr>
          <a:xfrm>
            <a:off x="3327436" y="887584"/>
            <a:ext cx="32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en-IN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Rectangle: Rounded Corners 6">
            <a:extLst>
              <a:ext uri="{FF2B5EF4-FFF2-40B4-BE49-F238E27FC236}">
                <a16:creationId xmlns:a16="http://schemas.microsoft.com/office/drawing/2014/main" id="{036B35F7-C91C-22C5-4277-5D741723E50B}"/>
              </a:ext>
            </a:extLst>
          </p:cNvPr>
          <p:cNvSpPr/>
          <p:nvPr/>
        </p:nvSpPr>
        <p:spPr>
          <a:xfrm>
            <a:off x="3736949" y="939644"/>
            <a:ext cx="596015" cy="4191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?</a:t>
            </a:r>
            <a:endParaRPr lang="en-IN" sz="2000" b="1" dirty="0"/>
          </a:p>
        </p:txBody>
      </p:sp>
      <p:sp>
        <p:nvSpPr>
          <p:cNvPr id="26" name="Rounded Rectangle 4">
            <a:extLst>
              <a:ext uri="{FF2B5EF4-FFF2-40B4-BE49-F238E27FC236}">
                <a16:creationId xmlns:a16="http://schemas.microsoft.com/office/drawing/2014/main" id="{67DABCF9-2C2A-4379-CB7C-42B40473F9D7}"/>
              </a:ext>
            </a:extLst>
          </p:cNvPr>
          <p:cNvSpPr/>
          <p:nvPr/>
        </p:nvSpPr>
        <p:spPr>
          <a:xfrm>
            <a:off x="411808" y="1421968"/>
            <a:ext cx="5613615" cy="2910840"/>
          </a:xfrm>
          <a:prstGeom prst="roundRect">
            <a:avLst>
              <a:gd name="adj" fmla="val 5000"/>
            </a:avLst>
          </a:prstGeom>
          <a:solidFill>
            <a:srgbClr val="F2F6FB"/>
          </a:solidFill>
          <a:ln w="50800">
            <a:solidFill>
              <a:srgbClr val="4DA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EB3974-61FF-6476-6CD7-E0F5DF8E0A15}"/>
              </a:ext>
            </a:extLst>
          </p:cNvPr>
          <p:cNvSpPr txBox="1"/>
          <p:nvPr/>
        </p:nvSpPr>
        <p:spPr>
          <a:xfrm>
            <a:off x="1630346" y="1466375"/>
            <a:ext cx="27120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i-IN" sz="2400" b="1" dirty="0">
                <a:solidFill>
                  <a:srgbClr val="0B3D8C"/>
                </a:solidFill>
              </a:rPr>
              <a:t>कितने बचे?</a:t>
            </a:r>
          </a:p>
        </p:txBody>
      </p:sp>
      <p:sp>
        <p:nvSpPr>
          <p:cNvPr id="32" name="Rectangle: Rounded Corners 6">
            <a:extLst>
              <a:ext uri="{FF2B5EF4-FFF2-40B4-BE49-F238E27FC236}">
                <a16:creationId xmlns:a16="http://schemas.microsoft.com/office/drawing/2014/main" id="{3A8C3496-F670-97B5-9D54-69CAD2D917B6}"/>
              </a:ext>
            </a:extLst>
          </p:cNvPr>
          <p:cNvSpPr/>
          <p:nvPr/>
        </p:nvSpPr>
        <p:spPr>
          <a:xfrm>
            <a:off x="2654661" y="1922945"/>
            <a:ext cx="518727" cy="31545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i-IN" b="1" dirty="0"/>
              <a:t>30</a:t>
            </a:r>
            <a:endParaRPr lang="en-IN" b="1" dirty="0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5CDA3F2D-635B-78ED-9818-EC4EE1A9D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839183"/>
              </p:ext>
            </p:extLst>
          </p:nvPr>
        </p:nvGraphicFramePr>
        <p:xfrm>
          <a:off x="1347795" y="2382052"/>
          <a:ext cx="2951536" cy="1524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5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378">
                <a:tc>
                  <a:txBody>
                    <a:bodyPr/>
                    <a:lstStyle/>
                    <a:p>
                      <a:pPr algn="ctr"/>
                      <a:r>
                        <a:rPr lang="hi-IN" sz="1200" dirty="0"/>
                        <a:t>3 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i-IN" sz="1200" dirty="0"/>
                        <a:t>0 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134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4" name="Picture 9">
            <a:extLst>
              <a:ext uri="{FF2B5EF4-FFF2-40B4-BE49-F238E27FC236}">
                <a16:creationId xmlns:a16="http://schemas.microsoft.com/office/drawing/2014/main" id="{AABE7A80-C609-E4B0-6600-E67DC4B83E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15849" y="3940612"/>
            <a:ext cx="1086002" cy="523948"/>
          </a:xfrm>
          <a:prstGeom prst="rect">
            <a:avLst/>
          </a:prstGeom>
        </p:spPr>
      </p:pic>
      <p:pic>
        <p:nvPicPr>
          <p:cNvPr id="35" name="Picture 16">
            <a:extLst>
              <a:ext uri="{FF2B5EF4-FFF2-40B4-BE49-F238E27FC236}">
                <a16:creationId xmlns:a16="http://schemas.microsoft.com/office/drawing/2014/main" id="{73651BBB-4875-8085-A100-74E9C8DF6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8495" y="3906776"/>
            <a:ext cx="1373908" cy="523948"/>
          </a:xfrm>
          <a:prstGeom prst="rect">
            <a:avLst/>
          </a:prstGeom>
        </p:spPr>
      </p:pic>
      <p:pic>
        <p:nvPicPr>
          <p:cNvPr id="36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5E692E23-7E80-E232-0BA4-973E2713FC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916" r="35816"/>
          <a:stretch>
            <a:fillRect/>
          </a:stretch>
        </p:blipFill>
        <p:spPr>
          <a:xfrm>
            <a:off x="1729187" y="2765256"/>
            <a:ext cx="229663" cy="1097280"/>
          </a:xfrm>
          <a:prstGeom prst="rect">
            <a:avLst/>
          </a:prstGeom>
        </p:spPr>
      </p:pic>
      <p:pic>
        <p:nvPicPr>
          <p:cNvPr id="37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C666F3F7-660F-5743-4DEE-E87D8CE0B22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916" r="35816"/>
          <a:stretch>
            <a:fillRect/>
          </a:stretch>
        </p:blipFill>
        <p:spPr>
          <a:xfrm>
            <a:off x="1977941" y="2759212"/>
            <a:ext cx="229663" cy="1097280"/>
          </a:xfrm>
          <a:prstGeom prst="rect">
            <a:avLst/>
          </a:prstGeom>
        </p:spPr>
      </p:pic>
      <p:pic>
        <p:nvPicPr>
          <p:cNvPr id="38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7356D0A7-67A1-2E95-93C2-DE5DBFB8426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916" r="35816"/>
          <a:stretch>
            <a:fillRect/>
          </a:stretch>
        </p:blipFill>
        <p:spPr>
          <a:xfrm>
            <a:off x="2250676" y="2775624"/>
            <a:ext cx="229663" cy="1097280"/>
          </a:xfrm>
          <a:prstGeom prst="rect">
            <a:avLst/>
          </a:prstGeom>
        </p:spPr>
      </p:pic>
      <p:sp>
        <p:nvSpPr>
          <p:cNvPr id="39" name="Rounded Rectangle 4">
            <a:extLst>
              <a:ext uri="{FF2B5EF4-FFF2-40B4-BE49-F238E27FC236}">
                <a16:creationId xmlns:a16="http://schemas.microsoft.com/office/drawing/2014/main" id="{86E33689-44F5-126E-E805-89FECBD76A7E}"/>
              </a:ext>
            </a:extLst>
          </p:cNvPr>
          <p:cNvSpPr/>
          <p:nvPr/>
        </p:nvSpPr>
        <p:spPr>
          <a:xfrm>
            <a:off x="365760" y="4534592"/>
            <a:ext cx="5613615" cy="2910840"/>
          </a:xfrm>
          <a:prstGeom prst="roundRect">
            <a:avLst>
              <a:gd name="adj" fmla="val 5000"/>
            </a:avLst>
          </a:prstGeom>
          <a:solidFill>
            <a:srgbClr val="F2F6FB"/>
          </a:solidFill>
          <a:ln w="50800">
            <a:solidFill>
              <a:srgbClr val="4DA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76468A-E865-63E3-C7B0-A089474F29A9}"/>
              </a:ext>
            </a:extLst>
          </p:cNvPr>
          <p:cNvSpPr txBox="1"/>
          <p:nvPr/>
        </p:nvSpPr>
        <p:spPr>
          <a:xfrm>
            <a:off x="1584298" y="4578999"/>
            <a:ext cx="27120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i-IN" sz="2400" b="1" dirty="0">
                <a:solidFill>
                  <a:srgbClr val="0B3D8C"/>
                </a:solidFill>
              </a:rPr>
              <a:t>कितने बचे?</a:t>
            </a:r>
          </a:p>
        </p:txBody>
      </p:sp>
      <p:sp>
        <p:nvSpPr>
          <p:cNvPr id="41" name="Rectangle: Rounded Corners 6">
            <a:extLst>
              <a:ext uri="{FF2B5EF4-FFF2-40B4-BE49-F238E27FC236}">
                <a16:creationId xmlns:a16="http://schemas.microsoft.com/office/drawing/2014/main" id="{A537533B-CB59-FF6E-3779-F0E702FB5BFD}"/>
              </a:ext>
            </a:extLst>
          </p:cNvPr>
          <p:cNvSpPr/>
          <p:nvPr/>
        </p:nvSpPr>
        <p:spPr>
          <a:xfrm>
            <a:off x="2503750" y="4970363"/>
            <a:ext cx="566928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30</a:t>
            </a:r>
            <a:endParaRPr lang="en-IN" b="1" dirty="0"/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9E5DBAAA-17E2-88F3-B5D5-52BAFD559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992247"/>
              </p:ext>
            </p:extLst>
          </p:nvPr>
        </p:nvGraphicFramePr>
        <p:xfrm>
          <a:off x="1355597" y="5436032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r>
                        <a:rPr lang="hi-IN" sz="1200" dirty="0"/>
                        <a:t> 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  <a:r>
                        <a:rPr lang="hi-IN" sz="1200" dirty="0"/>
                        <a:t> 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3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70A45E7C-81A5-1912-F2C6-D6D1018C352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916" r="35816"/>
          <a:stretch>
            <a:fillRect/>
          </a:stretch>
        </p:blipFill>
        <p:spPr>
          <a:xfrm>
            <a:off x="1729186" y="5947242"/>
            <a:ext cx="229663" cy="1097280"/>
          </a:xfrm>
          <a:prstGeom prst="rect">
            <a:avLst/>
          </a:prstGeom>
        </p:spPr>
      </p:pic>
      <p:pic>
        <p:nvPicPr>
          <p:cNvPr id="60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CED062AD-D736-3709-0346-C0201CBB749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916" r="35816"/>
          <a:stretch>
            <a:fillRect/>
          </a:stretch>
        </p:blipFill>
        <p:spPr>
          <a:xfrm>
            <a:off x="1974380" y="5954933"/>
            <a:ext cx="229663" cy="1097280"/>
          </a:xfrm>
          <a:prstGeom prst="rect">
            <a:avLst/>
          </a:prstGeom>
        </p:spPr>
      </p:pic>
      <p:sp>
        <p:nvSpPr>
          <p:cNvPr id="62" name="TextBox 11">
            <a:extLst>
              <a:ext uri="{FF2B5EF4-FFF2-40B4-BE49-F238E27FC236}">
                <a16:creationId xmlns:a16="http://schemas.microsoft.com/office/drawing/2014/main" id="{5544BF7B-6262-34ED-CF33-BD9BD2934808}"/>
              </a:ext>
            </a:extLst>
          </p:cNvPr>
          <p:cNvSpPr txBox="1"/>
          <p:nvPr/>
        </p:nvSpPr>
        <p:spPr>
          <a:xfrm>
            <a:off x="3114863" y="4896870"/>
            <a:ext cx="32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−</a:t>
            </a:r>
            <a:endParaRPr lang="en-IN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3" name="Rectangle: Rounded Corners 6">
            <a:extLst>
              <a:ext uri="{FF2B5EF4-FFF2-40B4-BE49-F238E27FC236}">
                <a16:creationId xmlns:a16="http://schemas.microsoft.com/office/drawing/2014/main" id="{68CD112F-FCA9-C3A9-4FE5-15DBA7133ACA}"/>
              </a:ext>
            </a:extLst>
          </p:cNvPr>
          <p:cNvSpPr/>
          <p:nvPr/>
        </p:nvSpPr>
        <p:spPr>
          <a:xfrm>
            <a:off x="3540140" y="4934970"/>
            <a:ext cx="596015" cy="4191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i-IN" sz="2000" b="1" dirty="0"/>
              <a:t>17 </a:t>
            </a:r>
            <a:endParaRPr lang="en-IN" sz="2000" b="1" dirty="0"/>
          </a:p>
        </p:txBody>
      </p:sp>
      <p:pic>
        <p:nvPicPr>
          <p:cNvPr id="80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AD22BB9B-FE4E-7762-98F6-66B978177D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1335" y="6283083"/>
            <a:ext cx="256032" cy="219456"/>
          </a:xfrm>
          <a:prstGeom prst="rect">
            <a:avLst/>
          </a:prstGeom>
        </p:spPr>
      </p:pic>
      <p:pic>
        <p:nvPicPr>
          <p:cNvPr id="8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315A25EA-AAC0-42F5-D4FD-462A7605FF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1647" y="6283083"/>
            <a:ext cx="256032" cy="219456"/>
          </a:xfrm>
          <a:prstGeom prst="rect">
            <a:avLst/>
          </a:prstGeom>
        </p:spPr>
      </p:pic>
      <p:pic>
        <p:nvPicPr>
          <p:cNvPr id="82" name="Picture 81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F8F82FFD-4C53-4D9B-1BA7-EA57B93077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1959" y="6283083"/>
            <a:ext cx="256032" cy="219456"/>
          </a:xfrm>
          <a:prstGeom prst="rect">
            <a:avLst/>
          </a:prstGeom>
        </p:spPr>
      </p:pic>
      <p:pic>
        <p:nvPicPr>
          <p:cNvPr id="83" name="Picture 82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D6C83001-D5CA-A786-53D8-D29BFB7E23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2271" y="6283083"/>
            <a:ext cx="256032" cy="219456"/>
          </a:xfrm>
          <a:prstGeom prst="rect">
            <a:avLst/>
          </a:prstGeom>
        </p:spPr>
      </p:pic>
      <p:pic>
        <p:nvPicPr>
          <p:cNvPr id="8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23C2183C-3BF9-5E96-83F1-A5236074AA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2583" y="6283946"/>
            <a:ext cx="256032" cy="219456"/>
          </a:xfrm>
          <a:prstGeom prst="rect">
            <a:avLst/>
          </a:prstGeom>
        </p:spPr>
      </p:pic>
      <p:pic>
        <p:nvPicPr>
          <p:cNvPr id="85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D8E33B9D-6C24-59FD-7D47-6A958C0465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1335" y="6492720"/>
            <a:ext cx="256032" cy="219456"/>
          </a:xfrm>
          <a:prstGeom prst="rect">
            <a:avLst/>
          </a:prstGeom>
        </p:spPr>
      </p:pic>
      <p:pic>
        <p:nvPicPr>
          <p:cNvPr id="8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93AF8D79-E5AD-4D4C-E496-D07DD2D2B1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1647" y="6492720"/>
            <a:ext cx="256032" cy="219456"/>
          </a:xfrm>
          <a:prstGeom prst="rect">
            <a:avLst/>
          </a:prstGeom>
        </p:spPr>
      </p:pic>
      <p:pic>
        <p:nvPicPr>
          <p:cNvPr id="87" name="Picture 8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92D626F-0288-D1C0-5C4F-DBCFA7EF11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1959" y="6492720"/>
            <a:ext cx="256032" cy="219456"/>
          </a:xfrm>
          <a:prstGeom prst="rect">
            <a:avLst/>
          </a:prstGeom>
        </p:spPr>
      </p:pic>
      <p:pic>
        <p:nvPicPr>
          <p:cNvPr id="88" name="Picture 87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FAE475D-7D4A-F750-596F-DD268C6C54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2271" y="6492720"/>
            <a:ext cx="256032" cy="219456"/>
          </a:xfrm>
          <a:prstGeom prst="rect">
            <a:avLst/>
          </a:prstGeom>
        </p:spPr>
      </p:pic>
      <p:pic>
        <p:nvPicPr>
          <p:cNvPr id="8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ACF46C88-5EE7-57E6-65E3-445A9746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2583" y="6493583"/>
            <a:ext cx="256032" cy="219456"/>
          </a:xfrm>
          <a:prstGeom prst="rect">
            <a:avLst/>
          </a:prstGeom>
        </p:spPr>
      </p:pic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D36615F4-1D88-9173-C657-6A08DD3B4863}"/>
              </a:ext>
            </a:extLst>
          </p:cNvPr>
          <p:cNvSpPr/>
          <p:nvPr/>
        </p:nvSpPr>
        <p:spPr>
          <a:xfrm>
            <a:off x="3365804" y="6255510"/>
            <a:ext cx="1125003" cy="462762"/>
          </a:xfrm>
          <a:prstGeom prst="roundRect">
            <a:avLst>
              <a:gd name="adj" fmla="val 1710"/>
            </a:avLst>
          </a:prstGeom>
          <a:noFill/>
          <a:ln w="19050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Rounded Rectangle 4">
            <a:extLst>
              <a:ext uri="{FF2B5EF4-FFF2-40B4-BE49-F238E27FC236}">
                <a16:creationId xmlns:a16="http://schemas.microsoft.com/office/drawing/2014/main" id="{828F9253-57B0-95DC-1741-70079E7BAFFA}"/>
              </a:ext>
            </a:extLst>
          </p:cNvPr>
          <p:cNvSpPr/>
          <p:nvPr/>
        </p:nvSpPr>
        <p:spPr>
          <a:xfrm>
            <a:off x="6317249" y="887584"/>
            <a:ext cx="5613615" cy="2910840"/>
          </a:xfrm>
          <a:prstGeom prst="roundRect">
            <a:avLst>
              <a:gd name="adj" fmla="val 5000"/>
            </a:avLst>
          </a:prstGeom>
          <a:solidFill>
            <a:srgbClr val="F2F6FB"/>
          </a:solidFill>
          <a:ln w="50800">
            <a:solidFill>
              <a:srgbClr val="4DA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A3F734-1F93-5840-103E-A4631D2D36B6}"/>
              </a:ext>
            </a:extLst>
          </p:cNvPr>
          <p:cNvSpPr txBox="1"/>
          <p:nvPr/>
        </p:nvSpPr>
        <p:spPr>
          <a:xfrm>
            <a:off x="7535787" y="931991"/>
            <a:ext cx="27120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i-IN" sz="2400" b="1" dirty="0">
                <a:solidFill>
                  <a:srgbClr val="0B3D8C"/>
                </a:solidFill>
              </a:rPr>
              <a:t>कितने बचे?</a:t>
            </a:r>
          </a:p>
        </p:txBody>
      </p:sp>
      <p:sp>
        <p:nvSpPr>
          <p:cNvPr id="93" name="Rectangle: Rounded Corners 6">
            <a:extLst>
              <a:ext uri="{FF2B5EF4-FFF2-40B4-BE49-F238E27FC236}">
                <a16:creationId xmlns:a16="http://schemas.microsoft.com/office/drawing/2014/main" id="{456173A7-3467-2E68-8607-B865902ABA5F}"/>
              </a:ext>
            </a:extLst>
          </p:cNvPr>
          <p:cNvSpPr/>
          <p:nvPr/>
        </p:nvSpPr>
        <p:spPr>
          <a:xfrm>
            <a:off x="8455239" y="1323355"/>
            <a:ext cx="566928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30</a:t>
            </a:r>
            <a:endParaRPr lang="en-IN" b="1" dirty="0"/>
          </a:p>
        </p:txBody>
      </p:sp>
      <p:graphicFrame>
        <p:nvGraphicFramePr>
          <p:cNvPr id="94" name="Table 93">
            <a:extLst>
              <a:ext uri="{FF2B5EF4-FFF2-40B4-BE49-F238E27FC236}">
                <a16:creationId xmlns:a16="http://schemas.microsoft.com/office/drawing/2014/main" id="{6408E6EC-1D4D-BD4E-CB3D-2B73F1536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381942"/>
              </p:ext>
            </p:extLst>
          </p:nvPr>
        </p:nvGraphicFramePr>
        <p:xfrm>
          <a:off x="7307086" y="1789024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r>
                        <a:rPr lang="hi-IN" sz="1200" dirty="0"/>
                        <a:t> 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r>
                        <a:rPr lang="hi-IN" sz="1200" dirty="0"/>
                        <a:t> 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5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C1376A18-9F3E-3547-3530-1FDB5FBB18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916" r="35816"/>
          <a:stretch>
            <a:fillRect/>
          </a:stretch>
        </p:blipFill>
        <p:spPr>
          <a:xfrm>
            <a:off x="7680675" y="2300234"/>
            <a:ext cx="229663" cy="1097280"/>
          </a:xfrm>
          <a:prstGeom prst="rect">
            <a:avLst/>
          </a:prstGeom>
        </p:spPr>
      </p:pic>
      <p:pic>
        <p:nvPicPr>
          <p:cNvPr id="96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4E5CA8BC-0AE3-A195-04B8-4C0A782E82F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5000"/>
          </a:blip>
          <a:srcRect l="32916" r="35816"/>
          <a:stretch>
            <a:fillRect/>
          </a:stretch>
        </p:blipFill>
        <p:spPr>
          <a:xfrm>
            <a:off x="7925869" y="2307925"/>
            <a:ext cx="229663" cy="1097280"/>
          </a:xfrm>
          <a:prstGeom prst="rect">
            <a:avLst/>
          </a:prstGeom>
        </p:spPr>
      </p:pic>
      <p:sp>
        <p:nvSpPr>
          <p:cNvPr id="97" name="TextBox 11">
            <a:extLst>
              <a:ext uri="{FF2B5EF4-FFF2-40B4-BE49-F238E27FC236}">
                <a16:creationId xmlns:a16="http://schemas.microsoft.com/office/drawing/2014/main" id="{5A917799-3928-1FAD-33AC-2795A7EF9D1C}"/>
              </a:ext>
            </a:extLst>
          </p:cNvPr>
          <p:cNvSpPr txBox="1"/>
          <p:nvPr/>
        </p:nvSpPr>
        <p:spPr>
          <a:xfrm>
            <a:off x="9066352" y="1249862"/>
            <a:ext cx="32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−</a:t>
            </a:r>
            <a:endParaRPr lang="en-IN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8" name="Rectangle: Rounded Corners 6">
            <a:extLst>
              <a:ext uri="{FF2B5EF4-FFF2-40B4-BE49-F238E27FC236}">
                <a16:creationId xmlns:a16="http://schemas.microsoft.com/office/drawing/2014/main" id="{AD7CE1FC-56C5-DD68-990E-E0853C98B3F3}"/>
              </a:ext>
            </a:extLst>
          </p:cNvPr>
          <p:cNvSpPr/>
          <p:nvPr/>
        </p:nvSpPr>
        <p:spPr>
          <a:xfrm>
            <a:off x="9491629" y="1287962"/>
            <a:ext cx="596015" cy="4191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i-IN" sz="2000" b="1" dirty="0"/>
              <a:t>17 </a:t>
            </a:r>
            <a:endParaRPr lang="en-IN" sz="2000" b="1" dirty="0"/>
          </a:p>
        </p:txBody>
      </p:sp>
      <p:pic>
        <p:nvPicPr>
          <p:cNvPr id="9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B9EEC774-BBE4-6CCE-D1A0-286789C442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2824" y="2636075"/>
            <a:ext cx="256032" cy="219456"/>
          </a:xfrm>
          <a:prstGeom prst="rect">
            <a:avLst/>
          </a:prstGeom>
        </p:spPr>
      </p:pic>
      <p:pic>
        <p:nvPicPr>
          <p:cNvPr id="100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E96D26FC-7099-1685-1EE5-07DD67C72B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3136" y="2636075"/>
            <a:ext cx="256032" cy="219456"/>
          </a:xfrm>
          <a:prstGeom prst="rect">
            <a:avLst/>
          </a:prstGeom>
        </p:spPr>
      </p:pic>
      <p:pic>
        <p:nvPicPr>
          <p:cNvPr id="101" name="Picture 100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6EB66204-30CF-4D99-BA6F-78B93C1202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3448" y="2636075"/>
            <a:ext cx="256032" cy="219456"/>
          </a:xfrm>
          <a:prstGeom prst="rect">
            <a:avLst/>
          </a:prstGeom>
        </p:spPr>
      </p:pic>
      <p:pic>
        <p:nvPicPr>
          <p:cNvPr id="102" name="Picture 101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71AADB96-2D07-FA98-F7F3-8D7868C9E288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>
            <a:off x="9963760" y="2636075"/>
            <a:ext cx="256032" cy="219456"/>
          </a:xfrm>
          <a:prstGeom prst="rect">
            <a:avLst/>
          </a:prstGeom>
        </p:spPr>
      </p:pic>
      <p:pic>
        <p:nvPicPr>
          <p:cNvPr id="103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44EE76B8-1FAB-3E71-5F4B-D7937A34A0C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>
            <a:off x="10174072" y="2636938"/>
            <a:ext cx="256032" cy="219456"/>
          </a:xfrm>
          <a:prstGeom prst="rect">
            <a:avLst/>
          </a:prstGeom>
        </p:spPr>
      </p:pic>
      <p:pic>
        <p:nvPicPr>
          <p:cNvPr id="10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F6DCFBF5-B91F-9C41-AE2C-7650E338E38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>
            <a:off x="9332824" y="2845712"/>
            <a:ext cx="256032" cy="219456"/>
          </a:xfrm>
          <a:prstGeom prst="rect">
            <a:avLst/>
          </a:prstGeom>
        </p:spPr>
      </p:pic>
      <p:pic>
        <p:nvPicPr>
          <p:cNvPr id="105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7DB67853-457E-D41F-490F-74D335B1459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>
            <a:off x="9543136" y="2845712"/>
            <a:ext cx="256032" cy="219456"/>
          </a:xfrm>
          <a:prstGeom prst="rect">
            <a:avLst/>
          </a:prstGeom>
        </p:spPr>
      </p:pic>
      <p:pic>
        <p:nvPicPr>
          <p:cNvPr id="106" name="Picture 105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348E6650-D926-8A0D-A67A-6846BEA86CD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>
            <a:off x="9753448" y="2845712"/>
            <a:ext cx="256032" cy="219456"/>
          </a:xfrm>
          <a:prstGeom prst="rect">
            <a:avLst/>
          </a:prstGeom>
        </p:spPr>
      </p:pic>
      <p:pic>
        <p:nvPicPr>
          <p:cNvPr id="107" name="Picture 10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C31EA6AA-0F95-A826-05D4-CCF9D6F7309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>
            <a:off x="9963760" y="2845712"/>
            <a:ext cx="256032" cy="219456"/>
          </a:xfrm>
          <a:prstGeom prst="rect">
            <a:avLst/>
          </a:prstGeom>
        </p:spPr>
      </p:pic>
      <p:pic>
        <p:nvPicPr>
          <p:cNvPr id="108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CCD71771-AFC4-0271-5B1A-669A749CA8D6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>
            <a:off x="10174072" y="2846575"/>
            <a:ext cx="256032" cy="219456"/>
          </a:xfrm>
          <a:prstGeom prst="rect">
            <a:avLst/>
          </a:prstGeom>
        </p:spPr>
      </p:pic>
      <p:sp>
        <p:nvSpPr>
          <p:cNvPr id="110" name="Rounded Rectangle 4">
            <a:extLst>
              <a:ext uri="{FF2B5EF4-FFF2-40B4-BE49-F238E27FC236}">
                <a16:creationId xmlns:a16="http://schemas.microsoft.com/office/drawing/2014/main" id="{E18596D6-727E-A8E1-6215-4C23D306610B}"/>
              </a:ext>
            </a:extLst>
          </p:cNvPr>
          <p:cNvSpPr/>
          <p:nvPr/>
        </p:nvSpPr>
        <p:spPr>
          <a:xfrm>
            <a:off x="6395576" y="3823824"/>
            <a:ext cx="5613615" cy="2910840"/>
          </a:xfrm>
          <a:prstGeom prst="roundRect">
            <a:avLst>
              <a:gd name="adj" fmla="val 5000"/>
            </a:avLst>
          </a:prstGeom>
          <a:solidFill>
            <a:srgbClr val="F2F6FB"/>
          </a:solidFill>
          <a:ln w="50800">
            <a:solidFill>
              <a:srgbClr val="4DA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F0443C7-FD19-F508-465A-AA5EF6DE35A4}"/>
              </a:ext>
            </a:extLst>
          </p:cNvPr>
          <p:cNvSpPr txBox="1"/>
          <p:nvPr/>
        </p:nvSpPr>
        <p:spPr>
          <a:xfrm>
            <a:off x="7614114" y="3868231"/>
            <a:ext cx="27120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i-IN" sz="2400" b="1" dirty="0">
                <a:solidFill>
                  <a:srgbClr val="0B3D8C"/>
                </a:solidFill>
              </a:rPr>
              <a:t>कितने बचे?</a:t>
            </a:r>
          </a:p>
        </p:txBody>
      </p:sp>
      <p:sp>
        <p:nvSpPr>
          <p:cNvPr id="112" name="Rectangle: Rounded Corners 6">
            <a:extLst>
              <a:ext uri="{FF2B5EF4-FFF2-40B4-BE49-F238E27FC236}">
                <a16:creationId xmlns:a16="http://schemas.microsoft.com/office/drawing/2014/main" id="{724556F7-6F82-AB6C-63B8-919A638ECDC2}"/>
              </a:ext>
            </a:extLst>
          </p:cNvPr>
          <p:cNvSpPr/>
          <p:nvPr/>
        </p:nvSpPr>
        <p:spPr>
          <a:xfrm>
            <a:off x="8533566" y="4259595"/>
            <a:ext cx="566928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30</a:t>
            </a:r>
            <a:endParaRPr lang="en-IN" b="1" dirty="0"/>
          </a:p>
        </p:txBody>
      </p:sp>
      <p:graphicFrame>
        <p:nvGraphicFramePr>
          <p:cNvPr id="113" name="Table 112">
            <a:extLst>
              <a:ext uri="{FF2B5EF4-FFF2-40B4-BE49-F238E27FC236}">
                <a16:creationId xmlns:a16="http://schemas.microsoft.com/office/drawing/2014/main" id="{018672F7-A1B8-1549-C06A-AF47B6F14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728140"/>
              </p:ext>
            </p:extLst>
          </p:nvPr>
        </p:nvGraphicFramePr>
        <p:xfrm>
          <a:off x="7385413" y="4725264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r>
                        <a:rPr lang="hi-IN" sz="1200" dirty="0"/>
                        <a:t> 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r>
                        <a:rPr lang="hi-IN" sz="1200" dirty="0"/>
                        <a:t> 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14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BF8C4857-99F1-4330-6832-AC2A6270CA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916" r="35816"/>
          <a:stretch>
            <a:fillRect/>
          </a:stretch>
        </p:blipFill>
        <p:spPr>
          <a:xfrm>
            <a:off x="7759002" y="5236474"/>
            <a:ext cx="229663" cy="1097280"/>
          </a:xfrm>
          <a:prstGeom prst="rect">
            <a:avLst/>
          </a:prstGeom>
        </p:spPr>
      </p:pic>
      <p:sp>
        <p:nvSpPr>
          <p:cNvPr id="116" name="TextBox 11">
            <a:extLst>
              <a:ext uri="{FF2B5EF4-FFF2-40B4-BE49-F238E27FC236}">
                <a16:creationId xmlns:a16="http://schemas.microsoft.com/office/drawing/2014/main" id="{19C7567F-EF68-0CA9-BD6F-917488887983}"/>
              </a:ext>
            </a:extLst>
          </p:cNvPr>
          <p:cNvSpPr txBox="1"/>
          <p:nvPr/>
        </p:nvSpPr>
        <p:spPr>
          <a:xfrm>
            <a:off x="9144679" y="4186102"/>
            <a:ext cx="32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−</a:t>
            </a:r>
            <a:endParaRPr lang="en-IN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7" name="Rectangle: Rounded Corners 6">
            <a:extLst>
              <a:ext uri="{FF2B5EF4-FFF2-40B4-BE49-F238E27FC236}">
                <a16:creationId xmlns:a16="http://schemas.microsoft.com/office/drawing/2014/main" id="{77864689-9B7C-AA5E-B2B2-AF4FA7ABDC69}"/>
              </a:ext>
            </a:extLst>
          </p:cNvPr>
          <p:cNvSpPr/>
          <p:nvPr/>
        </p:nvSpPr>
        <p:spPr>
          <a:xfrm>
            <a:off x="9569956" y="4224202"/>
            <a:ext cx="596015" cy="4191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i-IN" sz="2000" b="1" dirty="0"/>
              <a:t>17 </a:t>
            </a:r>
            <a:endParaRPr lang="en-IN" sz="2000" b="1" dirty="0"/>
          </a:p>
        </p:txBody>
      </p:sp>
      <p:pic>
        <p:nvPicPr>
          <p:cNvPr id="118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8545B2F8-E16D-C644-A9F4-D9DB459C87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1151" y="5572315"/>
            <a:ext cx="256032" cy="219456"/>
          </a:xfrm>
          <a:prstGeom prst="rect">
            <a:avLst/>
          </a:prstGeom>
        </p:spPr>
      </p:pic>
      <p:pic>
        <p:nvPicPr>
          <p:cNvPr id="11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C3C8F5F1-934F-61F6-5A0D-E59E3A6C85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1463" y="5572315"/>
            <a:ext cx="256032" cy="219456"/>
          </a:xfrm>
          <a:prstGeom prst="rect">
            <a:avLst/>
          </a:prstGeom>
        </p:spPr>
      </p:pic>
      <p:pic>
        <p:nvPicPr>
          <p:cNvPr id="120" name="Picture 119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7D56EC0-AEE5-5231-C574-A513FB30F0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1775" y="5572315"/>
            <a:ext cx="256032" cy="219456"/>
          </a:xfrm>
          <a:prstGeom prst="rect">
            <a:avLst/>
          </a:prstGeom>
        </p:spPr>
      </p:pic>
      <p:sp>
        <p:nvSpPr>
          <p:cNvPr id="128" name="TextBox 11">
            <a:extLst>
              <a:ext uri="{FF2B5EF4-FFF2-40B4-BE49-F238E27FC236}">
                <a16:creationId xmlns:a16="http://schemas.microsoft.com/office/drawing/2014/main" id="{A339CE0C-832C-970C-85AF-96AD3F909530}"/>
              </a:ext>
            </a:extLst>
          </p:cNvPr>
          <p:cNvSpPr txBox="1"/>
          <p:nvPr/>
        </p:nvSpPr>
        <p:spPr>
          <a:xfrm>
            <a:off x="10225593" y="4169114"/>
            <a:ext cx="32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en-IN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9" name="Rectangle: Rounded Corners 6">
            <a:extLst>
              <a:ext uri="{FF2B5EF4-FFF2-40B4-BE49-F238E27FC236}">
                <a16:creationId xmlns:a16="http://schemas.microsoft.com/office/drawing/2014/main" id="{C8A70CE6-D304-C9D6-93C1-9A46007F7CC3}"/>
              </a:ext>
            </a:extLst>
          </p:cNvPr>
          <p:cNvSpPr/>
          <p:nvPr/>
        </p:nvSpPr>
        <p:spPr>
          <a:xfrm>
            <a:off x="10635106" y="4221174"/>
            <a:ext cx="596015" cy="4191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13</a:t>
            </a:r>
            <a:endParaRPr lang="en-IN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 tmFilter="0, 0; .2, .5; .8, .5; 1, 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6" dur="250" autoRev="1" fill="hold"/>
                                        <p:tgtEl>
                                          <p:spTgt spid="1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 tmFilter="0, 0; .2, .5; .8, .5; 1, 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9" dur="250" autoRev="1" fill="hold"/>
                                        <p:tgtEl>
                                          <p:spTgt spid="1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 tmFilter="0, 0; .2, .5; .8, .5; 1, 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2" dur="250" autoRev="1" fill="hold"/>
                                        <p:tgtEl>
                                          <p:spTgt spid="1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 tmFilter="0, 0; .2, .5; .8, .5; 1, 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5" dur="250" autoRev="1" fill="hold"/>
                                        <p:tgtEl>
                                          <p:spTgt spid="1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0" grpId="0"/>
      <p:bldP spid="41" grpId="0" animBg="1"/>
      <p:bldP spid="62" grpId="0"/>
      <p:bldP spid="63" grpId="0" animBg="1"/>
      <p:bldP spid="9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5 · 05_STORY_SCENE.png</a:t>
            </a:r>
          </a:p>
        </p:txBody>
      </p:sp>
      <p:pic>
        <p:nvPicPr>
          <p:cNvPr id="3" name="Picture 2" descr="05_STORY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560" y="0"/>
            <a:ext cx="2208931" cy="12395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1C4F84-B8A5-8CE4-2034-89517D029B01}"/>
              </a:ext>
            </a:extLst>
          </p:cNvPr>
          <p:cNvSpPr/>
          <p:nvPr/>
        </p:nvSpPr>
        <p:spPr>
          <a:xfrm>
            <a:off x="411480" y="1442329"/>
            <a:ext cx="7589520" cy="306324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57FDE-C8CF-8D0F-579B-D6F91A34E506}"/>
              </a:ext>
            </a:extLst>
          </p:cNvPr>
          <p:cNvSpPr txBox="1"/>
          <p:nvPr/>
        </p:nvSpPr>
        <p:spPr>
          <a:xfrm>
            <a:off x="1344168" y="1076569"/>
            <a:ext cx="493776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hi-IN" dirty="0">
                <a:solidFill>
                  <a:srgbClr val="1B2A44"/>
                </a:solidFill>
              </a:rPr>
              <a:t>संख्याएँ</a:t>
            </a:r>
            <a:r>
              <a:rPr lang="hi-IN" sz="1800" dirty="0">
                <a:solidFill>
                  <a:srgbClr val="1B2A44"/>
                </a:solidFill>
              </a:rPr>
              <a:t> घटाइए।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1A04AD5-6411-C54F-A032-5EC2EC958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59109"/>
              </p:ext>
            </p:extLst>
          </p:nvPr>
        </p:nvGraphicFramePr>
        <p:xfrm>
          <a:off x="-1999995" y="2460333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0A4C658E-68E3-EBF4-BD21-B3AC6BFA54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1704802" y="2924209"/>
            <a:ext cx="246888" cy="1179576"/>
          </a:xfrm>
          <a:prstGeom prst="rect">
            <a:avLst/>
          </a:prstGeom>
        </p:spPr>
      </p:pic>
      <p:pic>
        <p:nvPicPr>
          <p:cNvPr id="9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10028ED2-C6F1-0A56-63B3-D5FE555363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1492478" y="2924209"/>
            <a:ext cx="246888" cy="1179576"/>
          </a:xfrm>
          <a:prstGeom prst="rect">
            <a:avLst/>
          </a:prstGeom>
        </p:spPr>
      </p:pic>
      <p:pic>
        <p:nvPicPr>
          <p:cNvPr id="1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7BBBAF87-A311-54BF-B75E-CE2130D5E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3024" y="3271681"/>
            <a:ext cx="256032" cy="219456"/>
          </a:xfrm>
          <a:prstGeom prst="rect">
            <a:avLst/>
          </a:prstGeom>
        </p:spPr>
      </p:pic>
      <p:pic>
        <p:nvPicPr>
          <p:cNvPr id="12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2BD3327C-0590-096F-3C14-B0F01A429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7" y="3271681"/>
            <a:ext cx="256032" cy="219456"/>
          </a:xfrm>
          <a:prstGeom prst="rect">
            <a:avLst/>
          </a:prstGeom>
        </p:spPr>
      </p:pic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6B6B7C8D-0A41-F250-BD6B-187465A25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070290"/>
              </p:ext>
            </p:extLst>
          </p:nvPr>
        </p:nvGraphicFramePr>
        <p:xfrm>
          <a:off x="4683655" y="2453707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0E979591-AE69-E73F-5086-0E91696670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5152559" y="2938339"/>
            <a:ext cx="246888" cy="1179576"/>
          </a:xfrm>
          <a:prstGeom prst="rect">
            <a:avLst/>
          </a:prstGeom>
        </p:spPr>
      </p:pic>
      <p:pic>
        <p:nvPicPr>
          <p:cNvPr id="2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9CCE2E22-1258-FEB1-E31E-E8F105919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175" y="3404683"/>
            <a:ext cx="256032" cy="219456"/>
          </a:xfrm>
          <a:prstGeom prst="rect">
            <a:avLst/>
          </a:prstGeom>
        </p:spPr>
      </p:pic>
      <p:pic>
        <p:nvPicPr>
          <p:cNvPr id="22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B206DD7D-7997-983F-CB0D-3716237B2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487" y="3404683"/>
            <a:ext cx="256032" cy="219456"/>
          </a:xfrm>
          <a:prstGeom prst="rect">
            <a:avLst/>
          </a:prstGeom>
        </p:spPr>
      </p:pic>
      <p:pic>
        <p:nvPicPr>
          <p:cNvPr id="23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A2183993-0587-9E9D-25CD-395EB553C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8799" y="3404683"/>
            <a:ext cx="256032" cy="219456"/>
          </a:xfrm>
          <a:prstGeom prst="rect">
            <a:avLst/>
          </a:prstGeom>
        </p:spPr>
      </p:pic>
      <p:pic>
        <p:nvPicPr>
          <p:cNvPr id="2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CAD950CE-18E4-83D0-2E5C-9CFC0FA5B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111" y="3404683"/>
            <a:ext cx="256032" cy="219456"/>
          </a:xfrm>
          <a:prstGeom prst="rect">
            <a:avLst/>
          </a:prstGeom>
        </p:spPr>
      </p:pic>
      <p:pic>
        <p:nvPicPr>
          <p:cNvPr id="25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457FC95F-EC0D-2FDE-420F-EDBE500A9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423" y="3404683"/>
            <a:ext cx="256032" cy="219456"/>
          </a:xfrm>
          <a:prstGeom prst="rect">
            <a:avLst/>
          </a:prstGeom>
        </p:spPr>
      </p:pic>
      <p:sp>
        <p:nvSpPr>
          <p:cNvPr id="26" name="Rectangle: Rounded Corners 10">
            <a:extLst>
              <a:ext uri="{FF2B5EF4-FFF2-40B4-BE49-F238E27FC236}">
                <a16:creationId xmlns:a16="http://schemas.microsoft.com/office/drawing/2014/main" id="{03E8A6ED-471E-732D-DD41-6BD75AEA375E}"/>
              </a:ext>
            </a:extLst>
          </p:cNvPr>
          <p:cNvSpPr/>
          <p:nvPr/>
        </p:nvSpPr>
        <p:spPr>
          <a:xfrm>
            <a:off x="2926080" y="1588633"/>
            <a:ext cx="2560320" cy="6826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42 − 27  =  ?</a:t>
            </a:r>
            <a:endParaRPr lang="en-IN" sz="3200" b="1" dirty="0"/>
          </a:p>
        </p:txBody>
      </p:sp>
      <p:sp>
        <p:nvSpPr>
          <p:cNvPr id="27" name="Rectangle: Rounded Corners 24">
            <a:extLst>
              <a:ext uri="{FF2B5EF4-FFF2-40B4-BE49-F238E27FC236}">
                <a16:creationId xmlns:a16="http://schemas.microsoft.com/office/drawing/2014/main" id="{81D6DDC3-9461-27BA-1650-89C0C559B882}"/>
              </a:ext>
            </a:extLst>
          </p:cNvPr>
          <p:cNvSpPr/>
          <p:nvPr/>
        </p:nvSpPr>
        <p:spPr>
          <a:xfrm>
            <a:off x="1913649" y="4541754"/>
            <a:ext cx="1146543" cy="7672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15</a:t>
            </a:r>
            <a:endParaRPr lang="en-IN" sz="4000" b="1" dirty="0"/>
          </a:p>
        </p:txBody>
      </p:sp>
      <p:sp>
        <p:nvSpPr>
          <p:cNvPr id="28" name="Rectangle: Rounded Corners 24">
            <a:extLst>
              <a:ext uri="{FF2B5EF4-FFF2-40B4-BE49-F238E27FC236}">
                <a16:creationId xmlns:a16="http://schemas.microsoft.com/office/drawing/2014/main" id="{ED94E318-B6CC-EEDE-60DB-F7CC1E34E83B}"/>
              </a:ext>
            </a:extLst>
          </p:cNvPr>
          <p:cNvSpPr/>
          <p:nvPr/>
        </p:nvSpPr>
        <p:spPr>
          <a:xfrm>
            <a:off x="3797312" y="4541754"/>
            <a:ext cx="1146543" cy="7672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  <a:endParaRPr lang="en-IN" sz="4000" b="1" dirty="0"/>
          </a:p>
        </p:txBody>
      </p:sp>
      <p:sp>
        <p:nvSpPr>
          <p:cNvPr id="29" name="Rectangle: Rounded Corners 24">
            <a:extLst>
              <a:ext uri="{FF2B5EF4-FFF2-40B4-BE49-F238E27FC236}">
                <a16:creationId xmlns:a16="http://schemas.microsoft.com/office/drawing/2014/main" id="{18C7AE8A-0C58-4B23-241E-245C39A7658D}"/>
              </a:ext>
            </a:extLst>
          </p:cNvPr>
          <p:cNvSpPr/>
          <p:nvPr/>
        </p:nvSpPr>
        <p:spPr>
          <a:xfrm>
            <a:off x="5671833" y="4541754"/>
            <a:ext cx="1146543" cy="7672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105</a:t>
            </a:r>
            <a:endParaRPr lang="en-IN" sz="4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354FD6-78B3-B17A-2FF2-38E715A7F723}"/>
              </a:ext>
            </a:extLst>
          </p:cNvPr>
          <p:cNvSpPr txBox="1"/>
          <p:nvPr/>
        </p:nvSpPr>
        <p:spPr>
          <a:xfrm>
            <a:off x="8001000" y="9144"/>
            <a:ext cx="4190999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lang="en-US" sz="1200" b="1" i="0" dirty="0">
                <a:solidFill>
                  <a:srgbClr val="1B2A44"/>
                </a:solidFill>
              </a:rPr>
              <a:t>Instruction: </a:t>
            </a:r>
            <a:r>
              <a:rPr lang="hi-IN" sz="1200" dirty="0">
                <a:solidFill>
                  <a:srgbClr val="1B2A44"/>
                </a:solidFill>
              </a:rPr>
              <a:t>संख्याएँ</a:t>
            </a:r>
            <a:r>
              <a:rPr lang="hi-IN" sz="1200" b="0" i="0" dirty="0">
                <a:solidFill>
                  <a:srgbClr val="1B2A44"/>
                </a:solidFill>
              </a:rPr>
              <a:t> घटाइए।</a:t>
            </a:r>
          </a:p>
          <a:p>
            <a:endParaRPr lang="hi-IN" sz="1200" b="0" i="0" dirty="0">
              <a:solidFill>
                <a:srgbClr val="1B2A44"/>
              </a:solidFill>
            </a:endParaRPr>
          </a:p>
          <a:p>
            <a:r>
              <a:rPr lang="en-US" sz="1200" b="0" i="0" dirty="0">
                <a:solidFill>
                  <a:srgbClr val="1B2A44"/>
                </a:solidFill>
              </a:rPr>
              <a:t>Replace the story scene screen with the Equation: 42 − </a:t>
            </a:r>
            <a:r>
              <a:rPr lang="en-US" sz="1200" dirty="0">
                <a:solidFill>
                  <a:srgbClr val="1B2A44"/>
                </a:solidFill>
              </a:rPr>
              <a:t>2</a:t>
            </a:r>
            <a:r>
              <a:rPr lang="en-US" sz="1200" b="0" i="0" dirty="0">
                <a:solidFill>
                  <a:srgbClr val="1B2A44"/>
                </a:solidFill>
              </a:rPr>
              <a:t>7 = ?</a:t>
            </a:r>
          </a:p>
          <a:p>
            <a:r>
              <a:rPr lang="en-US" sz="1200" b="0" i="0" dirty="0">
                <a:solidFill>
                  <a:srgbClr val="1B2A44"/>
                </a:solidFill>
              </a:rPr>
              <a:t>Left table: the child builds 42 and removes 27 (removed blocks stay greyed-out or fade). Right table: the remaining blocks move here. Then the child picks the answer.</a:t>
            </a:r>
          </a:p>
          <a:p>
            <a:endParaRPr lang="en-US" sz="1200" b="0" i="0" dirty="0">
              <a:solidFill>
                <a:srgbClr val="1B2A44"/>
              </a:solidFill>
            </a:endParaRPr>
          </a:p>
          <a:p>
            <a:r>
              <a:rPr lang="en-US" sz="1200" b="1" i="0" dirty="0">
                <a:solidFill>
                  <a:srgbClr val="1B2A44"/>
                </a:solidFill>
              </a:rPr>
              <a:t>Voice-over</a:t>
            </a:r>
          </a:p>
          <a:p>
            <a:endParaRPr lang="en-US" sz="1200" b="1" i="0" dirty="0">
              <a:solidFill>
                <a:srgbClr val="1B2A44"/>
              </a:solidFill>
            </a:endParaRPr>
          </a:p>
          <a:p>
            <a:r>
              <a:rPr lang="hi-IN" sz="1200" b="0" i="0" dirty="0">
                <a:solidFill>
                  <a:srgbClr val="1B2A44"/>
                </a:solidFill>
              </a:rPr>
              <a:t>42  में से 2</a:t>
            </a:r>
            <a:r>
              <a:rPr lang="hi-IN" sz="1200" dirty="0">
                <a:solidFill>
                  <a:srgbClr val="1B2A44"/>
                </a:solidFill>
              </a:rPr>
              <a:t>7 </a:t>
            </a:r>
            <a:r>
              <a:rPr lang="hi-IN" sz="1200" b="0" i="0" dirty="0">
                <a:solidFill>
                  <a:srgbClr val="1B2A44"/>
                </a:solidFill>
              </a:rPr>
              <a:t>घटाइए।</a:t>
            </a:r>
          </a:p>
          <a:p>
            <a:r>
              <a:rPr lang="hi-IN" sz="1200" b="0" i="0" dirty="0">
                <a:solidFill>
                  <a:srgbClr val="1B2A44"/>
                </a:solidFill>
              </a:rPr>
              <a:t>सबसे पहले ब्लॉक्स की सहायता से 42 बनाइए।</a:t>
            </a:r>
            <a:r>
              <a:rPr lang="en-US" sz="1200" b="0" i="0" dirty="0">
                <a:solidFill>
                  <a:srgbClr val="1B2A44"/>
                </a:solidFill>
              </a:rPr>
              <a:t> </a:t>
            </a:r>
            <a:r>
              <a:rPr lang="hi-IN" sz="1200" b="0" i="0" dirty="0">
                <a:solidFill>
                  <a:srgbClr val="1B2A44"/>
                </a:solidFill>
              </a:rPr>
              <a:t>जिसमे 4 दहाई और 2 इकाई होते है। </a:t>
            </a:r>
          </a:p>
          <a:p>
            <a:r>
              <a:rPr lang="en-US" sz="1200" b="0" i="0" dirty="0">
                <a:solidFill>
                  <a:srgbClr val="1B2A44"/>
                </a:solidFill>
              </a:rPr>
              <a:t>Tap and insert tens and ones block</a:t>
            </a:r>
            <a:endParaRPr lang="hi-IN" sz="1200" b="0" i="0" dirty="0">
              <a:solidFill>
                <a:srgbClr val="1B2A44"/>
              </a:solidFill>
            </a:endParaRPr>
          </a:p>
          <a:p>
            <a:endParaRPr lang="en-US" sz="1200" b="0" i="0" dirty="0">
              <a:solidFill>
                <a:srgbClr val="1B2A44"/>
              </a:solidFill>
            </a:endParaRPr>
          </a:p>
          <a:p>
            <a:r>
              <a:rPr lang="hi-IN" sz="1200" b="0" i="0" dirty="0">
                <a:solidFill>
                  <a:srgbClr val="1B2A44"/>
                </a:solidFill>
              </a:rPr>
              <a:t>और अब 27 घटाते है, 27 में 2 दहाई और 7 इकाई हैं।</a:t>
            </a:r>
          </a:p>
          <a:p>
            <a:r>
              <a:rPr lang="hi-IN" sz="1200" b="0" i="0" dirty="0">
                <a:solidFill>
                  <a:srgbClr val="1B2A44"/>
                </a:solidFill>
              </a:rPr>
              <a:t>पहले इकाइयाँ घटाइए। </a:t>
            </a:r>
          </a:p>
          <a:p>
            <a:r>
              <a:rPr lang="hi-IN" sz="1200" b="0" i="0" dirty="0">
                <a:solidFill>
                  <a:srgbClr val="1B2A44"/>
                </a:solidFill>
              </a:rPr>
              <a:t>2 इकाई में से 7 इकाई नहीं घटाई जा सकती।</a:t>
            </a:r>
            <a:r>
              <a:rPr lang="en-US" sz="1200" b="0" i="0" dirty="0">
                <a:solidFill>
                  <a:srgbClr val="1B2A44"/>
                </a:solidFill>
              </a:rPr>
              <a:t> </a:t>
            </a:r>
            <a:r>
              <a:rPr lang="hi-IN" sz="1200" b="0" i="0" dirty="0">
                <a:solidFill>
                  <a:srgbClr val="1B2A44"/>
                </a:solidFill>
              </a:rPr>
              <a:t>तो आप 1 दहाई को यहाँ लाइये, अब ये 1 दहाई, 10 इकाई मे हो गई। </a:t>
            </a:r>
          </a:p>
          <a:p>
            <a:endParaRPr lang="en-US" sz="1200" b="0" i="0" dirty="0">
              <a:solidFill>
                <a:srgbClr val="1B2A44"/>
              </a:solidFill>
            </a:endParaRPr>
          </a:p>
          <a:p>
            <a:r>
              <a:rPr lang="hi-IN" sz="1200" b="0" i="0" dirty="0">
                <a:solidFill>
                  <a:srgbClr val="1B2A44"/>
                </a:solidFill>
              </a:rPr>
              <a:t>अब यहाँ 12  इकाई हो गई। </a:t>
            </a:r>
          </a:p>
          <a:p>
            <a:r>
              <a:rPr lang="hi-IN" sz="1200" b="0" i="0" dirty="0">
                <a:solidFill>
                  <a:srgbClr val="1B2A44"/>
                </a:solidFill>
              </a:rPr>
              <a:t>अब इसमे से 7  इकाई को हटाइए एक-एक पर टैप करके, 1, 2, 3, 4, 5, 6, 7 . 	</a:t>
            </a:r>
          </a:p>
          <a:p>
            <a:r>
              <a:rPr lang="hi-IN" sz="1200" b="0" i="0" dirty="0">
                <a:solidFill>
                  <a:srgbClr val="1B2A44"/>
                </a:solidFill>
              </a:rPr>
              <a:t>इन 12  इकाई में से 7 इकाई हटाने पर बचीं, 5 इकाई। </a:t>
            </a:r>
          </a:p>
          <a:p>
            <a:r>
              <a:rPr lang="en-US" sz="1200" b="0" i="0" dirty="0">
                <a:solidFill>
                  <a:srgbClr val="1B2A44"/>
                </a:solidFill>
              </a:rPr>
              <a:t>Child wil</a:t>
            </a:r>
            <a:r>
              <a:rPr lang="en-US" sz="1200" dirty="0">
                <a:solidFill>
                  <a:srgbClr val="1B2A44"/>
                </a:solidFill>
              </a:rPr>
              <a:t>l tap and remove the ones blocks by tapping on each on-by-one</a:t>
            </a:r>
            <a:endParaRPr lang="hi-IN" sz="1200" b="0" i="0" dirty="0">
              <a:solidFill>
                <a:srgbClr val="1B2A44"/>
              </a:solidFill>
            </a:endParaRPr>
          </a:p>
          <a:p>
            <a:endParaRPr lang="en-US" sz="1200" b="0" i="0" dirty="0">
              <a:solidFill>
                <a:srgbClr val="1B2A44"/>
              </a:solidFill>
            </a:endParaRPr>
          </a:p>
          <a:p>
            <a:r>
              <a:rPr lang="hi-IN" sz="1200" b="0" i="0" dirty="0">
                <a:solidFill>
                  <a:srgbClr val="1B2A44"/>
                </a:solidFill>
              </a:rPr>
              <a:t>अब दहाइयाँ घटाइए। 3 दहाई में से 2 दहाई हटाइए।</a:t>
            </a:r>
            <a:endParaRPr lang="en-US" sz="1200" b="0" i="0" dirty="0">
              <a:solidFill>
                <a:srgbClr val="1B2A44"/>
              </a:solidFill>
            </a:endParaRPr>
          </a:p>
          <a:p>
            <a:r>
              <a:rPr lang="en-US" sz="1200" dirty="0">
                <a:solidFill>
                  <a:srgbClr val="1B2A44"/>
                </a:solidFill>
              </a:rPr>
              <a:t>Child will tap and remove the 2 tens rods.</a:t>
            </a:r>
            <a:endParaRPr lang="hi-IN" sz="1200" b="0" i="0" dirty="0">
              <a:solidFill>
                <a:srgbClr val="1B2A44"/>
              </a:solidFill>
            </a:endParaRPr>
          </a:p>
          <a:p>
            <a:endParaRPr lang="hi-IN" sz="1200" b="0" i="0" dirty="0">
              <a:solidFill>
                <a:srgbClr val="1B2A44"/>
              </a:solidFill>
            </a:endParaRPr>
          </a:p>
          <a:p>
            <a:r>
              <a:rPr lang="hi-IN" sz="1200" dirty="0">
                <a:solidFill>
                  <a:srgbClr val="1B2A44"/>
                </a:solidFill>
              </a:rPr>
              <a:t>अब </a:t>
            </a:r>
            <a:r>
              <a:rPr lang="hi-IN" sz="1200" b="0" i="0" dirty="0">
                <a:solidFill>
                  <a:srgbClr val="1B2A44"/>
                </a:solidFill>
              </a:rPr>
              <a:t>कितने बचे? सही संख्या चुनिए।</a:t>
            </a:r>
          </a:p>
          <a:p>
            <a:endParaRPr lang="en-US" sz="1200" b="0" i="0" dirty="0">
              <a:solidFill>
                <a:srgbClr val="1B2A44"/>
              </a:solidFill>
            </a:endParaRPr>
          </a:p>
          <a:p>
            <a:r>
              <a:rPr lang="en-US" sz="1200" b="0" i="0" dirty="0">
                <a:solidFill>
                  <a:srgbClr val="1B2A44"/>
                </a:solidFill>
              </a:rPr>
              <a:t>Hint: If the child choose 15, the VO</a:t>
            </a:r>
          </a:p>
          <a:p>
            <a:r>
              <a:rPr lang="hi-IN" sz="1200" b="0" i="0" dirty="0">
                <a:solidFill>
                  <a:srgbClr val="1B2A44"/>
                </a:solidFill>
              </a:rPr>
              <a:t>शाबाश! </a:t>
            </a:r>
            <a:r>
              <a:rPr lang="en-US" sz="1200" b="0" i="0" dirty="0">
                <a:solidFill>
                  <a:srgbClr val="1B2A44"/>
                </a:solidFill>
              </a:rPr>
              <a:t>42</a:t>
            </a:r>
            <a:r>
              <a:rPr lang="hi-IN" sz="1200" b="0" i="0" dirty="0">
                <a:solidFill>
                  <a:srgbClr val="1B2A44"/>
                </a:solidFill>
              </a:rPr>
              <a:t> में से </a:t>
            </a:r>
            <a:r>
              <a:rPr lang="en-US" sz="1200" b="0" i="0" dirty="0">
                <a:solidFill>
                  <a:srgbClr val="1B2A44"/>
                </a:solidFill>
              </a:rPr>
              <a:t>27</a:t>
            </a:r>
            <a:r>
              <a:rPr lang="hi-IN" sz="1200" b="0" i="0" dirty="0">
                <a:solidFill>
                  <a:srgbClr val="1B2A44"/>
                </a:solidFill>
              </a:rPr>
              <a:t> घटाने पर हमें मिलीं </a:t>
            </a:r>
            <a:r>
              <a:rPr lang="en-US" sz="1200" b="0" i="0" dirty="0">
                <a:solidFill>
                  <a:srgbClr val="1B2A44"/>
                </a:solidFill>
              </a:rPr>
              <a:t>1</a:t>
            </a:r>
            <a:r>
              <a:rPr lang="hi-IN" sz="1200" b="0" i="0" dirty="0">
                <a:solidFill>
                  <a:srgbClr val="1B2A44"/>
                </a:solidFill>
              </a:rPr>
              <a:t> दहाई और 5 इकाई, यानी </a:t>
            </a:r>
            <a:r>
              <a:rPr lang="en-US" sz="1200" b="0" i="0" dirty="0">
                <a:solidFill>
                  <a:srgbClr val="1B2A44"/>
                </a:solidFill>
              </a:rPr>
              <a:t>15. </a:t>
            </a:r>
            <a:endParaRPr lang="hi-IN" sz="1200" b="0" i="0" dirty="0">
              <a:solidFill>
                <a:srgbClr val="1B2A44"/>
              </a:solidFill>
            </a:endParaRPr>
          </a:p>
          <a:p>
            <a:r>
              <a:rPr lang="hi-IN" sz="1200" b="0" i="0" dirty="0">
                <a:solidFill>
                  <a:srgbClr val="1B2A44"/>
                </a:solidFill>
              </a:rPr>
              <a:t>इसलिए </a:t>
            </a:r>
            <a:r>
              <a:rPr lang="en-US" sz="1200" b="0" i="0" dirty="0">
                <a:solidFill>
                  <a:srgbClr val="1B2A44"/>
                </a:solidFill>
              </a:rPr>
              <a:t>42</a:t>
            </a:r>
            <a:r>
              <a:rPr lang="hi-IN" sz="1200" b="0" i="0" dirty="0">
                <a:solidFill>
                  <a:srgbClr val="1B2A44"/>
                </a:solidFill>
              </a:rPr>
              <a:t> घटा </a:t>
            </a:r>
            <a:r>
              <a:rPr lang="en-US" sz="1200" b="0" i="0" dirty="0">
                <a:solidFill>
                  <a:srgbClr val="1B2A44"/>
                </a:solidFill>
              </a:rPr>
              <a:t>27</a:t>
            </a:r>
            <a:r>
              <a:rPr lang="hi-IN" sz="1200" b="0" i="0" dirty="0">
                <a:solidFill>
                  <a:srgbClr val="1B2A44"/>
                </a:solidFill>
              </a:rPr>
              <a:t> बराबर </a:t>
            </a:r>
            <a:r>
              <a:rPr lang="en-US" sz="1200" b="0" i="0" dirty="0">
                <a:solidFill>
                  <a:srgbClr val="1B2A44"/>
                </a:solidFill>
              </a:rPr>
              <a:t>15 [Number Sync with VO]</a:t>
            </a:r>
            <a:endParaRPr lang="hi-IN" sz="1200" b="0" i="0" dirty="0">
              <a:solidFill>
                <a:srgbClr val="1B2A44"/>
              </a:solidFill>
            </a:endParaRPr>
          </a:p>
          <a:p>
            <a:endParaRPr lang="en-US" sz="1200" dirty="0">
              <a:solidFill>
                <a:srgbClr val="1B2A44"/>
              </a:solidFill>
            </a:endParaRPr>
          </a:p>
          <a:p>
            <a:r>
              <a:rPr lang="en-US" sz="1200" b="0" i="0" dirty="0">
                <a:solidFill>
                  <a:srgbClr val="1B2A44"/>
                </a:solidFill>
              </a:rPr>
              <a:t>If the child choose 6 </a:t>
            </a:r>
            <a:r>
              <a:rPr lang="hi-IN" sz="1200" dirty="0">
                <a:solidFill>
                  <a:srgbClr val="1B2A44"/>
                </a:solidFill>
              </a:rPr>
              <a:t>or</a:t>
            </a:r>
            <a:r>
              <a:rPr lang="en-US" sz="1200" b="0" i="0" dirty="0">
                <a:solidFill>
                  <a:srgbClr val="1B2A44"/>
                </a:solidFill>
              </a:rPr>
              <a:t> 105, the VO: </a:t>
            </a:r>
            <a:r>
              <a:rPr lang="hi-IN" sz="1200" b="0" i="0" dirty="0">
                <a:solidFill>
                  <a:srgbClr val="1B2A44"/>
                </a:solidFill>
              </a:rPr>
              <a:t>फिर से सोचिए, कितने बचे। </a:t>
            </a:r>
          </a:p>
          <a:p>
            <a:r>
              <a:rPr lang="en-US" sz="1200" dirty="0">
                <a:solidFill>
                  <a:srgbClr val="1B2A44"/>
                </a:solidFill>
              </a:rPr>
              <a:t>If the child choose 6 </a:t>
            </a:r>
            <a:r>
              <a:rPr lang="hi-IN" sz="1200" dirty="0">
                <a:solidFill>
                  <a:srgbClr val="1B2A44"/>
                </a:solidFill>
              </a:rPr>
              <a:t>or</a:t>
            </a:r>
            <a:r>
              <a:rPr lang="en-US" sz="1200" dirty="0">
                <a:solidFill>
                  <a:srgbClr val="1B2A44"/>
                </a:solidFill>
              </a:rPr>
              <a:t> 105, the VO: 42</a:t>
            </a:r>
            <a:r>
              <a:rPr lang="hi-IN" sz="1200" dirty="0">
                <a:solidFill>
                  <a:srgbClr val="1B2A44"/>
                </a:solidFill>
              </a:rPr>
              <a:t> मे से </a:t>
            </a:r>
            <a:r>
              <a:rPr lang="en-US" sz="1200" dirty="0">
                <a:solidFill>
                  <a:srgbClr val="1B2A44"/>
                </a:solidFill>
              </a:rPr>
              <a:t>27 </a:t>
            </a:r>
            <a:r>
              <a:rPr lang="hi-IN" sz="1200" dirty="0">
                <a:solidFill>
                  <a:srgbClr val="1B2A44"/>
                </a:solidFill>
              </a:rPr>
              <a:t>घटाने पर </a:t>
            </a:r>
            <a:r>
              <a:rPr lang="en-US" sz="1200" dirty="0">
                <a:solidFill>
                  <a:srgbClr val="1B2A44"/>
                </a:solidFill>
              </a:rPr>
              <a:t>1</a:t>
            </a:r>
            <a:r>
              <a:rPr lang="hi-IN" sz="1200" dirty="0">
                <a:solidFill>
                  <a:srgbClr val="1B2A44"/>
                </a:solidFill>
              </a:rPr>
              <a:t>5 बचता है। तो सही संख्या यह है। </a:t>
            </a:r>
            <a:endParaRPr lang="en-US" sz="1200" dirty="0">
              <a:solidFill>
                <a:srgbClr val="1B2A44"/>
              </a:solidFill>
            </a:endParaRPr>
          </a:p>
          <a:p>
            <a:r>
              <a:rPr lang="en-US" sz="1200" b="0" i="0" dirty="0">
                <a:solidFill>
                  <a:srgbClr val="1B2A44"/>
                </a:solidFill>
              </a:rPr>
              <a:t>Glow number 15 and Hand nudge will appear on the number and other two non-clickable.</a:t>
            </a:r>
            <a:endParaRPr lang="hi-IN" sz="1200" b="0" i="0" dirty="0">
              <a:solidFill>
                <a:srgbClr val="1B2A44"/>
              </a:solidFill>
            </a:endParaRPr>
          </a:p>
        </p:txBody>
      </p:sp>
      <p:pic>
        <p:nvPicPr>
          <p:cNvPr id="34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46E2095A-BEEB-3A84-1273-DAB671AA6A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1238712" y="2901349"/>
            <a:ext cx="246888" cy="1179576"/>
          </a:xfrm>
          <a:prstGeom prst="rect">
            <a:avLst/>
          </a:prstGeom>
        </p:spPr>
      </p:pic>
      <p:pic>
        <p:nvPicPr>
          <p:cNvPr id="35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BBDEE7EE-E1EE-EDB0-DC05-778953CAED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953481" y="2958116"/>
            <a:ext cx="246888" cy="1179576"/>
          </a:xfrm>
          <a:prstGeom prst="rect">
            <a:avLst/>
          </a:prstGeom>
        </p:spPr>
      </p:pic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015DCAB-C50E-D6BB-7FE8-ADAC304F5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030170"/>
              </p:ext>
            </p:extLst>
          </p:nvPr>
        </p:nvGraphicFramePr>
        <p:xfrm>
          <a:off x="1283738" y="2411398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1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9D298EFE-98D1-1347-90EE-9D21109988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1578931" y="2875274"/>
            <a:ext cx="246888" cy="1179576"/>
          </a:xfrm>
          <a:prstGeom prst="rect">
            <a:avLst/>
          </a:prstGeom>
        </p:spPr>
      </p:pic>
      <p:pic>
        <p:nvPicPr>
          <p:cNvPr id="42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CCD820D6-8C8C-E91A-87AD-2C83FB64E2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1791255" y="2875274"/>
            <a:ext cx="246888" cy="1179576"/>
          </a:xfrm>
          <a:prstGeom prst="rect">
            <a:avLst/>
          </a:prstGeom>
        </p:spPr>
      </p:pic>
      <p:pic>
        <p:nvPicPr>
          <p:cNvPr id="43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3942B1F7-90CE-1CB8-A2CB-55C198C61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8257" y="3381409"/>
            <a:ext cx="256032" cy="219456"/>
          </a:xfrm>
          <a:prstGeom prst="rect">
            <a:avLst/>
          </a:prstGeom>
        </p:spPr>
      </p:pic>
      <p:pic>
        <p:nvPicPr>
          <p:cNvPr id="4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731BF1FD-23DA-2242-5676-75FBB690A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568" y="3381409"/>
            <a:ext cx="256032" cy="219456"/>
          </a:xfrm>
          <a:prstGeom prst="rect">
            <a:avLst/>
          </a:prstGeom>
        </p:spPr>
      </p:pic>
      <p:pic>
        <p:nvPicPr>
          <p:cNvPr id="45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BD5C484F-E35F-43CB-7158-92F46DCA67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2045021" y="2852414"/>
            <a:ext cx="246888" cy="1179576"/>
          </a:xfrm>
          <a:prstGeom prst="rect">
            <a:avLst/>
          </a:prstGeom>
        </p:spPr>
      </p:pic>
      <p:pic>
        <p:nvPicPr>
          <p:cNvPr id="47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D741AA7D-2034-100F-DE6C-4A413B919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649" y="2928922"/>
            <a:ext cx="256032" cy="219456"/>
          </a:xfrm>
          <a:prstGeom prst="rect">
            <a:avLst/>
          </a:prstGeom>
        </p:spPr>
      </p:pic>
      <p:pic>
        <p:nvPicPr>
          <p:cNvPr id="48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A3DFB12-EF39-EE84-BA47-8C97F59CD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961" y="2928922"/>
            <a:ext cx="256032" cy="219456"/>
          </a:xfrm>
          <a:prstGeom prst="rect">
            <a:avLst/>
          </a:prstGeom>
        </p:spPr>
      </p:pic>
      <p:pic>
        <p:nvPicPr>
          <p:cNvPr id="49" name="Picture 48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A1731F9E-7982-C45A-2C6D-A25E7CDBC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273" y="2928922"/>
            <a:ext cx="256032" cy="219456"/>
          </a:xfrm>
          <a:prstGeom prst="rect">
            <a:avLst/>
          </a:prstGeom>
        </p:spPr>
      </p:pic>
      <p:pic>
        <p:nvPicPr>
          <p:cNvPr id="50" name="Picture 49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4DB676FE-E711-05BF-B868-0AE6189EF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585" y="2928922"/>
            <a:ext cx="256032" cy="219456"/>
          </a:xfrm>
          <a:prstGeom prst="rect">
            <a:avLst/>
          </a:prstGeom>
        </p:spPr>
      </p:pic>
      <p:pic>
        <p:nvPicPr>
          <p:cNvPr id="5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8AFBCCD0-1713-DA4A-1004-08C8AB9A4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897" y="2929785"/>
            <a:ext cx="256032" cy="219456"/>
          </a:xfrm>
          <a:prstGeom prst="rect">
            <a:avLst/>
          </a:prstGeom>
        </p:spPr>
      </p:pic>
      <p:pic>
        <p:nvPicPr>
          <p:cNvPr id="52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4152E5A2-8F84-3774-BC56-230D7227A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649" y="3138559"/>
            <a:ext cx="256032" cy="219456"/>
          </a:xfrm>
          <a:prstGeom prst="rect">
            <a:avLst/>
          </a:prstGeom>
        </p:spPr>
      </p:pic>
      <p:pic>
        <p:nvPicPr>
          <p:cNvPr id="53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B8E507A4-8CE7-4A75-8733-0C04DF08A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961" y="3138559"/>
            <a:ext cx="256032" cy="219456"/>
          </a:xfrm>
          <a:prstGeom prst="rect">
            <a:avLst/>
          </a:prstGeom>
        </p:spPr>
      </p:pic>
      <p:pic>
        <p:nvPicPr>
          <p:cNvPr id="54" name="Picture 53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290F54DC-9202-71D8-1276-92210473E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273" y="3138559"/>
            <a:ext cx="256032" cy="219456"/>
          </a:xfrm>
          <a:prstGeom prst="rect">
            <a:avLst/>
          </a:prstGeom>
        </p:spPr>
      </p:pic>
      <p:pic>
        <p:nvPicPr>
          <p:cNvPr id="55" name="Picture 54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5D2D5329-5489-3F4F-B3B4-D0574BA9B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585" y="3138559"/>
            <a:ext cx="256032" cy="219456"/>
          </a:xfrm>
          <a:prstGeom prst="rect">
            <a:avLst/>
          </a:prstGeom>
        </p:spPr>
      </p:pic>
      <p:pic>
        <p:nvPicPr>
          <p:cNvPr id="5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5A254CEE-CD84-892E-FF40-58BB7B860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897" y="3139422"/>
            <a:ext cx="256032" cy="219456"/>
          </a:xfrm>
          <a:prstGeom prst="rect">
            <a:avLst/>
          </a:prstGeom>
        </p:spPr>
      </p:pic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DD72960E-383E-63D0-B294-B5F289E84C53}"/>
              </a:ext>
            </a:extLst>
          </p:cNvPr>
          <p:cNvSpPr/>
          <p:nvPr/>
        </p:nvSpPr>
        <p:spPr>
          <a:xfrm>
            <a:off x="3080118" y="2901349"/>
            <a:ext cx="1125003" cy="462762"/>
          </a:xfrm>
          <a:prstGeom prst="roundRect">
            <a:avLst>
              <a:gd name="adj" fmla="val 1710"/>
            </a:avLst>
          </a:prstGeom>
          <a:noFill/>
          <a:ln w="19050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6 · 06_MEET_SEQUENCE.png</a:t>
            </a:r>
          </a:p>
        </p:txBody>
      </p:sp>
      <p:pic>
        <p:nvPicPr>
          <p:cNvPr id="3" name="Picture 2" descr="06_MEET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160" y="71120"/>
            <a:ext cx="2353779" cy="1320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D4E9260-405B-83B3-2E8C-600F7608ADBA}"/>
              </a:ext>
            </a:extLst>
          </p:cNvPr>
          <p:cNvSpPr/>
          <p:nvPr/>
        </p:nvSpPr>
        <p:spPr>
          <a:xfrm>
            <a:off x="411480" y="1442329"/>
            <a:ext cx="7589520" cy="306324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D2A38E-7014-3CB9-B2C7-52314E8E25D6}"/>
              </a:ext>
            </a:extLst>
          </p:cNvPr>
          <p:cNvSpPr txBox="1"/>
          <p:nvPr/>
        </p:nvSpPr>
        <p:spPr>
          <a:xfrm>
            <a:off x="1344168" y="1076569"/>
            <a:ext cx="493776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hi-IN" dirty="0">
                <a:solidFill>
                  <a:srgbClr val="1B2A44"/>
                </a:solidFill>
              </a:rPr>
              <a:t>संख्याएँ</a:t>
            </a:r>
            <a:r>
              <a:rPr lang="hi-IN" sz="1800" dirty="0">
                <a:solidFill>
                  <a:srgbClr val="1B2A44"/>
                </a:solidFill>
              </a:rPr>
              <a:t> घटाइए।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CA36389-1D47-A9C1-F42B-9E0DB1008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996232"/>
              </p:ext>
            </p:extLst>
          </p:nvPr>
        </p:nvGraphicFramePr>
        <p:xfrm>
          <a:off x="-1999995" y="2460333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D9C19ADE-4EA7-DC86-F505-A833C115C1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1704802" y="2924209"/>
            <a:ext cx="246888" cy="1179576"/>
          </a:xfrm>
          <a:prstGeom prst="rect">
            <a:avLst/>
          </a:prstGeom>
        </p:spPr>
      </p:pic>
      <p:pic>
        <p:nvPicPr>
          <p:cNvPr id="9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F185328C-FBBE-8C0E-F504-535EEB9D84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1492478" y="2924209"/>
            <a:ext cx="246888" cy="1179576"/>
          </a:xfrm>
          <a:prstGeom prst="rect">
            <a:avLst/>
          </a:prstGeom>
        </p:spPr>
      </p:pic>
      <p:pic>
        <p:nvPicPr>
          <p:cNvPr id="10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62329A84-5A9C-BE0A-CB0A-BBBC9CC8D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3024" y="3271681"/>
            <a:ext cx="256032" cy="219456"/>
          </a:xfrm>
          <a:prstGeom prst="rect">
            <a:avLst/>
          </a:prstGeom>
        </p:spPr>
      </p:pic>
      <p:pic>
        <p:nvPicPr>
          <p:cNvPr id="1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92751884-8CED-A2B1-7EC6-03077523A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7" y="3271681"/>
            <a:ext cx="256032" cy="219456"/>
          </a:xfrm>
          <a:prstGeom prst="rect">
            <a:avLst/>
          </a:prstGeom>
        </p:spPr>
      </p:pic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5478E0C9-6DA2-233E-A4C3-2E135C8D0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899631"/>
              </p:ext>
            </p:extLst>
          </p:nvPr>
        </p:nvGraphicFramePr>
        <p:xfrm>
          <a:off x="4683655" y="2453707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E1793250-E62A-C6D6-D5BC-90C25B5651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5152559" y="2938339"/>
            <a:ext cx="246888" cy="1179576"/>
          </a:xfrm>
          <a:prstGeom prst="rect">
            <a:avLst/>
          </a:prstGeom>
        </p:spPr>
      </p:pic>
      <p:pic>
        <p:nvPicPr>
          <p:cNvPr id="1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9FD895E4-D0FB-AFC2-4688-CF5EB8DE6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175" y="3404683"/>
            <a:ext cx="256032" cy="219456"/>
          </a:xfrm>
          <a:prstGeom prst="rect">
            <a:avLst/>
          </a:prstGeom>
        </p:spPr>
      </p:pic>
      <p:pic>
        <p:nvPicPr>
          <p:cNvPr id="15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AC0498B-4CC0-EC35-B98F-84A212544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487" y="3404683"/>
            <a:ext cx="256032" cy="219456"/>
          </a:xfrm>
          <a:prstGeom prst="rect">
            <a:avLst/>
          </a:prstGeom>
        </p:spPr>
      </p:pic>
      <p:pic>
        <p:nvPicPr>
          <p:cNvPr id="1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DB0669E-03DA-CC2C-927C-DEE74F9C8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8799" y="3404683"/>
            <a:ext cx="256032" cy="219456"/>
          </a:xfrm>
          <a:prstGeom prst="rect">
            <a:avLst/>
          </a:prstGeom>
        </p:spPr>
      </p:pic>
      <p:pic>
        <p:nvPicPr>
          <p:cNvPr id="17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281E773B-BA3F-B08B-A9BD-43E7313CC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111" y="3404683"/>
            <a:ext cx="256032" cy="219456"/>
          </a:xfrm>
          <a:prstGeom prst="rect">
            <a:avLst/>
          </a:prstGeom>
        </p:spPr>
      </p:pic>
      <p:pic>
        <p:nvPicPr>
          <p:cNvPr id="18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4CE3CD97-BA2C-7E45-25D8-94BC3117F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423" y="3404683"/>
            <a:ext cx="256032" cy="219456"/>
          </a:xfrm>
          <a:prstGeom prst="rect">
            <a:avLst/>
          </a:prstGeom>
        </p:spPr>
      </p:pic>
      <p:sp>
        <p:nvSpPr>
          <p:cNvPr id="19" name="Rectangle: Rounded Corners 10">
            <a:extLst>
              <a:ext uri="{FF2B5EF4-FFF2-40B4-BE49-F238E27FC236}">
                <a16:creationId xmlns:a16="http://schemas.microsoft.com/office/drawing/2014/main" id="{6B41F942-D1BF-CD64-21BA-5A9749F71874}"/>
              </a:ext>
            </a:extLst>
          </p:cNvPr>
          <p:cNvSpPr/>
          <p:nvPr/>
        </p:nvSpPr>
        <p:spPr>
          <a:xfrm>
            <a:off x="2926080" y="1588633"/>
            <a:ext cx="2560320" cy="6826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53 − 14  =  ?</a:t>
            </a:r>
            <a:endParaRPr lang="en-IN" sz="3200" b="1" dirty="0"/>
          </a:p>
        </p:txBody>
      </p:sp>
      <p:sp>
        <p:nvSpPr>
          <p:cNvPr id="20" name="Rectangle: Rounded Corners 24">
            <a:extLst>
              <a:ext uri="{FF2B5EF4-FFF2-40B4-BE49-F238E27FC236}">
                <a16:creationId xmlns:a16="http://schemas.microsoft.com/office/drawing/2014/main" id="{63C8016C-9361-D585-1198-0BBBA158E89E}"/>
              </a:ext>
            </a:extLst>
          </p:cNvPr>
          <p:cNvSpPr/>
          <p:nvPr/>
        </p:nvSpPr>
        <p:spPr>
          <a:xfrm>
            <a:off x="1965764" y="4541754"/>
            <a:ext cx="1042312" cy="7672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39</a:t>
            </a:r>
            <a:endParaRPr lang="en-IN" sz="4000" b="1" dirty="0"/>
          </a:p>
        </p:txBody>
      </p:sp>
      <p:sp>
        <p:nvSpPr>
          <p:cNvPr id="21" name="Rectangle: Rounded Corners 24">
            <a:extLst>
              <a:ext uri="{FF2B5EF4-FFF2-40B4-BE49-F238E27FC236}">
                <a16:creationId xmlns:a16="http://schemas.microsoft.com/office/drawing/2014/main" id="{763ABE91-9EF9-AA9E-0F49-0FE9D6EF6880}"/>
              </a:ext>
            </a:extLst>
          </p:cNvPr>
          <p:cNvSpPr/>
          <p:nvPr/>
        </p:nvSpPr>
        <p:spPr>
          <a:xfrm>
            <a:off x="3797312" y="4541754"/>
            <a:ext cx="1146543" cy="7672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12</a:t>
            </a:r>
            <a:endParaRPr lang="en-IN" sz="4000" b="1" dirty="0"/>
          </a:p>
        </p:txBody>
      </p:sp>
      <p:sp>
        <p:nvSpPr>
          <p:cNvPr id="22" name="Rectangle: Rounded Corners 24">
            <a:extLst>
              <a:ext uri="{FF2B5EF4-FFF2-40B4-BE49-F238E27FC236}">
                <a16:creationId xmlns:a16="http://schemas.microsoft.com/office/drawing/2014/main" id="{412836F5-F4F7-4207-75AC-B466A96D5E4D}"/>
              </a:ext>
            </a:extLst>
          </p:cNvPr>
          <p:cNvSpPr/>
          <p:nvPr/>
        </p:nvSpPr>
        <p:spPr>
          <a:xfrm>
            <a:off x="5671833" y="4541754"/>
            <a:ext cx="1146543" cy="7672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93</a:t>
            </a:r>
            <a:endParaRPr lang="en-IN" sz="4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32344B-F350-EE43-13D9-CB886BA1C351}"/>
              </a:ext>
            </a:extLst>
          </p:cNvPr>
          <p:cNvSpPr txBox="1"/>
          <p:nvPr/>
        </p:nvSpPr>
        <p:spPr>
          <a:xfrm>
            <a:off x="8001000" y="9144"/>
            <a:ext cx="4190999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lang="en-US" sz="1200" b="1" i="0" dirty="0">
                <a:solidFill>
                  <a:srgbClr val="1B2A44"/>
                </a:solidFill>
              </a:rPr>
              <a:t>Instruction: </a:t>
            </a:r>
            <a:r>
              <a:rPr lang="hi-IN" sz="1200" dirty="0">
                <a:solidFill>
                  <a:srgbClr val="1B2A44"/>
                </a:solidFill>
              </a:rPr>
              <a:t>संख्याएँ</a:t>
            </a:r>
            <a:r>
              <a:rPr lang="hi-IN" sz="1200" b="0" i="0" dirty="0">
                <a:solidFill>
                  <a:srgbClr val="1B2A44"/>
                </a:solidFill>
              </a:rPr>
              <a:t> घटाइए।</a:t>
            </a:r>
          </a:p>
          <a:p>
            <a:endParaRPr lang="hi-IN" sz="1200" b="0" i="0" dirty="0">
              <a:solidFill>
                <a:srgbClr val="1B2A44"/>
              </a:solidFill>
            </a:endParaRPr>
          </a:p>
          <a:p>
            <a:r>
              <a:rPr lang="en-US" sz="1200" b="0" i="0" dirty="0">
                <a:solidFill>
                  <a:srgbClr val="1B2A44"/>
                </a:solidFill>
              </a:rPr>
              <a:t>Replace the </a:t>
            </a:r>
            <a:r>
              <a:rPr lang="en-US" sz="1200" dirty="0">
                <a:solidFill>
                  <a:srgbClr val="1B2A44"/>
                </a:solidFill>
              </a:rPr>
              <a:t>meet-sequence </a:t>
            </a:r>
            <a:r>
              <a:rPr lang="en-US" sz="1200" b="0" i="0" dirty="0">
                <a:solidFill>
                  <a:srgbClr val="1B2A44"/>
                </a:solidFill>
              </a:rPr>
              <a:t>screen with the Equation: 42 − </a:t>
            </a:r>
            <a:r>
              <a:rPr lang="en-US" sz="1200" dirty="0">
                <a:solidFill>
                  <a:srgbClr val="1B2A44"/>
                </a:solidFill>
              </a:rPr>
              <a:t>2</a:t>
            </a:r>
            <a:r>
              <a:rPr lang="en-US" sz="1200" b="0" i="0" dirty="0">
                <a:solidFill>
                  <a:srgbClr val="1B2A44"/>
                </a:solidFill>
              </a:rPr>
              <a:t>7 = ?</a:t>
            </a:r>
          </a:p>
          <a:p>
            <a:r>
              <a:rPr lang="en-US" sz="1200" b="0" i="0" dirty="0">
                <a:solidFill>
                  <a:srgbClr val="1B2A44"/>
                </a:solidFill>
              </a:rPr>
              <a:t>Left table: the child builds 42 and removes 27 (removed blocks stay greyed-out or fade). Right table: the remaining blocks move here. Then the child picks the answer.</a:t>
            </a:r>
          </a:p>
          <a:p>
            <a:endParaRPr lang="en-US" sz="1200" b="0" i="0" dirty="0">
              <a:solidFill>
                <a:srgbClr val="1B2A44"/>
              </a:solidFill>
            </a:endParaRPr>
          </a:p>
          <a:p>
            <a:r>
              <a:rPr lang="en-US" sz="1200" b="1" i="0" dirty="0">
                <a:solidFill>
                  <a:srgbClr val="1B2A44"/>
                </a:solidFill>
              </a:rPr>
              <a:t>Voice-over</a:t>
            </a:r>
          </a:p>
          <a:p>
            <a:endParaRPr lang="en-US" sz="1200" b="1" i="0" dirty="0">
              <a:solidFill>
                <a:srgbClr val="1B2A44"/>
              </a:solidFill>
            </a:endParaRPr>
          </a:p>
          <a:p>
            <a:r>
              <a:rPr lang="en-US" sz="1200" dirty="0">
                <a:solidFill>
                  <a:srgbClr val="1B2A44"/>
                </a:solidFill>
              </a:rPr>
              <a:t>53</a:t>
            </a:r>
            <a:r>
              <a:rPr lang="hi-IN" sz="1200" b="0" i="0" dirty="0">
                <a:solidFill>
                  <a:srgbClr val="1B2A44"/>
                </a:solidFill>
              </a:rPr>
              <a:t> में से </a:t>
            </a:r>
            <a:r>
              <a:rPr lang="en-US" sz="1200" b="0" i="0" dirty="0">
                <a:solidFill>
                  <a:srgbClr val="1B2A44"/>
                </a:solidFill>
              </a:rPr>
              <a:t>14 </a:t>
            </a:r>
            <a:r>
              <a:rPr lang="hi-IN" sz="1200" b="0" i="0" dirty="0">
                <a:solidFill>
                  <a:srgbClr val="1B2A44"/>
                </a:solidFill>
              </a:rPr>
              <a:t>घटाइए।</a:t>
            </a:r>
          </a:p>
          <a:p>
            <a:r>
              <a:rPr lang="hi-IN" sz="1200" b="0" i="0" dirty="0">
                <a:solidFill>
                  <a:srgbClr val="1B2A44"/>
                </a:solidFill>
              </a:rPr>
              <a:t>सबसे पहले ब्लॉक्स की सहायता से </a:t>
            </a:r>
            <a:r>
              <a:rPr lang="en-US" sz="1200" b="0" i="0" dirty="0">
                <a:solidFill>
                  <a:srgbClr val="1B2A44"/>
                </a:solidFill>
              </a:rPr>
              <a:t>53 </a:t>
            </a:r>
            <a:r>
              <a:rPr lang="hi-IN" sz="1200" b="0" i="0" dirty="0">
                <a:solidFill>
                  <a:srgbClr val="1B2A44"/>
                </a:solidFill>
              </a:rPr>
              <a:t>बनाइए।</a:t>
            </a:r>
            <a:r>
              <a:rPr lang="en-US" sz="1200" b="0" i="0" dirty="0">
                <a:solidFill>
                  <a:srgbClr val="1B2A44"/>
                </a:solidFill>
              </a:rPr>
              <a:t> [When the required number of blocks added, the buttons should be non-clickable]</a:t>
            </a:r>
            <a:endParaRPr lang="hi-IN" sz="1200" b="0" i="0" dirty="0">
              <a:solidFill>
                <a:srgbClr val="1B2A44"/>
              </a:solidFill>
            </a:endParaRPr>
          </a:p>
          <a:p>
            <a:r>
              <a:rPr lang="en-US" sz="1200" b="0" i="0" dirty="0">
                <a:solidFill>
                  <a:srgbClr val="1B2A44"/>
                </a:solidFill>
              </a:rPr>
              <a:t>Tap and insert tens and ones block</a:t>
            </a:r>
            <a:endParaRPr lang="hi-IN" sz="1200" b="0" i="0" dirty="0">
              <a:solidFill>
                <a:srgbClr val="1B2A44"/>
              </a:solidFill>
            </a:endParaRPr>
          </a:p>
          <a:p>
            <a:endParaRPr lang="en-US" sz="1200" b="0" i="0" dirty="0">
              <a:solidFill>
                <a:srgbClr val="1B2A44"/>
              </a:solidFill>
            </a:endParaRPr>
          </a:p>
          <a:p>
            <a:r>
              <a:rPr lang="hi-IN" sz="1200" b="0" i="0" dirty="0">
                <a:solidFill>
                  <a:srgbClr val="1B2A44"/>
                </a:solidFill>
              </a:rPr>
              <a:t>और अब इसमे से </a:t>
            </a:r>
            <a:r>
              <a:rPr lang="en-US" sz="1200" b="0" i="0" dirty="0">
                <a:solidFill>
                  <a:srgbClr val="1B2A44"/>
                </a:solidFill>
              </a:rPr>
              <a:t>14  </a:t>
            </a:r>
            <a:r>
              <a:rPr lang="hi-IN" sz="1200" b="0" i="0" dirty="0">
                <a:solidFill>
                  <a:srgbClr val="1B2A44"/>
                </a:solidFill>
              </a:rPr>
              <a:t>घटाइए। </a:t>
            </a:r>
          </a:p>
          <a:p>
            <a:endParaRPr lang="en-US" sz="1200" b="0" i="0" dirty="0">
              <a:solidFill>
                <a:srgbClr val="1B2A44"/>
              </a:solidFill>
            </a:endParaRPr>
          </a:p>
          <a:p>
            <a:r>
              <a:rPr lang="hi-IN" sz="1200" b="0" i="0" dirty="0">
                <a:solidFill>
                  <a:srgbClr val="1B2A44"/>
                </a:solidFill>
              </a:rPr>
              <a:t>इसमे से 4 इकाई को हटाइए, 1, 2, 3, 4. 	</a:t>
            </a:r>
          </a:p>
          <a:p>
            <a:r>
              <a:rPr lang="en-US" sz="1200" b="0" i="0" dirty="0">
                <a:solidFill>
                  <a:srgbClr val="1B2A44"/>
                </a:solidFill>
              </a:rPr>
              <a:t>Child wil</a:t>
            </a:r>
            <a:r>
              <a:rPr lang="en-US" sz="1200" dirty="0">
                <a:solidFill>
                  <a:srgbClr val="1B2A44"/>
                </a:solidFill>
              </a:rPr>
              <a:t>l tap and remove the ones blocks by tapping on each on-by-one</a:t>
            </a:r>
            <a:endParaRPr lang="hi-IN" sz="1200" b="0" i="0" dirty="0">
              <a:solidFill>
                <a:srgbClr val="1B2A44"/>
              </a:solidFill>
            </a:endParaRPr>
          </a:p>
          <a:p>
            <a:endParaRPr lang="en-US" sz="1200" b="0" i="0" dirty="0">
              <a:solidFill>
                <a:srgbClr val="1B2A44"/>
              </a:solidFill>
            </a:endParaRPr>
          </a:p>
          <a:p>
            <a:r>
              <a:rPr lang="hi-IN" sz="1200" b="0" i="0" dirty="0">
                <a:solidFill>
                  <a:srgbClr val="1B2A44"/>
                </a:solidFill>
              </a:rPr>
              <a:t>अब दहाइयाँ घटाइए।</a:t>
            </a:r>
            <a:endParaRPr lang="en-US" sz="1200" b="0" i="0" dirty="0">
              <a:solidFill>
                <a:srgbClr val="1B2A44"/>
              </a:solidFill>
            </a:endParaRPr>
          </a:p>
          <a:p>
            <a:r>
              <a:rPr lang="en-US" sz="1200" dirty="0">
                <a:solidFill>
                  <a:srgbClr val="1B2A44"/>
                </a:solidFill>
              </a:rPr>
              <a:t>Child will tap and remove the 1 tens rods.</a:t>
            </a:r>
            <a:endParaRPr lang="hi-IN" sz="1200" b="0" i="0" dirty="0">
              <a:solidFill>
                <a:srgbClr val="1B2A44"/>
              </a:solidFill>
            </a:endParaRPr>
          </a:p>
          <a:p>
            <a:endParaRPr lang="hi-IN" sz="1200" b="0" i="0" dirty="0">
              <a:solidFill>
                <a:srgbClr val="1B2A44"/>
              </a:solidFill>
            </a:endParaRPr>
          </a:p>
          <a:p>
            <a:r>
              <a:rPr lang="hi-IN" sz="1200" dirty="0">
                <a:solidFill>
                  <a:srgbClr val="1B2A44"/>
                </a:solidFill>
              </a:rPr>
              <a:t>अब </a:t>
            </a:r>
            <a:r>
              <a:rPr lang="hi-IN" sz="1200" b="0" i="0" dirty="0">
                <a:solidFill>
                  <a:srgbClr val="1B2A44"/>
                </a:solidFill>
              </a:rPr>
              <a:t>कितने बचे? सही संख्या चुनिए।</a:t>
            </a:r>
          </a:p>
          <a:p>
            <a:endParaRPr lang="en-US" sz="1200" b="0" i="0" dirty="0">
              <a:solidFill>
                <a:srgbClr val="1B2A44"/>
              </a:solidFill>
            </a:endParaRPr>
          </a:p>
          <a:p>
            <a:r>
              <a:rPr lang="en-US" sz="1200" b="0" i="0" dirty="0">
                <a:solidFill>
                  <a:srgbClr val="1B2A44"/>
                </a:solidFill>
              </a:rPr>
              <a:t>Hint: If the child choose </a:t>
            </a:r>
            <a:r>
              <a:rPr lang="en-US" sz="1200" dirty="0">
                <a:solidFill>
                  <a:srgbClr val="1B2A44"/>
                </a:solidFill>
              </a:rPr>
              <a:t>39</a:t>
            </a:r>
            <a:r>
              <a:rPr lang="en-US" sz="1200" b="0" i="0" dirty="0">
                <a:solidFill>
                  <a:srgbClr val="1B2A44"/>
                </a:solidFill>
              </a:rPr>
              <a:t>, the VO</a:t>
            </a:r>
          </a:p>
          <a:p>
            <a:r>
              <a:rPr lang="hi-IN" sz="1200" b="0" i="0" dirty="0">
                <a:solidFill>
                  <a:srgbClr val="1B2A44"/>
                </a:solidFill>
              </a:rPr>
              <a:t>शाबाश! </a:t>
            </a:r>
            <a:r>
              <a:rPr lang="en-US" sz="1200" b="0" i="0" dirty="0">
                <a:solidFill>
                  <a:srgbClr val="1B2A44"/>
                </a:solidFill>
              </a:rPr>
              <a:t>53</a:t>
            </a:r>
            <a:r>
              <a:rPr lang="hi-IN" sz="1200" b="0" i="0" dirty="0">
                <a:solidFill>
                  <a:srgbClr val="1B2A44"/>
                </a:solidFill>
              </a:rPr>
              <a:t> घटा </a:t>
            </a:r>
            <a:r>
              <a:rPr lang="en-US" sz="1200" b="0" i="0" dirty="0">
                <a:solidFill>
                  <a:srgbClr val="1B2A44"/>
                </a:solidFill>
              </a:rPr>
              <a:t>14</a:t>
            </a:r>
            <a:r>
              <a:rPr lang="hi-IN" sz="1200" b="0" i="0" dirty="0">
                <a:solidFill>
                  <a:srgbClr val="1B2A44"/>
                </a:solidFill>
              </a:rPr>
              <a:t> बराबर </a:t>
            </a:r>
            <a:r>
              <a:rPr lang="en-US" sz="1200" b="0" i="0" dirty="0">
                <a:solidFill>
                  <a:srgbClr val="1B2A44"/>
                </a:solidFill>
              </a:rPr>
              <a:t>39  [Number Sync with VO]</a:t>
            </a:r>
            <a:endParaRPr lang="hi-IN" sz="1200" b="0" i="0" dirty="0">
              <a:solidFill>
                <a:srgbClr val="1B2A44"/>
              </a:solidFill>
            </a:endParaRPr>
          </a:p>
          <a:p>
            <a:endParaRPr lang="en-US" sz="1200" dirty="0">
              <a:solidFill>
                <a:srgbClr val="1B2A44"/>
              </a:solidFill>
            </a:endParaRPr>
          </a:p>
          <a:p>
            <a:r>
              <a:rPr lang="en-US" sz="1200" b="0" i="0" dirty="0">
                <a:solidFill>
                  <a:srgbClr val="1B2A44"/>
                </a:solidFill>
              </a:rPr>
              <a:t>If the child choose 12 or 93, the VO: </a:t>
            </a:r>
            <a:r>
              <a:rPr lang="hi-IN" sz="1200" b="0" i="0" dirty="0">
                <a:solidFill>
                  <a:srgbClr val="1B2A44"/>
                </a:solidFill>
              </a:rPr>
              <a:t>फिर से सोचिए, कितने बचे। </a:t>
            </a:r>
          </a:p>
          <a:p>
            <a:r>
              <a:rPr lang="en-US" sz="1200" dirty="0">
                <a:solidFill>
                  <a:srgbClr val="1B2A44"/>
                </a:solidFill>
              </a:rPr>
              <a:t>If the child choose 12 or 93, the VO: 53</a:t>
            </a:r>
            <a:r>
              <a:rPr lang="hi-IN" sz="1200" dirty="0">
                <a:solidFill>
                  <a:srgbClr val="1B2A44"/>
                </a:solidFill>
              </a:rPr>
              <a:t> मे से </a:t>
            </a:r>
            <a:r>
              <a:rPr lang="en-US" sz="1200" dirty="0">
                <a:solidFill>
                  <a:srgbClr val="1B2A44"/>
                </a:solidFill>
              </a:rPr>
              <a:t>14 </a:t>
            </a:r>
            <a:r>
              <a:rPr lang="hi-IN" sz="1200" dirty="0">
                <a:solidFill>
                  <a:srgbClr val="1B2A44"/>
                </a:solidFill>
              </a:rPr>
              <a:t>घटाने पर </a:t>
            </a:r>
            <a:r>
              <a:rPr lang="en-US" sz="1200" dirty="0">
                <a:solidFill>
                  <a:srgbClr val="1B2A44"/>
                </a:solidFill>
              </a:rPr>
              <a:t>39</a:t>
            </a:r>
            <a:r>
              <a:rPr lang="hi-IN" sz="1200" dirty="0">
                <a:solidFill>
                  <a:srgbClr val="1B2A44"/>
                </a:solidFill>
              </a:rPr>
              <a:t> बचता है। तो सही संख्या यह है। </a:t>
            </a:r>
            <a:endParaRPr lang="en-US" sz="1200" dirty="0">
              <a:solidFill>
                <a:srgbClr val="1B2A44"/>
              </a:solidFill>
            </a:endParaRPr>
          </a:p>
          <a:p>
            <a:r>
              <a:rPr lang="en-US" sz="1200" b="0" i="0" dirty="0">
                <a:solidFill>
                  <a:srgbClr val="1B2A44"/>
                </a:solidFill>
              </a:rPr>
              <a:t>Glow number 39 and Hand nudge will appear on the number and other two non-clickable.</a:t>
            </a:r>
            <a:endParaRPr lang="hi-IN" sz="1200" b="0" i="0" dirty="0">
              <a:solidFill>
                <a:srgbClr val="1B2A44"/>
              </a:solidFill>
            </a:endParaRPr>
          </a:p>
        </p:txBody>
      </p:sp>
      <p:pic>
        <p:nvPicPr>
          <p:cNvPr id="24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828D9F26-810E-4168-ADB6-9A8B7D6624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1238712" y="2901349"/>
            <a:ext cx="246888" cy="1179576"/>
          </a:xfrm>
          <a:prstGeom prst="rect">
            <a:avLst/>
          </a:prstGeom>
        </p:spPr>
      </p:pic>
      <p:pic>
        <p:nvPicPr>
          <p:cNvPr id="25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E3CDD105-770A-EBA8-841A-23BDCB1EED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963062" y="2915132"/>
            <a:ext cx="246888" cy="1179576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4265C37-B3BF-43C5-34D9-8B18A7ADD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5506"/>
              </p:ext>
            </p:extLst>
          </p:nvPr>
        </p:nvGraphicFramePr>
        <p:xfrm>
          <a:off x="1283738" y="2411398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13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7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74B14EB3-9BD1-032B-9D8A-90A9D0AFE1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1578931" y="2875274"/>
            <a:ext cx="246888" cy="1179576"/>
          </a:xfrm>
          <a:prstGeom prst="rect">
            <a:avLst/>
          </a:prstGeom>
        </p:spPr>
      </p:pic>
      <p:pic>
        <p:nvPicPr>
          <p:cNvPr id="28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26F4B4B6-E73B-62C0-C518-B4241D7B9F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1791255" y="2875274"/>
            <a:ext cx="246888" cy="1179576"/>
          </a:xfrm>
          <a:prstGeom prst="rect">
            <a:avLst/>
          </a:prstGeom>
        </p:spPr>
      </p:pic>
      <p:pic>
        <p:nvPicPr>
          <p:cNvPr id="2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62710F5F-2A4D-72EA-4FAF-9EDACE29A9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8257" y="3381409"/>
            <a:ext cx="256032" cy="219456"/>
          </a:xfrm>
          <a:prstGeom prst="rect">
            <a:avLst/>
          </a:prstGeom>
        </p:spPr>
      </p:pic>
      <p:pic>
        <p:nvPicPr>
          <p:cNvPr id="30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D5ED290E-121C-399A-A692-DD947F546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568" y="3381409"/>
            <a:ext cx="256032" cy="219456"/>
          </a:xfrm>
          <a:prstGeom prst="rect">
            <a:avLst/>
          </a:prstGeom>
        </p:spPr>
      </p:pic>
      <p:pic>
        <p:nvPicPr>
          <p:cNvPr id="31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22CE94B2-DBAD-78BF-2591-61F7A294F4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2045021" y="2852414"/>
            <a:ext cx="246888" cy="1179576"/>
          </a:xfrm>
          <a:prstGeom prst="rect">
            <a:avLst/>
          </a:prstGeom>
        </p:spPr>
      </p:pic>
      <p:pic>
        <p:nvPicPr>
          <p:cNvPr id="32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8A3853BF-7732-BF09-DBCC-B87EF9944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649" y="2928922"/>
            <a:ext cx="256032" cy="219456"/>
          </a:xfrm>
          <a:prstGeom prst="rect">
            <a:avLst/>
          </a:prstGeom>
        </p:spPr>
      </p:pic>
      <p:pic>
        <p:nvPicPr>
          <p:cNvPr id="33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AF7FDE4-3846-EB59-7F9D-493AAF9B2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961" y="2928922"/>
            <a:ext cx="256032" cy="219456"/>
          </a:xfrm>
          <a:prstGeom prst="rect">
            <a:avLst/>
          </a:prstGeom>
        </p:spPr>
      </p:pic>
      <p:pic>
        <p:nvPicPr>
          <p:cNvPr id="34" name="Picture 33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D6F13CE7-BBA2-8B77-93E1-FA8F0FD71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273" y="2928922"/>
            <a:ext cx="256032" cy="219456"/>
          </a:xfrm>
          <a:prstGeom prst="rect">
            <a:avLst/>
          </a:prstGeom>
        </p:spPr>
      </p:pic>
      <p:pic>
        <p:nvPicPr>
          <p:cNvPr id="35" name="Picture 34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F4A567BA-0D06-1C3A-059E-527F4BACB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585" y="2928922"/>
            <a:ext cx="256032" cy="219456"/>
          </a:xfrm>
          <a:prstGeom prst="rect">
            <a:avLst/>
          </a:prstGeom>
        </p:spPr>
      </p:pic>
      <p:pic>
        <p:nvPicPr>
          <p:cNvPr id="3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354E991C-C86E-72A9-D98C-348A6DF1A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897" y="2929785"/>
            <a:ext cx="256032" cy="219456"/>
          </a:xfrm>
          <a:prstGeom prst="rect">
            <a:avLst/>
          </a:prstGeom>
        </p:spPr>
      </p:pic>
      <p:pic>
        <p:nvPicPr>
          <p:cNvPr id="37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3DE0B37E-7941-55A2-46D7-A5B2AC9B4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649" y="3138559"/>
            <a:ext cx="256032" cy="219456"/>
          </a:xfrm>
          <a:prstGeom prst="rect">
            <a:avLst/>
          </a:prstGeom>
        </p:spPr>
      </p:pic>
      <p:pic>
        <p:nvPicPr>
          <p:cNvPr id="38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DC492E0B-DBC7-D72A-7CA0-910117D65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961" y="3138559"/>
            <a:ext cx="256032" cy="219456"/>
          </a:xfrm>
          <a:prstGeom prst="rect">
            <a:avLst/>
          </a:prstGeom>
        </p:spPr>
      </p:pic>
      <p:pic>
        <p:nvPicPr>
          <p:cNvPr id="39" name="Picture 38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8299F87D-A028-006F-625A-CF8614DA0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273" y="3138559"/>
            <a:ext cx="256032" cy="219456"/>
          </a:xfrm>
          <a:prstGeom prst="rect">
            <a:avLst/>
          </a:prstGeom>
        </p:spPr>
      </p:pic>
      <p:pic>
        <p:nvPicPr>
          <p:cNvPr id="40" name="Picture 39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47F5DF95-2008-1C09-7355-FE7A28234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585" y="3138559"/>
            <a:ext cx="256032" cy="219456"/>
          </a:xfrm>
          <a:prstGeom prst="rect">
            <a:avLst/>
          </a:prstGeom>
        </p:spPr>
      </p:pic>
      <p:pic>
        <p:nvPicPr>
          <p:cNvPr id="4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BC8AFF75-A54E-E547-75F5-068999A08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897" y="3139422"/>
            <a:ext cx="256032" cy="219456"/>
          </a:xfrm>
          <a:prstGeom prst="rect">
            <a:avLst/>
          </a:prstGeom>
        </p:spPr>
      </p:pic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7B1B585-69F1-4FA4-422C-3911CC4AE26A}"/>
              </a:ext>
            </a:extLst>
          </p:cNvPr>
          <p:cNvSpPr/>
          <p:nvPr/>
        </p:nvSpPr>
        <p:spPr>
          <a:xfrm>
            <a:off x="3080118" y="2901349"/>
            <a:ext cx="1125003" cy="462762"/>
          </a:xfrm>
          <a:prstGeom prst="roundRect">
            <a:avLst>
              <a:gd name="adj" fmla="val 1710"/>
            </a:avLst>
          </a:prstGeom>
          <a:noFill/>
          <a:ln w="19050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3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AAB054C9-F9EA-FF48-ED6D-DD9C1248DA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687412" y="2901349"/>
            <a:ext cx="246888" cy="1179576"/>
          </a:xfrm>
          <a:prstGeom prst="rect">
            <a:avLst/>
          </a:prstGeom>
        </p:spPr>
      </p:pic>
      <p:pic>
        <p:nvPicPr>
          <p:cNvPr id="4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E018E624-C3EE-F6A9-6602-67659C1F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197" y="3285464"/>
            <a:ext cx="256032" cy="219456"/>
          </a:xfrm>
          <a:prstGeom prst="rect">
            <a:avLst/>
          </a:prstGeom>
        </p:spPr>
      </p:pic>
      <p:pic>
        <p:nvPicPr>
          <p:cNvPr id="45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3DDF17ED-A4E3-95DF-19C6-7BFE0E3264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2317672" y="2839212"/>
            <a:ext cx="246888" cy="1179576"/>
          </a:xfrm>
          <a:prstGeom prst="rect">
            <a:avLst/>
          </a:prstGeom>
        </p:spPr>
      </p:pic>
      <p:pic>
        <p:nvPicPr>
          <p:cNvPr id="4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6C123F86-3ED6-E97D-2283-904D1C1A8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740" y="3391684"/>
            <a:ext cx="256032" cy="219456"/>
          </a:xfrm>
          <a:prstGeom prst="rect">
            <a:avLst/>
          </a:prstGeom>
        </p:spPr>
      </p:pic>
      <p:pic>
        <p:nvPicPr>
          <p:cNvPr id="47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6239CFB3-F540-A35E-CE1F-C5A096A702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5394204" y="2928681"/>
            <a:ext cx="246888" cy="1179576"/>
          </a:xfrm>
          <a:prstGeom prst="rect">
            <a:avLst/>
          </a:prstGeom>
        </p:spPr>
      </p:pic>
      <p:pic>
        <p:nvPicPr>
          <p:cNvPr id="48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C11D2EA7-49E5-8467-84A3-BF5AFD6F8B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5627272" y="2915634"/>
            <a:ext cx="246888" cy="1179576"/>
          </a:xfrm>
          <a:prstGeom prst="rect">
            <a:avLst/>
          </a:prstGeom>
        </p:spPr>
      </p:pic>
      <p:pic>
        <p:nvPicPr>
          <p:cNvPr id="4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CC39B14C-692D-C957-E38A-971A83B95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478" y="3674548"/>
            <a:ext cx="256032" cy="219456"/>
          </a:xfrm>
          <a:prstGeom prst="rect">
            <a:avLst/>
          </a:prstGeom>
        </p:spPr>
      </p:pic>
      <p:pic>
        <p:nvPicPr>
          <p:cNvPr id="50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5E9BD863-167B-1620-8E1F-58CE6E39E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262" y="3674548"/>
            <a:ext cx="256032" cy="219456"/>
          </a:xfrm>
          <a:prstGeom prst="rect">
            <a:avLst/>
          </a:prstGeom>
        </p:spPr>
      </p:pic>
      <p:pic>
        <p:nvPicPr>
          <p:cNvPr id="5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847A22BB-B507-0A60-703E-65FB9A2CD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324" y="3674548"/>
            <a:ext cx="256032" cy="219456"/>
          </a:xfrm>
          <a:prstGeom prst="rect">
            <a:avLst/>
          </a:prstGeom>
        </p:spPr>
      </p:pic>
      <p:pic>
        <p:nvPicPr>
          <p:cNvPr id="52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CFBE13E-C001-466A-B049-AE249BB2D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129" y="3674548"/>
            <a:ext cx="256032" cy="2194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7 · 07_COUNT_ACTION.png</a:t>
            </a:r>
          </a:p>
        </p:txBody>
      </p:sp>
      <p:pic>
        <p:nvPicPr>
          <p:cNvPr id="3" name="Picture 2" descr="07_COUNT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040" y="0"/>
            <a:ext cx="2123440" cy="119154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2B70DF7-F25D-9461-D16C-E2F5B95573DB}"/>
              </a:ext>
            </a:extLst>
          </p:cNvPr>
          <p:cNvSpPr/>
          <p:nvPr/>
        </p:nvSpPr>
        <p:spPr>
          <a:xfrm>
            <a:off x="411480" y="1442329"/>
            <a:ext cx="7589520" cy="306324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90C16C-7BCC-95A2-AE64-73FC0EB4B394}"/>
              </a:ext>
            </a:extLst>
          </p:cNvPr>
          <p:cNvSpPr txBox="1"/>
          <p:nvPr/>
        </p:nvSpPr>
        <p:spPr>
          <a:xfrm>
            <a:off x="1344168" y="1076569"/>
            <a:ext cx="493776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hi-IN" dirty="0">
                <a:solidFill>
                  <a:srgbClr val="1B2A44"/>
                </a:solidFill>
              </a:rPr>
              <a:t>संख्याएँ</a:t>
            </a:r>
            <a:r>
              <a:rPr lang="hi-IN" sz="1800" dirty="0">
                <a:solidFill>
                  <a:srgbClr val="1B2A44"/>
                </a:solidFill>
              </a:rPr>
              <a:t> घटाइए।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68191A-687D-39D9-31C1-050389431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853581"/>
              </p:ext>
            </p:extLst>
          </p:nvPr>
        </p:nvGraphicFramePr>
        <p:xfrm>
          <a:off x="-1999995" y="2460333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C6F2633F-3C85-D3B3-CF1A-A88D109B90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1704802" y="2924209"/>
            <a:ext cx="246888" cy="1179576"/>
          </a:xfrm>
          <a:prstGeom prst="rect">
            <a:avLst/>
          </a:prstGeom>
        </p:spPr>
      </p:pic>
      <p:pic>
        <p:nvPicPr>
          <p:cNvPr id="9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FC3E73AA-96E3-614C-021E-62228482EA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1492478" y="2924209"/>
            <a:ext cx="246888" cy="1179576"/>
          </a:xfrm>
          <a:prstGeom prst="rect">
            <a:avLst/>
          </a:prstGeom>
        </p:spPr>
      </p:pic>
      <p:pic>
        <p:nvPicPr>
          <p:cNvPr id="10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3FAF3248-646C-4CB0-A3C7-2684AE424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3024" y="3271681"/>
            <a:ext cx="256032" cy="219456"/>
          </a:xfrm>
          <a:prstGeom prst="rect">
            <a:avLst/>
          </a:prstGeom>
        </p:spPr>
      </p:pic>
      <p:pic>
        <p:nvPicPr>
          <p:cNvPr id="1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B26B32F9-275F-2B00-61CC-572933560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7" y="3271681"/>
            <a:ext cx="256032" cy="219456"/>
          </a:xfrm>
          <a:prstGeom prst="rect">
            <a:avLst/>
          </a:prstGeom>
        </p:spPr>
      </p:pic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60C27E9A-5F31-7B14-A3A7-32A59BBED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220444"/>
              </p:ext>
            </p:extLst>
          </p:nvPr>
        </p:nvGraphicFramePr>
        <p:xfrm>
          <a:off x="4683655" y="2453707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B4196633-3F61-F3A0-D123-5D622572F7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5152559" y="2938339"/>
            <a:ext cx="246888" cy="1179576"/>
          </a:xfrm>
          <a:prstGeom prst="rect">
            <a:avLst/>
          </a:prstGeom>
        </p:spPr>
      </p:pic>
      <p:pic>
        <p:nvPicPr>
          <p:cNvPr id="1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36D4B308-BD82-5A4A-48B7-A6A24BEEC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175" y="3404683"/>
            <a:ext cx="256032" cy="219456"/>
          </a:xfrm>
          <a:prstGeom prst="rect">
            <a:avLst/>
          </a:prstGeom>
        </p:spPr>
      </p:pic>
      <p:pic>
        <p:nvPicPr>
          <p:cNvPr id="15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2D02C1A9-19CB-3B79-CB35-301F5588A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487" y="3404683"/>
            <a:ext cx="256032" cy="219456"/>
          </a:xfrm>
          <a:prstGeom prst="rect">
            <a:avLst/>
          </a:prstGeom>
        </p:spPr>
      </p:pic>
      <p:pic>
        <p:nvPicPr>
          <p:cNvPr id="1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F9A70A8A-95B7-4B01-E10B-0DE00CA98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8799" y="3404683"/>
            <a:ext cx="256032" cy="219456"/>
          </a:xfrm>
          <a:prstGeom prst="rect">
            <a:avLst/>
          </a:prstGeom>
        </p:spPr>
      </p:pic>
      <p:pic>
        <p:nvPicPr>
          <p:cNvPr id="17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A9FD4593-1C21-B5B8-1A74-AB6277128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111" y="3404683"/>
            <a:ext cx="256032" cy="219456"/>
          </a:xfrm>
          <a:prstGeom prst="rect">
            <a:avLst/>
          </a:prstGeom>
        </p:spPr>
      </p:pic>
      <p:pic>
        <p:nvPicPr>
          <p:cNvPr id="18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A9C8CFF-306D-83B4-AAF6-431217E03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423" y="3404683"/>
            <a:ext cx="256032" cy="219456"/>
          </a:xfrm>
          <a:prstGeom prst="rect">
            <a:avLst/>
          </a:prstGeom>
        </p:spPr>
      </p:pic>
      <p:sp>
        <p:nvSpPr>
          <p:cNvPr id="19" name="Rectangle: Rounded Corners 10">
            <a:extLst>
              <a:ext uri="{FF2B5EF4-FFF2-40B4-BE49-F238E27FC236}">
                <a16:creationId xmlns:a16="http://schemas.microsoft.com/office/drawing/2014/main" id="{C3C15632-FA9E-FF9F-ED69-4ECF99BD1E81}"/>
              </a:ext>
            </a:extLst>
          </p:cNvPr>
          <p:cNvSpPr/>
          <p:nvPr/>
        </p:nvSpPr>
        <p:spPr>
          <a:xfrm>
            <a:off x="2926080" y="1588633"/>
            <a:ext cx="2560320" cy="6826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46 − 28  =  ?</a:t>
            </a:r>
            <a:endParaRPr lang="en-IN" sz="3200" b="1" dirty="0"/>
          </a:p>
        </p:txBody>
      </p:sp>
      <p:sp>
        <p:nvSpPr>
          <p:cNvPr id="20" name="Rectangle: Rounded Corners 24">
            <a:extLst>
              <a:ext uri="{FF2B5EF4-FFF2-40B4-BE49-F238E27FC236}">
                <a16:creationId xmlns:a16="http://schemas.microsoft.com/office/drawing/2014/main" id="{26F9132D-5698-D889-8133-A34B1622A368}"/>
              </a:ext>
            </a:extLst>
          </p:cNvPr>
          <p:cNvSpPr/>
          <p:nvPr/>
        </p:nvSpPr>
        <p:spPr>
          <a:xfrm>
            <a:off x="1965764" y="4541754"/>
            <a:ext cx="1042312" cy="7672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18</a:t>
            </a:r>
            <a:endParaRPr lang="en-IN" sz="4000" b="1" dirty="0"/>
          </a:p>
        </p:txBody>
      </p:sp>
      <p:sp>
        <p:nvSpPr>
          <p:cNvPr id="21" name="Rectangle: Rounded Corners 24">
            <a:extLst>
              <a:ext uri="{FF2B5EF4-FFF2-40B4-BE49-F238E27FC236}">
                <a16:creationId xmlns:a16="http://schemas.microsoft.com/office/drawing/2014/main" id="{2935E07D-B3A7-DC06-5944-56284B06ABF2}"/>
              </a:ext>
            </a:extLst>
          </p:cNvPr>
          <p:cNvSpPr/>
          <p:nvPr/>
        </p:nvSpPr>
        <p:spPr>
          <a:xfrm>
            <a:off x="3797312" y="4541754"/>
            <a:ext cx="1146543" cy="7672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9</a:t>
            </a:r>
            <a:endParaRPr lang="en-IN" sz="4000" b="1" dirty="0"/>
          </a:p>
        </p:txBody>
      </p:sp>
      <p:sp>
        <p:nvSpPr>
          <p:cNvPr id="22" name="Rectangle: Rounded Corners 24">
            <a:extLst>
              <a:ext uri="{FF2B5EF4-FFF2-40B4-BE49-F238E27FC236}">
                <a16:creationId xmlns:a16="http://schemas.microsoft.com/office/drawing/2014/main" id="{73F60836-E72D-87F8-5B86-899EB0590FED}"/>
              </a:ext>
            </a:extLst>
          </p:cNvPr>
          <p:cNvSpPr/>
          <p:nvPr/>
        </p:nvSpPr>
        <p:spPr>
          <a:xfrm>
            <a:off x="5671833" y="4541754"/>
            <a:ext cx="1146543" cy="7672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81</a:t>
            </a:r>
            <a:endParaRPr lang="en-IN" sz="4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1A602B-E185-49F0-25E3-A43DAE601570}"/>
              </a:ext>
            </a:extLst>
          </p:cNvPr>
          <p:cNvSpPr txBox="1"/>
          <p:nvPr/>
        </p:nvSpPr>
        <p:spPr>
          <a:xfrm>
            <a:off x="8001000" y="9144"/>
            <a:ext cx="419099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lang="en-US" sz="1200" b="1" i="0" dirty="0">
                <a:solidFill>
                  <a:srgbClr val="1B2A44"/>
                </a:solidFill>
              </a:rPr>
              <a:t>Instruction: </a:t>
            </a:r>
            <a:r>
              <a:rPr lang="hi-IN" sz="1200" dirty="0">
                <a:solidFill>
                  <a:srgbClr val="1B2A44"/>
                </a:solidFill>
              </a:rPr>
              <a:t>संख्याएँ</a:t>
            </a:r>
            <a:r>
              <a:rPr lang="hi-IN" sz="1200" b="0" i="0" dirty="0">
                <a:solidFill>
                  <a:srgbClr val="1B2A44"/>
                </a:solidFill>
              </a:rPr>
              <a:t> घटाइए।</a:t>
            </a:r>
          </a:p>
          <a:p>
            <a:endParaRPr lang="en-US" sz="1200" b="1" i="0" dirty="0">
              <a:solidFill>
                <a:srgbClr val="1B2A44"/>
              </a:solidFill>
            </a:endParaRPr>
          </a:p>
          <a:p>
            <a:r>
              <a:rPr lang="en-US" sz="1200" dirty="0">
                <a:solidFill>
                  <a:srgbClr val="1B2A44"/>
                </a:solidFill>
              </a:rPr>
              <a:t>VO: 46</a:t>
            </a:r>
            <a:r>
              <a:rPr lang="hi-IN" sz="1200" b="0" i="0" dirty="0">
                <a:solidFill>
                  <a:srgbClr val="1B2A44"/>
                </a:solidFill>
              </a:rPr>
              <a:t> में से </a:t>
            </a:r>
            <a:r>
              <a:rPr lang="en-US" sz="1200" b="0" i="0" dirty="0">
                <a:solidFill>
                  <a:srgbClr val="1B2A44"/>
                </a:solidFill>
              </a:rPr>
              <a:t>28 </a:t>
            </a:r>
            <a:r>
              <a:rPr lang="hi-IN" sz="1200" b="0" i="0" dirty="0">
                <a:solidFill>
                  <a:srgbClr val="1B2A44"/>
                </a:solidFill>
              </a:rPr>
              <a:t>घटाइए।</a:t>
            </a:r>
          </a:p>
          <a:p>
            <a:r>
              <a:rPr lang="hi-IN" sz="1200" b="0" i="0" dirty="0">
                <a:solidFill>
                  <a:srgbClr val="1B2A44"/>
                </a:solidFill>
              </a:rPr>
              <a:t>सबसे पहले ब्लॉक्स से </a:t>
            </a:r>
            <a:r>
              <a:rPr lang="en-US" sz="1200" b="0" i="0" dirty="0">
                <a:solidFill>
                  <a:srgbClr val="1B2A44"/>
                </a:solidFill>
              </a:rPr>
              <a:t>46 </a:t>
            </a:r>
            <a:r>
              <a:rPr lang="hi-IN" sz="1200" b="0" i="0" dirty="0">
                <a:solidFill>
                  <a:srgbClr val="1B2A44"/>
                </a:solidFill>
              </a:rPr>
              <a:t>बनाइए।</a:t>
            </a:r>
            <a:r>
              <a:rPr lang="en-US" sz="1200" b="0" i="0" dirty="0">
                <a:solidFill>
                  <a:srgbClr val="1B2A44"/>
                </a:solidFill>
              </a:rPr>
              <a:t> [When the required number of blocks added, the buttons should be non-clickable]</a:t>
            </a:r>
            <a:endParaRPr lang="hi-IN" sz="1200" b="0" i="0" dirty="0">
              <a:solidFill>
                <a:srgbClr val="1B2A44"/>
              </a:solidFill>
            </a:endParaRPr>
          </a:p>
          <a:p>
            <a:r>
              <a:rPr lang="en-US" sz="1200" b="0" i="0" dirty="0">
                <a:solidFill>
                  <a:srgbClr val="1B2A44"/>
                </a:solidFill>
              </a:rPr>
              <a:t>Tap and insert tens and ones block</a:t>
            </a:r>
            <a:endParaRPr lang="hi-IN" sz="1200" b="0" i="0" dirty="0">
              <a:solidFill>
                <a:srgbClr val="1B2A44"/>
              </a:solidFill>
            </a:endParaRPr>
          </a:p>
          <a:p>
            <a:endParaRPr lang="en-US" sz="1200" b="0" i="0" dirty="0">
              <a:solidFill>
                <a:srgbClr val="1B2A44"/>
              </a:solidFill>
            </a:endParaRPr>
          </a:p>
          <a:p>
            <a:r>
              <a:rPr lang="hi-IN" sz="1200" b="0" i="0" dirty="0">
                <a:solidFill>
                  <a:srgbClr val="1B2A44"/>
                </a:solidFill>
              </a:rPr>
              <a:t>और अब इसमे से </a:t>
            </a:r>
            <a:r>
              <a:rPr lang="en-US" sz="1200" b="0" i="0" dirty="0">
                <a:solidFill>
                  <a:srgbClr val="1B2A44"/>
                </a:solidFill>
              </a:rPr>
              <a:t>28 </a:t>
            </a:r>
            <a:r>
              <a:rPr lang="hi-IN" sz="1200" b="0" i="0" dirty="0">
                <a:solidFill>
                  <a:srgbClr val="1B2A44"/>
                </a:solidFill>
              </a:rPr>
              <a:t>घटाइए। </a:t>
            </a:r>
          </a:p>
          <a:p>
            <a:endParaRPr lang="en-US" sz="1200" b="0" i="0" dirty="0">
              <a:solidFill>
                <a:srgbClr val="1B2A44"/>
              </a:solidFill>
            </a:endParaRPr>
          </a:p>
          <a:p>
            <a:r>
              <a:rPr lang="hi-IN" sz="1200" b="0" i="0" dirty="0">
                <a:solidFill>
                  <a:srgbClr val="1B2A44"/>
                </a:solidFill>
              </a:rPr>
              <a:t>इसमे से </a:t>
            </a:r>
            <a:r>
              <a:rPr lang="en-US" sz="1200" b="0" i="0" dirty="0">
                <a:solidFill>
                  <a:srgbClr val="1B2A44"/>
                </a:solidFill>
              </a:rPr>
              <a:t>8</a:t>
            </a:r>
            <a:r>
              <a:rPr lang="hi-IN" sz="1200" b="0" i="0" dirty="0">
                <a:solidFill>
                  <a:srgbClr val="1B2A44"/>
                </a:solidFill>
              </a:rPr>
              <a:t> इकाई को हटाइए, 1, 2, 3, 4</a:t>
            </a:r>
            <a:r>
              <a:rPr lang="en-US" sz="1200" b="0" i="0" dirty="0">
                <a:solidFill>
                  <a:srgbClr val="1B2A44"/>
                </a:solidFill>
              </a:rPr>
              <a:t>, 5, 6, 7, 8</a:t>
            </a:r>
            <a:r>
              <a:rPr lang="hi-IN" sz="1200" b="0" i="0" dirty="0">
                <a:solidFill>
                  <a:srgbClr val="1B2A44"/>
                </a:solidFill>
              </a:rPr>
              <a:t>. 	</a:t>
            </a:r>
          </a:p>
          <a:p>
            <a:r>
              <a:rPr lang="en-US" sz="1200" b="0" i="0" dirty="0">
                <a:solidFill>
                  <a:srgbClr val="1B2A44"/>
                </a:solidFill>
              </a:rPr>
              <a:t>Child wil</a:t>
            </a:r>
            <a:r>
              <a:rPr lang="en-US" sz="1200" dirty="0">
                <a:solidFill>
                  <a:srgbClr val="1B2A44"/>
                </a:solidFill>
              </a:rPr>
              <a:t>l tap and remove the ones blocks by tapping on each on-by-one</a:t>
            </a:r>
            <a:endParaRPr lang="hi-IN" sz="1200" b="0" i="0" dirty="0">
              <a:solidFill>
                <a:srgbClr val="1B2A44"/>
              </a:solidFill>
            </a:endParaRPr>
          </a:p>
          <a:p>
            <a:endParaRPr lang="en-US" sz="1200" b="0" i="0" dirty="0">
              <a:solidFill>
                <a:srgbClr val="1B2A44"/>
              </a:solidFill>
            </a:endParaRPr>
          </a:p>
          <a:p>
            <a:r>
              <a:rPr lang="hi-IN" sz="1200" b="0" i="0" dirty="0">
                <a:solidFill>
                  <a:srgbClr val="1B2A44"/>
                </a:solidFill>
              </a:rPr>
              <a:t>अब दहाइयाँ हटाइए।</a:t>
            </a:r>
            <a:endParaRPr lang="en-US" sz="1200" b="0" i="0" dirty="0">
              <a:solidFill>
                <a:srgbClr val="1B2A44"/>
              </a:solidFill>
            </a:endParaRPr>
          </a:p>
          <a:p>
            <a:r>
              <a:rPr lang="en-US" sz="1200" dirty="0">
                <a:solidFill>
                  <a:srgbClr val="1B2A44"/>
                </a:solidFill>
              </a:rPr>
              <a:t>Child will tap and remove the 1 tens rods.</a:t>
            </a:r>
            <a:endParaRPr lang="hi-IN" sz="1200" b="0" i="0" dirty="0">
              <a:solidFill>
                <a:srgbClr val="1B2A44"/>
              </a:solidFill>
            </a:endParaRPr>
          </a:p>
          <a:p>
            <a:endParaRPr lang="hi-IN" sz="1200" b="0" i="0" dirty="0">
              <a:solidFill>
                <a:srgbClr val="1B2A44"/>
              </a:solidFill>
            </a:endParaRPr>
          </a:p>
          <a:p>
            <a:r>
              <a:rPr lang="hi-IN" sz="1200" dirty="0">
                <a:solidFill>
                  <a:srgbClr val="1B2A44"/>
                </a:solidFill>
              </a:rPr>
              <a:t>अब </a:t>
            </a:r>
            <a:r>
              <a:rPr lang="hi-IN" sz="1200" b="0" i="0" dirty="0">
                <a:solidFill>
                  <a:srgbClr val="1B2A44"/>
                </a:solidFill>
              </a:rPr>
              <a:t>कितने बचे? सही संख्या चुनिए।</a:t>
            </a:r>
          </a:p>
          <a:p>
            <a:endParaRPr lang="en-US" sz="1200" b="0" i="0" dirty="0">
              <a:solidFill>
                <a:srgbClr val="1B2A44"/>
              </a:solidFill>
            </a:endParaRPr>
          </a:p>
          <a:p>
            <a:r>
              <a:rPr lang="en-US" sz="1200" b="0" i="0" dirty="0">
                <a:solidFill>
                  <a:srgbClr val="1B2A44"/>
                </a:solidFill>
              </a:rPr>
              <a:t>Hint: If the child choose </a:t>
            </a:r>
            <a:r>
              <a:rPr lang="hi-IN" sz="1200" dirty="0">
                <a:solidFill>
                  <a:srgbClr val="1B2A44"/>
                </a:solidFill>
              </a:rPr>
              <a:t>18</a:t>
            </a:r>
            <a:r>
              <a:rPr lang="en-US" sz="1200" b="0" i="0" dirty="0">
                <a:solidFill>
                  <a:srgbClr val="1B2A44"/>
                </a:solidFill>
              </a:rPr>
              <a:t>, the VO</a:t>
            </a:r>
          </a:p>
          <a:p>
            <a:r>
              <a:rPr lang="hi-IN" sz="1200" b="0" i="0" dirty="0">
                <a:solidFill>
                  <a:srgbClr val="1B2A44"/>
                </a:solidFill>
              </a:rPr>
              <a:t>शाबाश! </a:t>
            </a:r>
            <a:r>
              <a:rPr lang="en-US" sz="1200" b="0" i="0" dirty="0">
                <a:solidFill>
                  <a:srgbClr val="1B2A44"/>
                </a:solidFill>
              </a:rPr>
              <a:t>46</a:t>
            </a:r>
            <a:r>
              <a:rPr lang="hi-IN" sz="1200" b="0" i="0" dirty="0">
                <a:solidFill>
                  <a:srgbClr val="1B2A44"/>
                </a:solidFill>
              </a:rPr>
              <a:t> घटा </a:t>
            </a:r>
            <a:r>
              <a:rPr lang="en-US" sz="1200" b="0" i="0" dirty="0">
                <a:solidFill>
                  <a:srgbClr val="1B2A44"/>
                </a:solidFill>
              </a:rPr>
              <a:t>28</a:t>
            </a:r>
            <a:r>
              <a:rPr lang="hi-IN" sz="1200" b="0" i="0" dirty="0">
                <a:solidFill>
                  <a:srgbClr val="1B2A44"/>
                </a:solidFill>
              </a:rPr>
              <a:t> बराबर </a:t>
            </a:r>
            <a:r>
              <a:rPr lang="en-US" sz="1200" dirty="0">
                <a:solidFill>
                  <a:srgbClr val="1B2A44"/>
                </a:solidFill>
              </a:rPr>
              <a:t>18 </a:t>
            </a:r>
            <a:r>
              <a:rPr lang="en-US" sz="1200" b="0" i="0" dirty="0">
                <a:solidFill>
                  <a:srgbClr val="1B2A44"/>
                </a:solidFill>
              </a:rPr>
              <a:t> [Number Sync with VO]</a:t>
            </a:r>
            <a:endParaRPr lang="hi-IN" sz="1200" b="0" i="0" dirty="0">
              <a:solidFill>
                <a:srgbClr val="1B2A44"/>
              </a:solidFill>
            </a:endParaRPr>
          </a:p>
          <a:p>
            <a:endParaRPr lang="en-US" sz="1200" dirty="0">
              <a:solidFill>
                <a:srgbClr val="1B2A44"/>
              </a:solidFill>
            </a:endParaRPr>
          </a:p>
          <a:p>
            <a:r>
              <a:rPr lang="en-US" sz="1200" b="0" i="0" dirty="0">
                <a:solidFill>
                  <a:srgbClr val="1B2A44"/>
                </a:solidFill>
              </a:rPr>
              <a:t>If the child choose 9 </a:t>
            </a:r>
            <a:r>
              <a:rPr lang="en-US" sz="1200" dirty="0">
                <a:solidFill>
                  <a:srgbClr val="1B2A44"/>
                </a:solidFill>
              </a:rPr>
              <a:t>or 81</a:t>
            </a:r>
            <a:r>
              <a:rPr lang="en-US" sz="1200" b="0" i="0" dirty="0">
                <a:solidFill>
                  <a:srgbClr val="1B2A44"/>
                </a:solidFill>
              </a:rPr>
              <a:t>, the VO: </a:t>
            </a:r>
            <a:r>
              <a:rPr lang="hi-IN" sz="1200" b="0" i="0" dirty="0">
                <a:solidFill>
                  <a:srgbClr val="1B2A44"/>
                </a:solidFill>
              </a:rPr>
              <a:t>फिर से सोचिए, कितने बचे। </a:t>
            </a:r>
          </a:p>
          <a:p>
            <a:r>
              <a:rPr lang="en-US" sz="1200" dirty="0">
                <a:solidFill>
                  <a:srgbClr val="1B2A44"/>
                </a:solidFill>
              </a:rPr>
              <a:t>If the child choose 9 or 81, the VO: 46</a:t>
            </a:r>
            <a:r>
              <a:rPr lang="hi-IN" sz="1200" dirty="0">
                <a:solidFill>
                  <a:srgbClr val="1B2A44"/>
                </a:solidFill>
              </a:rPr>
              <a:t> मे से </a:t>
            </a:r>
            <a:r>
              <a:rPr lang="en-US" sz="1200" dirty="0">
                <a:solidFill>
                  <a:srgbClr val="1B2A44"/>
                </a:solidFill>
              </a:rPr>
              <a:t>28 </a:t>
            </a:r>
            <a:r>
              <a:rPr lang="hi-IN" sz="1200" dirty="0">
                <a:solidFill>
                  <a:srgbClr val="1B2A44"/>
                </a:solidFill>
              </a:rPr>
              <a:t>घटाने पर </a:t>
            </a:r>
            <a:r>
              <a:rPr lang="en-US" sz="1200" dirty="0">
                <a:solidFill>
                  <a:srgbClr val="1B2A44"/>
                </a:solidFill>
              </a:rPr>
              <a:t>18</a:t>
            </a:r>
            <a:r>
              <a:rPr lang="hi-IN" sz="1200" dirty="0">
                <a:solidFill>
                  <a:srgbClr val="1B2A44"/>
                </a:solidFill>
              </a:rPr>
              <a:t> बचता है। तो सही संख्या यह है। </a:t>
            </a:r>
            <a:endParaRPr lang="en-US" sz="1200" dirty="0">
              <a:solidFill>
                <a:srgbClr val="1B2A44"/>
              </a:solidFill>
            </a:endParaRPr>
          </a:p>
          <a:p>
            <a:r>
              <a:rPr lang="en-US" sz="1200" b="0" i="0" dirty="0">
                <a:solidFill>
                  <a:srgbClr val="1B2A44"/>
                </a:solidFill>
              </a:rPr>
              <a:t>Glow number 18 and Hand nudge will appear on the number and other two non-clickable.</a:t>
            </a:r>
            <a:endParaRPr lang="hi-IN" sz="1200" b="0" i="0" dirty="0">
              <a:solidFill>
                <a:srgbClr val="1B2A44"/>
              </a:solidFill>
            </a:endParaRPr>
          </a:p>
        </p:txBody>
      </p:sp>
      <p:pic>
        <p:nvPicPr>
          <p:cNvPr id="24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4A0DDE5D-4A93-080A-A4F1-B7BD10E77C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1238712" y="2901349"/>
            <a:ext cx="246888" cy="1179576"/>
          </a:xfrm>
          <a:prstGeom prst="rect">
            <a:avLst/>
          </a:prstGeom>
        </p:spPr>
      </p:pic>
      <p:pic>
        <p:nvPicPr>
          <p:cNvPr id="25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79F70B0F-7BF9-FEDE-B427-D96A77F185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963062" y="2915132"/>
            <a:ext cx="246888" cy="1179576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9503FF3-4EF2-1A5A-DAB7-B9FEF35B1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136215"/>
              </p:ext>
            </p:extLst>
          </p:nvPr>
        </p:nvGraphicFramePr>
        <p:xfrm>
          <a:off x="1283738" y="2411398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16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7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AE4AFF82-52C7-00FB-A436-E695372213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1578931" y="2875274"/>
            <a:ext cx="246888" cy="1179576"/>
          </a:xfrm>
          <a:prstGeom prst="rect">
            <a:avLst/>
          </a:prstGeom>
        </p:spPr>
      </p:pic>
      <p:pic>
        <p:nvPicPr>
          <p:cNvPr id="28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791F6892-909E-B0E6-7FBB-A3185AE7AF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1791255" y="2875274"/>
            <a:ext cx="246888" cy="1179576"/>
          </a:xfrm>
          <a:prstGeom prst="rect">
            <a:avLst/>
          </a:prstGeom>
        </p:spPr>
      </p:pic>
      <p:pic>
        <p:nvPicPr>
          <p:cNvPr id="2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5E0A0B75-10BA-B17D-4355-9CBAC9077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8257" y="3381409"/>
            <a:ext cx="256032" cy="219456"/>
          </a:xfrm>
          <a:prstGeom prst="rect">
            <a:avLst/>
          </a:prstGeom>
        </p:spPr>
      </p:pic>
      <p:pic>
        <p:nvPicPr>
          <p:cNvPr id="30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62F0D37F-3C08-4900-A36A-FF1B33317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568" y="3381409"/>
            <a:ext cx="256032" cy="219456"/>
          </a:xfrm>
          <a:prstGeom prst="rect">
            <a:avLst/>
          </a:prstGeom>
        </p:spPr>
      </p:pic>
      <p:pic>
        <p:nvPicPr>
          <p:cNvPr id="31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5E085953-2BA5-2B7B-6F98-95800925AD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2045021" y="2852414"/>
            <a:ext cx="246888" cy="1179576"/>
          </a:xfrm>
          <a:prstGeom prst="rect">
            <a:avLst/>
          </a:prstGeom>
        </p:spPr>
      </p:pic>
      <p:pic>
        <p:nvPicPr>
          <p:cNvPr id="32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192CF18-AE4F-B5D5-5875-AB88F4F05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649" y="2928922"/>
            <a:ext cx="256032" cy="219456"/>
          </a:xfrm>
          <a:prstGeom prst="rect">
            <a:avLst/>
          </a:prstGeom>
        </p:spPr>
      </p:pic>
      <p:pic>
        <p:nvPicPr>
          <p:cNvPr id="33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D7D5F2DD-018C-D464-16D8-DF6CA70C1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961" y="2928922"/>
            <a:ext cx="256032" cy="219456"/>
          </a:xfrm>
          <a:prstGeom prst="rect">
            <a:avLst/>
          </a:prstGeom>
        </p:spPr>
      </p:pic>
      <p:pic>
        <p:nvPicPr>
          <p:cNvPr id="34" name="Picture 33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A2D7013F-DDDD-635E-2F69-E2339C1F8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273" y="2928922"/>
            <a:ext cx="256032" cy="219456"/>
          </a:xfrm>
          <a:prstGeom prst="rect">
            <a:avLst/>
          </a:prstGeom>
        </p:spPr>
      </p:pic>
      <p:pic>
        <p:nvPicPr>
          <p:cNvPr id="35" name="Picture 34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7A142F48-D167-C06E-BA93-A8DF05C3F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585" y="2928922"/>
            <a:ext cx="256032" cy="219456"/>
          </a:xfrm>
          <a:prstGeom prst="rect">
            <a:avLst/>
          </a:prstGeom>
        </p:spPr>
      </p:pic>
      <p:pic>
        <p:nvPicPr>
          <p:cNvPr id="3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51C48E83-9022-5EC3-A59D-5DBF47621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897" y="2929785"/>
            <a:ext cx="256032" cy="219456"/>
          </a:xfrm>
          <a:prstGeom prst="rect">
            <a:avLst/>
          </a:prstGeom>
        </p:spPr>
      </p:pic>
      <p:pic>
        <p:nvPicPr>
          <p:cNvPr id="37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2EC5DD56-ECC9-8980-BF74-D828D6730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649" y="3138559"/>
            <a:ext cx="256032" cy="219456"/>
          </a:xfrm>
          <a:prstGeom prst="rect">
            <a:avLst/>
          </a:prstGeom>
        </p:spPr>
      </p:pic>
      <p:pic>
        <p:nvPicPr>
          <p:cNvPr id="38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912417A-32EC-287B-B821-515F93A47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961" y="3138559"/>
            <a:ext cx="256032" cy="219456"/>
          </a:xfrm>
          <a:prstGeom prst="rect">
            <a:avLst/>
          </a:prstGeom>
        </p:spPr>
      </p:pic>
      <p:pic>
        <p:nvPicPr>
          <p:cNvPr id="39" name="Picture 38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62B295CD-AEF6-BA0A-F652-0A71C184B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273" y="3138559"/>
            <a:ext cx="256032" cy="219456"/>
          </a:xfrm>
          <a:prstGeom prst="rect">
            <a:avLst/>
          </a:prstGeom>
        </p:spPr>
      </p:pic>
      <p:pic>
        <p:nvPicPr>
          <p:cNvPr id="40" name="Picture 39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E96642CF-C55F-54B0-1F9B-5D9D6A16F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585" y="3138559"/>
            <a:ext cx="256032" cy="219456"/>
          </a:xfrm>
          <a:prstGeom prst="rect">
            <a:avLst/>
          </a:prstGeom>
        </p:spPr>
      </p:pic>
      <p:pic>
        <p:nvPicPr>
          <p:cNvPr id="4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3FC9A514-AC8E-A4B1-9785-C7FD1B9E7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897" y="3139422"/>
            <a:ext cx="256032" cy="219456"/>
          </a:xfrm>
          <a:prstGeom prst="rect">
            <a:avLst/>
          </a:prstGeom>
        </p:spPr>
      </p:pic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AC01612-22DB-EE14-7FF5-1D393C4B63BE}"/>
              </a:ext>
            </a:extLst>
          </p:cNvPr>
          <p:cNvSpPr/>
          <p:nvPr/>
        </p:nvSpPr>
        <p:spPr>
          <a:xfrm>
            <a:off x="3080118" y="2901349"/>
            <a:ext cx="1125003" cy="462762"/>
          </a:xfrm>
          <a:prstGeom prst="roundRect">
            <a:avLst>
              <a:gd name="adj" fmla="val 1710"/>
            </a:avLst>
          </a:prstGeom>
          <a:noFill/>
          <a:ln w="19050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FFC43AD-4B7B-F96A-1CBC-82F90A03D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197" y="3285464"/>
            <a:ext cx="256032" cy="219456"/>
          </a:xfrm>
          <a:prstGeom prst="rect">
            <a:avLst/>
          </a:prstGeom>
        </p:spPr>
      </p:pic>
      <p:pic>
        <p:nvPicPr>
          <p:cNvPr id="4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C5B87586-E945-CCCB-C35F-2AEA6D11E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740" y="3391684"/>
            <a:ext cx="256032" cy="219456"/>
          </a:xfrm>
          <a:prstGeom prst="rect">
            <a:avLst/>
          </a:prstGeom>
        </p:spPr>
      </p:pic>
      <p:pic>
        <p:nvPicPr>
          <p:cNvPr id="4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2B957904-002F-8A31-6929-3F005F5F3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478" y="3674548"/>
            <a:ext cx="256032" cy="219456"/>
          </a:xfrm>
          <a:prstGeom prst="rect">
            <a:avLst/>
          </a:prstGeom>
        </p:spPr>
      </p:pic>
      <p:pic>
        <p:nvPicPr>
          <p:cNvPr id="50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B8A6E273-0562-880A-6452-E59778F7B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262" y="3674548"/>
            <a:ext cx="256032" cy="219456"/>
          </a:xfrm>
          <a:prstGeom prst="rect">
            <a:avLst/>
          </a:prstGeom>
        </p:spPr>
      </p:pic>
      <p:pic>
        <p:nvPicPr>
          <p:cNvPr id="5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5A5C2AA-9B99-77E0-0567-B0A6D368B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324" y="3674548"/>
            <a:ext cx="256032" cy="219456"/>
          </a:xfrm>
          <a:prstGeom prst="rect">
            <a:avLst/>
          </a:prstGeom>
        </p:spPr>
      </p:pic>
      <p:pic>
        <p:nvPicPr>
          <p:cNvPr id="53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485294A8-8457-0652-DD4B-324AD6EC9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6" y="3306800"/>
            <a:ext cx="256032" cy="219456"/>
          </a:xfrm>
          <a:prstGeom prst="rect">
            <a:avLst/>
          </a:prstGeom>
        </p:spPr>
      </p:pic>
      <p:pic>
        <p:nvPicPr>
          <p:cNvPr id="55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6AE4F9C5-22DC-D5FF-47BD-74C9ABBBA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396" y="3290751"/>
            <a:ext cx="256032" cy="219456"/>
          </a:xfrm>
          <a:prstGeom prst="rect">
            <a:avLst/>
          </a:prstGeom>
        </p:spPr>
      </p:pic>
      <p:pic>
        <p:nvPicPr>
          <p:cNvPr id="5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A40EBCD3-5578-F802-46D7-FA8EBDE9C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962" y="3306800"/>
            <a:ext cx="256032" cy="219456"/>
          </a:xfrm>
          <a:prstGeom prst="rect">
            <a:avLst/>
          </a:prstGeom>
        </p:spPr>
      </p:pic>
      <p:pic>
        <p:nvPicPr>
          <p:cNvPr id="60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EC012442-567E-319E-84ED-311F6CA5C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1715" y="3589804"/>
            <a:ext cx="256032" cy="219456"/>
          </a:xfrm>
          <a:prstGeom prst="rect">
            <a:avLst/>
          </a:prstGeom>
        </p:spPr>
      </p:pic>
      <p:pic>
        <p:nvPicPr>
          <p:cNvPr id="6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9BB738E-9E97-5ADB-2F31-133620AFC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6195" y="3376511"/>
            <a:ext cx="256032" cy="219456"/>
          </a:xfrm>
          <a:prstGeom prst="rect">
            <a:avLst/>
          </a:prstGeom>
        </p:spPr>
      </p:pic>
      <p:pic>
        <p:nvPicPr>
          <p:cNvPr id="62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C0748FA5-64BE-D0F4-8C11-894EE39CC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254" y="3391684"/>
            <a:ext cx="256032" cy="2194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8 · 08_MAKE_SET.png</a:t>
            </a:r>
          </a:p>
        </p:txBody>
      </p:sp>
      <p:pic>
        <p:nvPicPr>
          <p:cNvPr id="3" name="Picture 2" descr="08_MAKE_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840" y="137160"/>
            <a:ext cx="1818640" cy="10205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7C7140-548D-74BC-E195-22E4C9B16F87}"/>
              </a:ext>
            </a:extLst>
          </p:cNvPr>
          <p:cNvSpPr/>
          <p:nvPr/>
        </p:nvSpPr>
        <p:spPr>
          <a:xfrm>
            <a:off x="411480" y="1417320"/>
            <a:ext cx="7589520" cy="306324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63081C-EF72-4D6E-4F4A-B2C69F601F5A}"/>
              </a:ext>
            </a:extLst>
          </p:cNvPr>
          <p:cNvSpPr txBox="1"/>
          <p:nvPr/>
        </p:nvSpPr>
        <p:spPr>
          <a:xfrm>
            <a:off x="1344168" y="1051560"/>
            <a:ext cx="493776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hi-IN" dirty="0">
                <a:solidFill>
                  <a:srgbClr val="1B2A44"/>
                </a:solidFill>
              </a:rPr>
              <a:t>संख्याएँ</a:t>
            </a:r>
            <a:r>
              <a:rPr lang="hi-IN" sz="1800" dirty="0">
                <a:solidFill>
                  <a:srgbClr val="1B2A44"/>
                </a:solidFill>
              </a:rPr>
              <a:t> घटाइए।</a:t>
            </a:r>
          </a:p>
        </p:txBody>
      </p:sp>
      <p:sp>
        <p:nvSpPr>
          <p:cNvPr id="34" name="Rectangle: Rounded Corners 10">
            <a:extLst>
              <a:ext uri="{FF2B5EF4-FFF2-40B4-BE49-F238E27FC236}">
                <a16:creationId xmlns:a16="http://schemas.microsoft.com/office/drawing/2014/main" id="{E3C2032E-E6EF-3482-3FD3-3258D04D4D6F}"/>
              </a:ext>
            </a:extLst>
          </p:cNvPr>
          <p:cNvSpPr/>
          <p:nvPr/>
        </p:nvSpPr>
        <p:spPr>
          <a:xfrm>
            <a:off x="2926080" y="1563624"/>
            <a:ext cx="2560320" cy="6826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74  −  58  =  ?</a:t>
            </a:r>
            <a:endParaRPr lang="en-IN" sz="3200" b="1" dirty="0"/>
          </a:p>
        </p:txBody>
      </p:sp>
      <p:sp>
        <p:nvSpPr>
          <p:cNvPr id="35" name="Rectangle: Rounded Corners 20">
            <a:extLst>
              <a:ext uri="{FF2B5EF4-FFF2-40B4-BE49-F238E27FC236}">
                <a16:creationId xmlns:a16="http://schemas.microsoft.com/office/drawing/2014/main" id="{74DCB132-E6CA-1CAA-D95F-7802BE62581D}"/>
              </a:ext>
            </a:extLst>
          </p:cNvPr>
          <p:cNvSpPr/>
          <p:nvPr/>
        </p:nvSpPr>
        <p:spPr>
          <a:xfrm>
            <a:off x="3630154" y="4392224"/>
            <a:ext cx="1121695" cy="5760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6" name="Keypad" descr="black and white icons Stock Vector | Adobe Stock">
            <a:extLst>
              <a:ext uri="{FF2B5EF4-FFF2-40B4-BE49-F238E27FC236}">
                <a16:creationId xmlns:a16="http://schemas.microsoft.com/office/drawing/2014/main" id="{C4BCC81E-618C-9C92-D6E1-EE80D09419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16950" t="13066" r="16336" b="14533"/>
          <a:stretch>
            <a:fillRect/>
          </a:stretch>
        </p:blipFill>
        <p:spPr bwMode="auto">
          <a:xfrm>
            <a:off x="3542339" y="5041616"/>
            <a:ext cx="1282082" cy="1391371"/>
          </a:xfrm>
          <a:prstGeom prst="rect">
            <a:avLst/>
          </a:prstGeom>
          <a:noFill/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BC1BC5F-C08C-5251-5AEC-1A2D297FDCEE}"/>
              </a:ext>
            </a:extLst>
          </p:cNvPr>
          <p:cNvSpPr txBox="1"/>
          <p:nvPr/>
        </p:nvSpPr>
        <p:spPr>
          <a:xfrm>
            <a:off x="8000999" y="84162"/>
            <a:ext cx="412473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pPr lvl="0">
              <a:defRPr/>
            </a:pPr>
            <a:r>
              <a:rPr lang="en-GB" sz="1200" b="1" dirty="0">
                <a:solidFill>
                  <a:srgbClr val="1B2A44"/>
                </a:solidFill>
              </a:rPr>
              <a:t>Instruction: </a:t>
            </a:r>
            <a:r>
              <a:rPr lang="hi-IN" sz="1200" dirty="0">
                <a:solidFill>
                  <a:srgbClr val="1B2A44"/>
                </a:solidFill>
              </a:rPr>
              <a:t>संख्याएँ घटाइए।</a:t>
            </a:r>
          </a:p>
          <a:p>
            <a:pPr lvl="0">
              <a:defRPr/>
            </a:pPr>
            <a:endParaRPr lang="hi-IN" sz="1200" dirty="0">
              <a:solidFill>
                <a:srgbClr val="1B2A44"/>
              </a:solidFill>
            </a:endParaRPr>
          </a:p>
          <a:p>
            <a:pPr lvl="0">
              <a:defRPr/>
            </a:pPr>
            <a:r>
              <a:rPr lang="en-GB" sz="1200" dirty="0">
                <a:solidFill>
                  <a:srgbClr val="1B2A44"/>
                </a:solidFill>
                <a:cs typeface="Mangal" panose="02040503050203030202" pitchFamily="18" charset="0"/>
              </a:rPr>
              <a:t>74 </a:t>
            </a:r>
            <a:r>
              <a:rPr lang="hi-IN" sz="1200" dirty="0">
                <a:solidFill>
                  <a:srgbClr val="1B2A44"/>
                </a:solidFill>
              </a:rPr>
              <a:t>में से </a:t>
            </a:r>
            <a:r>
              <a:rPr lang="en-US" sz="1200" dirty="0">
                <a:solidFill>
                  <a:srgbClr val="1B2A44"/>
                </a:solidFill>
                <a:cs typeface="Mangal" panose="02040503050203030202" pitchFamily="18" charset="0"/>
              </a:rPr>
              <a:t>58 </a:t>
            </a:r>
            <a:r>
              <a:rPr lang="hi-IN" sz="1200" dirty="0">
                <a:solidFill>
                  <a:srgbClr val="1B2A44"/>
                </a:solidFill>
              </a:rPr>
              <a:t>घटाइए।</a:t>
            </a:r>
          </a:p>
          <a:p>
            <a:pPr lvl="0">
              <a:defRPr/>
            </a:pPr>
            <a:r>
              <a:rPr lang="hi-IN" sz="1200" dirty="0">
                <a:solidFill>
                  <a:srgbClr val="1B2A44"/>
                </a:solidFill>
              </a:rPr>
              <a:t>सबसे पहले ब्लॉक्स से </a:t>
            </a:r>
            <a:r>
              <a:rPr lang="en-US" sz="1200" dirty="0">
                <a:solidFill>
                  <a:srgbClr val="1B2A44"/>
                </a:solidFill>
                <a:cs typeface="Mangal" panose="02040503050203030202" pitchFamily="18" charset="0"/>
              </a:rPr>
              <a:t>74 </a:t>
            </a:r>
            <a:r>
              <a:rPr lang="hi-IN" sz="1200" dirty="0">
                <a:solidFill>
                  <a:srgbClr val="1B2A44"/>
                </a:solidFill>
              </a:rPr>
              <a:t>बनाइए।</a:t>
            </a:r>
          </a:p>
          <a:p>
            <a:pPr lvl="0">
              <a:defRPr/>
            </a:pPr>
            <a:r>
              <a:rPr lang="en-GB" sz="1200" dirty="0">
                <a:solidFill>
                  <a:srgbClr val="1B2A44"/>
                </a:solidFill>
              </a:rPr>
              <a:t>Tap and insert tens and ones block</a:t>
            </a:r>
            <a:endParaRPr lang="en-GB" sz="1200" dirty="0">
              <a:solidFill>
                <a:srgbClr val="1B2A44"/>
              </a:solidFill>
              <a:cs typeface="Mangal" panose="02040503050203030202" pitchFamily="18" charset="0"/>
            </a:endParaRPr>
          </a:p>
          <a:p>
            <a:pPr lvl="0">
              <a:defRPr/>
            </a:pPr>
            <a:endParaRPr lang="en-GB" sz="1200" dirty="0">
              <a:solidFill>
                <a:srgbClr val="1B2A44"/>
              </a:solidFill>
            </a:endParaRPr>
          </a:p>
          <a:p>
            <a:pPr lvl="0">
              <a:defRPr/>
            </a:pPr>
            <a:r>
              <a:rPr lang="hi-IN" sz="1200" dirty="0">
                <a:solidFill>
                  <a:srgbClr val="1B2A44"/>
                </a:solidFill>
              </a:rPr>
              <a:t>और अब </a:t>
            </a:r>
            <a:r>
              <a:rPr lang="hi-IN" sz="1200" dirty="0">
                <a:solidFill>
                  <a:srgbClr val="1B2A44"/>
                </a:solidFill>
                <a:cs typeface="Mangal" panose="02040503050203030202" pitchFamily="18" charset="0"/>
              </a:rPr>
              <a:t>इसमे से</a:t>
            </a:r>
            <a:r>
              <a:rPr lang="en-US" sz="1200" dirty="0">
                <a:solidFill>
                  <a:srgbClr val="1B2A44"/>
                </a:solidFill>
                <a:cs typeface="Mangal" panose="02040503050203030202" pitchFamily="18" charset="0"/>
              </a:rPr>
              <a:t> 58  </a:t>
            </a:r>
            <a:r>
              <a:rPr lang="hi-IN" sz="1200" dirty="0">
                <a:solidFill>
                  <a:srgbClr val="1B2A44"/>
                </a:solidFill>
              </a:rPr>
              <a:t>घटाते है</a:t>
            </a:r>
            <a:endParaRPr lang="en-US" sz="1200" dirty="0">
              <a:solidFill>
                <a:srgbClr val="1B2A44"/>
              </a:solidFill>
            </a:endParaRPr>
          </a:p>
          <a:p>
            <a:pPr lvl="0">
              <a:defRPr/>
            </a:pPr>
            <a:r>
              <a:rPr lang="en-US" sz="1200" dirty="0">
                <a:solidFill>
                  <a:srgbClr val="1B2A44"/>
                </a:solidFill>
              </a:rPr>
              <a:t>14</a:t>
            </a:r>
            <a:r>
              <a:rPr lang="hi-IN" sz="1200" dirty="0">
                <a:solidFill>
                  <a:srgbClr val="1B2A44"/>
                </a:solidFill>
              </a:rPr>
              <a:t> इकाई में से </a:t>
            </a:r>
            <a:r>
              <a:rPr lang="en-US" sz="1200" dirty="0">
                <a:solidFill>
                  <a:srgbClr val="1B2A44"/>
                </a:solidFill>
              </a:rPr>
              <a:t>8</a:t>
            </a:r>
            <a:r>
              <a:rPr lang="hi-IN" sz="1200" dirty="0">
                <a:solidFill>
                  <a:srgbClr val="1B2A44"/>
                </a:solidFill>
              </a:rPr>
              <a:t> इकाई हटाइए।</a:t>
            </a:r>
          </a:p>
          <a:p>
            <a:r>
              <a:rPr lang="en-US" sz="1200" dirty="0">
                <a:solidFill>
                  <a:srgbClr val="1B2A44"/>
                </a:solidFill>
              </a:rPr>
              <a:t>Child will tap and remove the ones blocks</a:t>
            </a:r>
            <a:endParaRPr lang="hi-IN" sz="1200" dirty="0">
              <a:solidFill>
                <a:srgbClr val="1B2A44"/>
              </a:solidFill>
            </a:endParaRPr>
          </a:p>
          <a:p>
            <a:pPr lvl="0">
              <a:defRPr/>
            </a:pPr>
            <a:endParaRPr lang="en-GB" sz="1200" dirty="0">
              <a:solidFill>
                <a:srgbClr val="1B2A44"/>
              </a:solidFill>
            </a:endParaRPr>
          </a:p>
          <a:p>
            <a:pPr lvl="0">
              <a:defRPr/>
            </a:pPr>
            <a:r>
              <a:rPr lang="hi-IN" sz="1200" dirty="0">
                <a:solidFill>
                  <a:srgbClr val="1B2A44"/>
                </a:solidFill>
              </a:rPr>
              <a:t>अब दहाइयाँ घटाइए।</a:t>
            </a:r>
          </a:p>
          <a:p>
            <a:pPr lvl="0">
              <a:defRPr/>
            </a:pPr>
            <a:r>
              <a:rPr lang="en-GB" sz="1200" dirty="0">
                <a:solidFill>
                  <a:srgbClr val="1B2A44"/>
                </a:solidFill>
              </a:rPr>
              <a:t>Child will tap and remove the </a:t>
            </a:r>
            <a:r>
              <a:rPr lang="en-US" sz="1200" dirty="0">
                <a:solidFill>
                  <a:srgbClr val="1B2A44"/>
                </a:solidFill>
              </a:rPr>
              <a:t>5</a:t>
            </a:r>
            <a:r>
              <a:rPr lang="hi-IN" sz="1200" dirty="0">
                <a:solidFill>
                  <a:srgbClr val="1B2A44"/>
                </a:solidFill>
              </a:rPr>
              <a:t> </a:t>
            </a:r>
            <a:r>
              <a:rPr lang="en-GB" sz="1200" dirty="0">
                <a:solidFill>
                  <a:srgbClr val="1B2A44"/>
                </a:solidFill>
              </a:rPr>
              <a:t>tens rods.</a:t>
            </a:r>
            <a:endParaRPr lang="en-GB" sz="1200" dirty="0">
              <a:solidFill>
                <a:srgbClr val="1B2A44"/>
              </a:solidFill>
              <a:cs typeface="Mangal" panose="02040503050203030202" pitchFamily="18" charset="0"/>
            </a:endParaRPr>
          </a:p>
          <a:p>
            <a:pPr lvl="0">
              <a:defRPr/>
            </a:pPr>
            <a:endParaRPr lang="en-GB" sz="1200" dirty="0">
              <a:solidFill>
                <a:srgbClr val="1B2A44"/>
              </a:solidFill>
              <a:cs typeface="Mangal" panose="02040503050203030202" pitchFamily="18" charset="0"/>
            </a:endParaRPr>
          </a:p>
          <a:p>
            <a:pPr lvl="0">
              <a:defRPr/>
            </a:pPr>
            <a:r>
              <a:rPr lang="hi-IN" sz="1200" dirty="0">
                <a:solidFill>
                  <a:srgbClr val="1B2A44"/>
                </a:solidFill>
              </a:rPr>
              <a:t>अब कितने बचे? नीचे डिब्बे पर टैप करके सही संख्या लिखिए।</a:t>
            </a:r>
          </a:p>
          <a:p>
            <a:pPr lvl="0">
              <a:defRPr/>
            </a:pPr>
            <a:r>
              <a:rPr lang="en-US" sz="1200" dirty="0">
                <a:solidFill>
                  <a:srgbClr val="1B2A44"/>
                </a:solidFill>
              </a:rPr>
              <a:t>When the child tap on the box, the number keypad will appear. </a:t>
            </a:r>
          </a:p>
          <a:p>
            <a:pPr lvl="0">
              <a:defRPr/>
            </a:pPr>
            <a:endParaRPr lang="hi-IN" sz="1200" dirty="0">
              <a:solidFill>
                <a:srgbClr val="1B2A44"/>
              </a:solidFill>
            </a:endParaRPr>
          </a:p>
          <a:p>
            <a:pPr lvl="0">
              <a:defRPr/>
            </a:pPr>
            <a:r>
              <a:rPr lang="en-GB" sz="1200" dirty="0">
                <a:solidFill>
                  <a:srgbClr val="1B2A44"/>
                </a:solidFill>
              </a:rPr>
              <a:t>Hint: If the child </a:t>
            </a:r>
            <a:r>
              <a:rPr lang="en-US" sz="1200" dirty="0">
                <a:solidFill>
                  <a:srgbClr val="1B2A44"/>
                </a:solidFill>
              </a:rPr>
              <a:t>enters 16</a:t>
            </a:r>
            <a:r>
              <a:rPr lang="en-GB" sz="1200" dirty="0">
                <a:solidFill>
                  <a:srgbClr val="1B2A44"/>
                </a:solidFill>
              </a:rPr>
              <a:t>, the VO</a:t>
            </a:r>
          </a:p>
          <a:p>
            <a:pPr lvl="0">
              <a:defRPr/>
            </a:pPr>
            <a:r>
              <a:rPr lang="hi-IN" sz="1200" dirty="0">
                <a:solidFill>
                  <a:srgbClr val="1B2A44"/>
                </a:solidFill>
              </a:rPr>
              <a:t>शाबाश! </a:t>
            </a:r>
            <a:r>
              <a:rPr lang="en-US" sz="1200" dirty="0">
                <a:solidFill>
                  <a:srgbClr val="1B2A44"/>
                </a:solidFill>
                <a:cs typeface="Mangal" panose="02040503050203030202" pitchFamily="18" charset="0"/>
              </a:rPr>
              <a:t>74</a:t>
            </a:r>
            <a:r>
              <a:rPr lang="hi-IN" sz="1200" dirty="0">
                <a:solidFill>
                  <a:srgbClr val="1B2A44"/>
                </a:solidFill>
              </a:rPr>
              <a:t> में से </a:t>
            </a:r>
            <a:r>
              <a:rPr lang="en-US" sz="1200" dirty="0">
                <a:solidFill>
                  <a:srgbClr val="1B2A44"/>
                </a:solidFill>
              </a:rPr>
              <a:t>58  </a:t>
            </a:r>
            <a:r>
              <a:rPr lang="hi-IN" sz="1200" dirty="0">
                <a:solidFill>
                  <a:srgbClr val="1B2A44"/>
                </a:solidFill>
              </a:rPr>
              <a:t>घटाने पर हमें मिली 16. </a:t>
            </a:r>
          </a:p>
          <a:p>
            <a:pPr lvl="0">
              <a:defRPr/>
            </a:pPr>
            <a:endParaRPr lang="en-GB" sz="1200" dirty="0">
              <a:solidFill>
                <a:srgbClr val="1B2A44"/>
              </a:solidFill>
            </a:endParaRPr>
          </a:p>
          <a:p>
            <a:pPr lvl="0">
              <a:defRPr/>
            </a:pPr>
            <a:r>
              <a:rPr lang="en-GB" sz="1200" dirty="0">
                <a:solidFill>
                  <a:srgbClr val="1B2A44"/>
                </a:solidFill>
              </a:rPr>
              <a:t>If the child enters any number except </a:t>
            </a:r>
            <a:r>
              <a:rPr lang="hi-IN" sz="1200" dirty="0">
                <a:solidFill>
                  <a:srgbClr val="1B2A44"/>
                </a:solidFill>
              </a:rPr>
              <a:t>16</a:t>
            </a:r>
            <a:r>
              <a:rPr lang="en-GB" sz="1200" dirty="0">
                <a:solidFill>
                  <a:srgbClr val="1B2A44"/>
                </a:solidFill>
              </a:rPr>
              <a:t>, the VO: </a:t>
            </a:r>
            <a:r>
              <a:rPr lang="hi-IN" sz="1200" dirty="0">
                <a:solidFill>
                  <a:srgbClr val="1B2A44"/>
                </a:solidFill>
              </a:rPr>
              <a:t>फिर से सोचिए, कितने बचे। </a:t>
            </a:r>
          </a:p>
          <a:p>
            <a:pPr lvl="0">
              <a:defRPr/>
            </a:pPr>
            <a:r>
              <a:rPr lang="en-GB" sz="1200" dirty="0">
                <a:solidFill>
                  <a:srgbClr val="1B2A44"/>
                </a:solidFill>
              </a:rPr>
              <a:t>If the child enters any number except 16, the VO: </a:t>
            </a:r>
            <a:r>
              <a:rPr lang="en-GB" sz="1200" dirty="0">
                <a:solidFill>
                  <a:srgbClr val="1B2A44"/>
                </a:solidFill>
                <a:cs typeface="Mangal" panose="02040503050203030202" pitchFamily="18" charset="0"/>
              </a:rPr>
              <a:t>74 </a:t>
            </a:r>
            <a:r>
              <a:rPr lang="hi-IN" sz="1200" dirty="0">
                <a:solidFill>
                  <a:srgbClr val="1B2A44"/>
                </a:solidFill>
              </a:rPr>
              <a:t>मे से </a:t>
            </a:r>
            <a:r>
              <a:rPr lang="en-US" sz="1200" dirty="0">
                <a:solidFill>
                  <a:srgbClr val="1B2A44"/>
                </a:solidFill>
                <a:cs typeface="Mangal" panose="02040503050203030202" pitchFamily="18" charset="0"/>
              </a:rPr>
              <a:t>58</a:t>
            </a:r>
            <a:r>
              <a:rPr lang="hi-IN" sz="1200" dirty="0">
                <a:solidFill>
                  <a:srgbClr val="1B2A44"/>
                </a:solidFill>
              </a:rPr>
              <a:t> घटाने पर </a:t>
            </a:r>
            <a:r>
              <a:rPr lang="en-US" sz="1200" dirty="0">
                <a:solidFill>
                  <a:srgbClr val="1B2A44"/>
                </a:solidFill>
              </a:rPr>
              <a:t>16</a:t>
            </a:r>
            <a:r>
              <a:rPr lang="hi-IN" sz="1200" dirty="0">
                <a:solidFill>
                  <a:srgbClr val="1B2A44"/>
                </a:solidFill>
              </a:rPr>
              <a:t> बचता है। तो सही संख्या यह है। </a:t>
            </a:r>
          </a:p>
          <a:p>
            <a:pPr lvl="0">
              <a:defRPr/>
            </a:pPr>
            <a:r>
              <a:rPr lang="en-GB" sz="1200" dirty="0">
                <a:solidFill>
                  <a:srgbClr val="1B2A44"/>
                </a:solidFill>
              </a:rPr>
              <a:t>Glow number 1 then tap, then 6 and other </a:t>
            </a:r>
            <a:r>
              <a:rPr lang="en-GB" sz="1200" dirty="0" err="1">
                <a:solidFill>
                  <a:srgbClr val="1B2A44"/>
                </a:solidFill>
              </a:rPr>
              <a:t>nos</a:t>
            </a:r>
            <a:r>
              <a:rPr lang="en-GB" sz="1200" dirty="0">
                <a:solidFill>
                  <a:srgbClr val="1B2A44"/>
                </a:solidFill>
              </a:rPr>
              <a:t> non-clickable.</a:t>
            </a:r>
            <a:endParaRPr lang="en-GB" sz="1200" dirty="0">
              <a:solidFill>
                <a:srgbClr val="1B2A44"/>
              </a:solidFill>
              <a:cs typeface="Mangal" panose="02040503050203030202" pitchFamily="18" charset="0"/>
            </a:endParaRP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61385178-8BA4-BB64-0FC8-A72199A542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5658"/>
              </p:ext>
            </p:extLst>
          </p:nvPr>
        </p:nvGraphicFramePr>
        <p:xfrm>
          <a:off x="-1999995" y="2460333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9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5A9F0218-4F79-5711-D036-970562997B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-1704802" y="2924209"/>
            <a:ext cx="246888" cy="1179576"/>
          </a:xfrm>
          <a:prstGeom prst="rect">
            <a:avLst/>
          </a:prstGeom>
        </p:spPr>
      </p:pic>
      <p:pic>
        <p:nvPicPr>
          <p:cNvPr id="40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40507B22-7EF9-7FF8-AA61-60526A335F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-1492478" y="2924209"/>
            <a:ext cx="246888" cy="1179576"/>
          </a:xfrm>
          <a:prstGeom prst="rect">
            <a:avLst/>
          </a:prstGeom>
        </p:spPr>
      </p:pic>
      <p:pic>
        <p:nvPicPr>
          <p:cNvPr id="4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482C068-86F4-6D88-4C95-9FA04960C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93024" y="3271681"/>
            <a:ext cx="256032" cy="219456"/>
          </a:xfrm>
          <a:prstGeom prst="rect">
            <a:avLst/>
          </a:prstGeom>
        </p:spPr>
      </p:pic>
      <p:pic>
        <p:nvPicPr>
          <p:cNvPr id="42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BB3B7395-F921-46A3-A97A-4FC19A7137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87" y="3271681"/>
            <a:ext cx="256032" cy="219456"/>
          </a:xfrm>
          <a:prstGeom prst="rect">
            <a:avLst/>
          </a:prstGeom>
        </p:spPr>
      </p:pic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BEBD36EB-C7FD-9296-CB30-4C69DABDF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209558"/>
              </p:ext>
            </p:extLst>
          </p:nvPr>
        </p:nvGraphicFramePr>
        <p:xfrm>
          <a:off x="4683655" y="2453707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5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03387A4-8E9A-DB01-A083-50B660084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175" y="3404683"/>
            <a:ext cx="256032" cy="219456"/>
          </a:xfrm>
          <a:prstGeom prst="rect">
            <a:avLst/>
          </a:prstGeom>
        </p:spPr>
      </p:pic>
      <p:pic>
        <p:nvPicPr>
          <p:cNvPr id="4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9894363-93A9-9565-6899-6F657F70F3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8487" y="3404683"/>
            <a:ext cx="256032" cy="219456"/>
          </a:xfrm>
          <a:prstGeom prst="rect">
            <a:avLst/>
          </a:prstGeom>
        </p:spPr>
      </p:pic>
      <p:pic>
        <p:nvPicPr>
          <p:cNvPr id="47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F304F641-A758-3917-E12B-4C86BEA32C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8799" y="3404683"/>
            <a:ext cx="256032" cy="219456"/>
          </a:xfrm>
          <a:prstGeom prst="rect">
            <a:avLst/>
          </a:prstGeom>
        </p:spPr>
      </p:pic>
      <p:pic>
        <p:nvPicPr>
          <p:cNvPr id="48" name="Picture 47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BA82E6F2-B9AD-86FB-EB47-51686F289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111" y="3404683"/>
            <a:ext cx="256032" cy="219456"/>
          </a:xfrm>
          <a:prstGeom prst="rect">
            <a:avLst/>
          </a:prstGeom>
        </p:spPr>
      </p:pic>
      <p:pic>
        <p:nvPicPr>
          <p:cNvPr id="4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7D86930E-4799-18B5-CA08-AC56D1D086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423" y="3404683"/>
            <a:ext cx="256032" cy="219456"/>
          </a:xfrm>
          <a:prstGeom prst="rect">
            <a:avLst/>
          </a:prstGeom>
        </p:spPr>
      </p:pic>
      <p:pic>
        <p:nvPicPr>
          <p:cNvPr id="50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9F3AE588-18EB-38CC-A81D-DF1F599503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-1238712" y="2901349"/>
            <a:ext cx="246888" cy="1179576"/>
          </a:xfrm>
          <a:prstGeom prst="rect">
            <a:avLst/>
          </a:prstGeom>
        </p:spPr>
      </p:pic>
      <p:pic>
        <p:nvPicPr>
          <p:cNvPr id="51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A8E74666-8704-A11A-CA5E-D9D41496F4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-963062" y="2915132"/>
            <a:ext cx="246888" cy="1179576"/>
          </a:xfrm>
          <a:prstGeom prst="rect">
            <a:avLst/>
          </a:prstGeom>
        </p:spPr>
      </p:pic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E93921E5-9757-80B4-3966-4D495B075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852959"/>
              </p:ext>
            </p:extLst>
          </p:nvPr>
        </p:nvGraphicFramePr>
        <p:xfrm>
          <a:off x="1283738" y="2411398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14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3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9CA082F1-2745-AC61-02B3-A278367234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1320449" y="2852414"/>
            <a:ext cx="246888" cy="1179576"/>
          </a:xfrm>
          <a:prstGeom prst="rect">
            <a:avLst/>
          </a:prstGeom>
        </p:spPr>
      </p:pic>
      <p:pic>
        <p:nvPicPr>
          <p:cNvPr id="54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F3C96C43-6383-D456-D25D-9976EC30EB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1532773" y="2852414"/>
            <a:ext cx="246888" cy="1179576"/>
          </a:xfrm>
          <a:prstGeom prst="rect">
            <a:avLst/>
          </a:prstGeom>
        </p:spPr>
      </p:pic>
      <p:pic>
        <p:nvPicPr>
          <p:cNvPr id="55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C4A5FAA9-138A-F26F-4240-C45D59930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8257" y="3381409"/>
            <a:ext cx="256032" cy="219456"/>
          </a:xfrm>
          <a:prstGeom prst="rect">
            <a:avLst/>
          </a:prstGeom>
        </p:spPr>
      </p:pic>
      <p:pic>
        <p:nvPicPr>
          <p:cNvPr id="5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2EC60184-E24A-59CA-214A-A760393346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8568" y="3381409"/>
            <a:ext cx="256032" cy="219456"/>
          </a:xfrm>
          <a:prstGeom prst="rect">
            <a:avLst/>
          </a:prstGeom>
        </p:spPr>
      </p:pic>
      <p:pic>
        <p:nvPicPr>
          <p:cNvPr id="57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211C79A9-96D8-87BE-09FE-2F30AEDB06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1786539" y="2829554"/>
            <a:ext cx="246888" cy="1179576"/>
          </a:xfrm>
          <a:prstGeom prst="rect">
            <a:avLst/>
          </a:prstGeom>
        </p:spPr>
      </p:pic>
      <p:pic>
        <p:nvPicPr>
          <p:cNvPr id="58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3C99C583-5843-9CCA-C218-BF081F2ECB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649" y="2928922"/>
            <a:ext cx="256032" cy="219456"/>
          </a:xfrm>
          <a:prstGeom prst="rect">
            <a:avLst/>
          </a:prstGeom>
        </p:spPr>
      </p:pic>
      <p:pic>
        <p:nvPicPr>
          <p:cNvPr id="5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8BA444A6-B9D5-B58D-0441-159E4D1D06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961" y="2928922"/>
            <a:ext cx="256032" cy="219456"/>
          </a:xfrm>
          <a:prstGeom prst="rect">
            <a:avLst/>
          </a:prstGeom>
        </p:spPr>
      </p:pic>
      <p:pic>
        <p:nvPicPr>
          <p:cNvPr id="60" name="Picture 59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26179D41-FF04-A3D8-83F8-67A6898078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273" y="2928922"/>
            <a:ext cx="256032" cy="219456"/>
          </a:xfrm>
          <a:prstGeom prst="rect">
            <a:avLst/>
          </a:prstGeom>
        </p:spPr>
      </p:pic>
      <p:pic>
        <p:nvPicPr>
          <p:cNvPr id="61" name="Picture 60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420344C4-327E-8B39-3659-12EBCEC38D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585" y="2928922"/>
            <a:ext cx="256032" cy="219456"/>
          </a:xfrm>
          <a:prstGeom prst="rect">
            <a:avLst/>
          </a:prstGeom>
        </p:spPr>
      </p:pic>
      <p:pic>
        <p:nvPicPr>
          <p:cNvPr id="62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6BEF6B9C-6B8C-2300-7A5F-F0C0344CB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897" y="2929785"/>
            <a:ext cx="256032" cy="219456"/>
          </a:xfrm>
          <a:prstGeom prst="rect">
            <a:avLst/>
          </a:prstGeom>
        </p:spPr>
      </p:pic>
      <p:pic>
        <p:nvPicPr>
          <p:cNvPr id="63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867303DC-5FAA-8CE5-38AD-2E6B36854B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649" y="3138559"/>
            <a:ext cx="256032" cy="219456"/>
          </a:xfrm>
          <a:prstGeom prst="rect">
            <a:avLst/>
          </a:prstGeom>
        </p:spPr>
      </p:pic>
      <p:pic>
        <p:nvPicPr>
          <p:cNvPr id="6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7D0544FE-E9CA-A85F-4109-5EC49726D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961" y="3138559"/>
            <a:ext cx="256032" cy="219456"/>
          </a:xfrm>
          <a:prstGeom prst="rect">
            <a:avLst/>
          </a:prstGeom>
        </p:spPr>
      </p:pic>
      <p:pic>
        <p:nvPicPr>
          <p:cNvPr id="65" name="Picture 64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B6913A89-E983-D69A-5435-BBD25F0D24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273" y="3138559"/>
            <a:ext cx="256032" cy="219456"/>
          </a:xfrm>
          <a:prstGeom prst="rect">
            <a:avLst/>
          </a:prstGeom>
        </p:spPr>
      </p:pic>
      <p:pic>
        <p:nvPicPr>
          <p:cNvPr id="66" name="Picture 65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43BEE55-BB8C-705E-ED00-2BA16A5728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585" y="3138559"/>
            <a:ext cx="256032" cy="219456"/>
          </a:xfrm>
          <a:prstGeom prst="rect">
            <a:avLst/>
          </a:prstGeom>
        </p:spPr>
      </p:pic>
      <p:pic>
        <p:nvPicPr>
          <p:cNvPr id="67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28401D35-96F7-845D-345C-C3E1EB54E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897" y="3139422"/>
            <a:ext cx="256032" cy="219456"/>
          </a:xfrm>
          <a:prstGeom prst="rect">
            <a:avLst/>
          </a:prstGeom>
        </p:spPr>
      </p:pic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7973875-66D4-0130-292E-9414735CFF51}"/>
              </a:ext>
            </a:extLst>
          </p:cNvPr>
          <p:cNvSpPr/>
          <p:nvPr/>
        </p:nvSpPr>
        <p:spPr>
          <a:xfrm>
            <a:off x="3080118" y="2901349"/>
            <a:ext cx="1125003" cy="462762"/>
          </a:xfrm>
          <a:prstGeom prst="roundRect">
            <a:avLst>
              <a:gd name="adj" fmla="val 1710"/>
            </a:avLst>
          </a:prstGeom>
          <a:noFill/>
          <a:ln w="19050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3946DEDC-8C9F-857B-68E9-2FAA61A3AC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197" y="3285464"/>
            <a:ext cx="256032" cy="219456"/>
          </a:xfrm>
          <a:prstGeom prst="rect">
            <a:avLst/>
          </a:prstGeom>
        </p:spPr>
      </p:pic>
      <p:pic>
        <p:nvPicPr>
          <p:cNvPr id="70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1321645-9E6B-0763-B6C7-FA0FD75AE0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3740" y="3391684"/>
            <a:ext cx="256032" cy="219456"/>
          </a:xfrm>
          <a:prstGeom prst="rect">
            <a:avLst/>
          </a:prstGeom>
        </p:spPr>
      </p:pic>
      <p:pic>
        <p:nvPicPr>
          <p:cNvPr id="73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DDDC9562-5920-E5B8-B886-E8E1CC96A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3638" y="3386832"/>
            <a:ext cx="256032" cy="219456"/>
          </a:xfrm>
          <a:prstGeom prst="rect">
            <a:avLst/>
          </a:prstGeom>
        </p:spPr>
      </p:pic>
      <p:pic>
        <p:nvPicPr>
          <p:cNvPr id="7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4E850B69-4C13-9280-3806-715E4E90CB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6" y="3306800"/>
            <a:ext cx="256032" cy="219456"/>
          </a:xfrm>
          <a:prstGeom prst="rect">
            <a:avLst/>
          </a:prstGeom>
        </p:spPr>
      </p:pic>
      <p:pic>
        <p:nvPicPr>
          <p:cNvPr id="78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E014F58B-BC41-24E9-B2A7-E17AD0B23F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6195" y="3376511"/>
            <a:ext cx="256032" cy="219456"/>
          </a:xfrm>
          <a:prstGeom prst="rect">
            <a:avLst/>
          </a:prstGeom>
        </p:spPr>
      </p:pic>
      <p:pic>
        <p:nvPicPr>
          <p:cNvPr id="80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17065978-3D34-0E73-31B9-47D6541B71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-704269" y="2899545"/>
            <a:ext cx="246888" cy="1179576"/>
          </a:xfrm>
          <a:prstGeom prst="rect">
            <a:avLst/>
          </a:prstGeom>
        </p:spPr>
      </p:pic>
      <p:pic>
        <p:nvPicPr>
          <p:cNvPr id="81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7A02E4BC-D714-D502-6127-84151F87C2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-1886189" y="2948940"/>
            <a:ext cx="246888" cy="1179576"/>
          </a:xfrm>
          <a:prstGeom prst="rect">
            <a:avLst/>
          </a:prstGeom>
        </p:spPr>
      </p:pic>
      <p:pic>
        <p:nvPicPr>
          <p:cNvPr id="82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95854BE8-90E7-59DA-F552-D2188967AC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-2070101" y="2948940"/>
            <a:ext cx="246888" cy="1179576"/>
          </a:xfrm>
          <a:prstGeom prst="rect">
            <a:avLst/>
          </a:prstGeom>
        </p:spPr>
      </p:pic>
      <p:pic>
        <p:nvPicPr>
          <p:cNvPr id="83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76A6A96D-33FA-91CB-CF1D-C7F3B4B89B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2045091" y="2846470"/>
            <a:ext cx="246888" cy="1179576"/>
          </a:xfrm>
          <a:prstGeom prst="rect">
            <a:avLst/>
          </a:prstGeom>
        </p:spPr>
      </p:pic>
      <p:pic>
        <p:nvPicPr>
          <p:cNvPr id="84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76E2C087-5B6D-9A26-DE0E-43EF469144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2257415" y="2846470"/>
            <a:ext cx="246888" cy="1179576"/>
          </a:xfrm>
          <a:prstGeom prst="rect">
            <a:avLst/>
          </a:prstGeom>
        </p:spPr>
      </p:pic>
      <p:pic>
        <p:nvPicPr>
          <p:cNvPr id="85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C107DFC9-DF0B-19A5-C60D-77E9BBA595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2511181" y="2823610"/>
            <a:ext cx="246888" cy="1179576"/>
          </a:xfrm>
          <a:prstGeom prst="rect">
            <a:avLst/>
          </a:prstGeom>
        </p:spPr>
      </p:pic>
      <p:pic>
        <p:nvPicPr>
          <p:cNvPr id="90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2915A0C9-80F7-F51B-5B0E-9F2574EA80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6006998" y="2900676"/>
            <a:ext cx="246888" cy="11795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9 · 09_SEQUENCE_COMPLETE.png</a:t>
            </a:r>
          </a:p>
        </p:txBody>
      </p:sp>
      <p:pic>
        <p:nvPicPr>
          <p:cNvPr id="3" name="Picture 2" descr="09_SEQUENCE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391" y="114300"/>
            <a:ext cx="1678229" cy="9417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A48657-CA1E-4E73-6381-E05EBC51C90F}"/>
              </a:ext>
            </a:extLst>
          </p:cNvPr>
          <p:cNvSpPr/>
          <p:nvPr/>
        </p:nvSpPr>
        <p:spPr>
          <a:xfrm>
            <a:off x="411480" y="1417320"/>
            <a:ext cx="7589520" cy="306324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209158-1461-E563-BAB3-BA491587DF34}"/>
              </a:ext>
            </a:extLst>
          </p:cNvPr>
          <p:cNvSpPr txBox="1"/>
          <p:nvPr/>
        </p:nvSpPr>
        <p:spPr>
          <a:xfrm>
            <a:off x="1344168" y="1051560"/>
            <a:ext cx="493776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hi-IN" dirty="0">
                <a:solidFill>
                  <a:srgbClr val="1B2A44"/>
                </a:solidFill>
              </a:rPr>
              <a:t>संख्याएँ</a:t>
            </a:r>
            <a:r>
              <a:rPr lang="hi-IN" sz="1800" dirty="0">
                <a:solidFill>
                  <a:srgbClr val="1B2A44"/>
                </a:solidFill>
              </a:rPr>
              <a:t> घटाइए।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C80E2B4F-9845-6844-B3A6-EC46294EACE9}"/>
              </a:ext>
            </a:extLst>
          </p:cNvPr>
          <p:cNvSpPr/>
          <p:nvPr/>
        </p:nvSpPr>
        <p:spPr>
          <a:xfrm>
            <a:off x="2926080" y="1563624"/>
            <a:ext cx="2560320" cy="6826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61  −  35  =  ?</a:t>
            </a:r>
            <a:endParaRPr lang="en-IN" sz="3200" b="1" dirty="0"/>
          </a:p>
        </p:txBody>
      </p:sp>
      <p:sp>
        <p:nvSpPr>
          <p:cNvPr id="8" name="Rectangle: Rounded Corners 20">
            <a:extLst>
              <a:ext uri="{FF2B5EF4-FFF2-40B4-BE49-F238E27FC236}">
                <a16:creationId xmlns:a16="http://schemas.microsoft.com/office/drawing/2014/main" id="{0F527D23-1E13-1ACE-822E-F7A2D6FDB31C}"/>
              </a:ext>
            </a:extLst>
          </p:cNvPr>
          <p:cNvSpPr/>
          <p:nvPr/>
        </p:nvSpPr>
        <p:spPr>
          <a:xfrm>
            <a:off x="3630154" y="4392224"/>
            <a:ext cx="1121695" cy="5760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Keypad" descr="black and white icons Stock Vector | Adobe Stock">
            <a:extLst>
              <a:ext uri="{FF2B5EF4-FFF2-40B4-BE49-F238E27FC236}">
                <a16:creationId xmlns:a16="http://schemas.microsoft.com/office/drawing/2014/main" id="{69852547-7BF3-2490-C600-30F71F790B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16950" t="13066" r="16336" b="14533"/>
          <a:stretch>
            <a:fillRect/>
          </a:stretch>
        </p:blipFill>
        <p:spPr bwMode="auto">
          <a:xfrm>
            <a:off x="3542339" y="5041616"/>
            <a:ext cx="1282082" cy="1391371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A0CFD0-DF3C-37D3-8D06-62CF372D3F59}"/>
              </a:ext>
            </a:extLst>
          </p:cNvPr>
          <p:cNvSpPr txBox="1"/>
          <p:nvPr/>
        </p:nvSpPr>
        <p:spPr>
          <a:xfrm>
            <a:off x="8000999" y="84162"/>
            <a:ext cx="412473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pPr lvl="0">
              <a:defRPr/>
            </a:pPr>
            <a:r>
              <a:rPr lang="en-GB" sz="1200" b="1" dirty="0">
                <a:solidFill>
                  <a:srgbClr val="1B2A44"/>
                </a:solidFill>
              </a:rPr>
              <a:t>Instruction: </a:t>
            </a:r>
            <a:r>
              <a:rPr lang="hi-IN" sz="1200" dirty="0">
                <a:solidFill>
                  <a:srgbClr val="1B2A44"/>
                </a:solidFill>
              </a:rPr>
              <a:t>संख्याएँ घटाइए।</a:t>
            </a:r>
          </a:p>
          <a:p>
            <a:pPr lvl="0">
              <a:defRPr/>
            </a:pPr>
            <a:endParaRPr lang="hi-IN" sz="1200" dirty="0">
              <a:solidFill>
                <a:srgbClr val="1B2A44"/>
              </a:solidFill>
            </a:endParaRPr>
          </a:p>
          <a:p>
            <a:pPr lvl="0">
              <a:defRPr/>
            </a:pPr>
            <a:r>
              <a:rPr lang="en-GB" sz="1200" dirty="0">
                <a:solidFill>
                  <a:srgbClr val="1B2A44"/>
                </a:solidFill>
                <a:cs typeface="Mangal" panose="02040503050203030202" pitchFamily="18" charset="0"/>
              </a:rPr>
              <a:t>61 </a:t>
            </a:r>
            <a:r>
              <a:rPr lang="hi-IN" sz="1200" dirty="0">
                <a:solidFill>
                  <a:srgbClr val="1B2A44"/>
                </a:solidFill>
              </a:rPr>
              <a:t>में से </a:t>
            </a:r>
            <a:r>
              <a:rPr lang="en-US" sz="1200" dirty="0">
                <a:solidFill>
                  <a:srgbClr val="1B2A44"/>
                </a:solidFill>
                <a:cs typeface="Mangal" panose="02040503050203030202" pitchFamily="18" charset="0"/>
              </a:rPr>
              <a:t>35 </a:t>
            </a:r>
            <a:r>
              <a:rPr lang="hi-IN" sz="1200" dirty="0">
                <a:solidFill>
                  <a:srgbClr val="1B2A44"/>
                </a:solidFill>
              </a:rPr>
              <a:t>घटाइए।</a:t>
            </a:r>
          </a:p>
          <a:p>
            <a:pPr lvl="0">
              <a:defRPr/>
            </a:pPr>
            <a:r>
              <a:rPr lang="hi-IN" sz="1200" dirty="0">
                <a:solidFill>
                  <a:srgbClr val="1B2A44"/>
                </a:solidFill>
              </a:rPr>
              <a:t>सबसे पहले ब्लॉक्स से </a:t>
            </a:r>
            <a:r>
              <a:rPr lang="en-US" sz="1200" dirty="0">
                <a:solidFill>
                  <a:srgbClr val="1B2A44"/>
                </a:solidFill>
                <a:cs typeface="Mangal" panose="02040503050203030202" pitchFamily="18" charset="0"/>
              </a:rPr>
              <a:t>61 </a:t>
            </a:r>
            <a:r>
              <a:rPr lang="hi-IN" sz="1200" dirty="0">
                <a:solidFill>
                  <a:srgbClr val="1B2A44"/>
                </a:solidFill>
              </a:rPr>
              <a:t>बनाइए।</a:t>
            </a:r>
          </a:p>
          <a:p>
            <a:pPr lvl="0">
              <a:defRPr/>
            </a:pPr>
            <a:r>
              <a:rPr lang="en-GB" sz="1200" dirty="0">
                <a:solidFill>
                  <a:srgbClr val="1B2A44"/>
                </a:solidFill>
              </a:rPr>
              <a:t>Tap and insert tens and ones block</a:t>
            </a:r>
            <a:endParaRPr lang="en-GB" sz="1200" dirty="0">
              <a:solidFill>
                <a:srgbClr val="1B2A44"/>
              </a:solidFill>
              <a:cs typeface="Mangal" panose="02040503050203030202" pitchFamily="18" charset="0"/>
            </a:endParaRPr>
          </a:p>
          <a:p>
            <a:pPr lvl="0">
              <a:defRPr/>
            </a:pPr>
            <a:endParaRPr lang="en-GB" sz="1200" dirty="0">
              <a:solidFill>
                <a:srgbClr val="1B2A44"/>
              </a:solidFill>
            </a:endParaRPr>
          </a:p>
          <a:p>
            <a:pPr lvl="0">
              <a:defRPr/>
            </a:pPr>
            <a:r>
              <a:rPr lang="hi-IN" sz="1200" dirty="0">
                <a:solidFill>
                  <a:srgbClr val="1B2A44"/>
                </a:solidFill>
              </a:rPr>
              <a:t>और अब </a:t>
            </a:r>
            <a:r>
              <a:rPr lang="hi-IN" sz="1200" dirty="0">
                <a:solidFill>
                  <a:srgbClr val="1B2A44"/>
                </a:solidFill>
                <a:cs typeface="Mangal" panose="02040503050203030202" pitchFamily="18" charset="0"/>
              </a:rPr>
              <a:t>इसमे से</a:t>
            </a:r>
            <a:r>
              <a:rPr lang="en-US" sz="1200" dirty="0">
                <a:solidFill>
                  <a:srgbClr val="1B2A44"/>
                </a:solidFill>
                <a:cs typeface="Mangal" panose="02040503050203030202" pitchFamily="18" charset="0"/>
              </a:rPr>
              <a:t> 35 </a:t>
            </a:r>
            <a:r>
              <a:rPr lang="hi-IN" sz="1200" dirty="0">
                <a:solidFill>
                  <a:srgbClr val="1B2A44"/>
                </a:solidFill>
              </a:rPr>
              <a:t>घटाते है</a:t>
            </a:r>
            <a:endParaRPr lang="en-US" sz="1200" dirty="0">
              <a:solidFill>
                <a:srgbClr val="1B2A44"/>
              </a:solidFill>
            </a:endParaRPr>
          </a:p>
          <a:p>
            <a:pPr lvl="0">
              <a:defRPr/>
            </a:pPr>
            <a:r>
              <a:rPr lang="hi-IN" sz="1200" dirty="0">
                <a:solidFill>
                  <a:srgbClr val="1B2A44"/>
                </a:solidFill>
              </a:rPr>
              <a:t>इकाई हटाइए।</a:t>
            </a:r>
          </a:p>
          <a:p>
            <a:r>
              <a:rPr lang="en-US" sz="1200" dirty="0">
                <a:solidFill>
                  <a:srgbClr val="1B2A44"/>
                </a:solidFill>
              </a:rPr>
              <a:t>Child will tap and remove the ones blocks</a:t>
            </a:r>
            <a:endParaRPr lang="hi-IN" sz="1200" dirty="0">
              <a:solidFill>
                <a:srgbClr val="1B2A44"/>
              </a:solidFill>
            </a:endParaRPr>
          </a:p>
          <a:p>
            <a:pPr lvl="0">
              <a:defRPr/>
            </a:pPr>
            <a:endParaRPr lang="en-GB" sz="1200" dirty="0">
              <a:solidFill>
                <a:srgbClr val="1B2A44"/>
              </a:solidFill>
            </a:endParaRPr>
          </a:p>
          <a:p>
            <a:pPr lvl="0">
              <a:defRPr/>
            </a:pPr>
            <a:r>
              <a:rPr lang="hi-IN" sz="1200" dirty="0">
                <a:solidFill>
                  <a:srgbClr val="1B2A44"/>
                </a:solidFill>
              </a:rPr>
              <a:t>अब दहाइयाँ हटाइए।</a:t>
            </a:r>
          </a:p>
          <a:p>
            <a:pPr lvl="0">
              <a:defRPr/>
            </a:pPr>
            <a:r>
              <a:rPr lang="en-GB" sz="1200" dirty="0">
                <a:solidFill>
                  <a:srgbClr val="1B2A44"/>
                </a:solidFill>
              </a:rPr>
              <a:t>Child will tap and remove the </a:t>
            </a:r>
            <a:r>
              <a:rPr lang="en-US" sz="1200" dirty="0">
                <a:solidFill>
                  <a:srgbClr val="1B2A44"/>
                </a:solidFill>
              </a:rPr>
              <a:t>3 </a:t>
            </a:r>
            <a:r>
              <a:rPr lang="en-GB" sz="1200" dirty="0">
                <a:solidFill>
                  <a:srgbClr val="1B2A44"/>
                </a:solidFill>
              </a:rPr>
              <a:t>tens rods.</a:t>
            </a:r>
            <a:endParaRPr lang="en-GB" sz="1200" dirty="0">
              <a:solidFill>
                <a:srgbClr val="1B2A44"/>
              </a:solidFill>
              <a:cs typeface="Mangal" panose="02040503050203030202" pitchFamily="18" charset="0"/>
            </a:endParaRPr>
          </a:p>
          <a:p>
            <a:pPr lvl="0">
              <a:defRPr/>
            </a:pPr>
            <a:endParaRPr lang="en-GB" sz="1200" dirty="0">
              <a:solidFill>
                <a:srgbClr val="1B2A44"/>
              </a:solidFill>
              <a:cs typeface="Mangal" panose="02040503050203030202" pitchFamily="18" charset="0"/>
            </a:endParaRPr>
          </a:p>
          <a:p>
            <a:pPr lvl="0">
              <a:defRPr/>
            </a:pPr>
            <a:r>
              <a:rPr lang="hi-IN" sz="1200" dirty="0">
                <a:solidFill>
                  <a:srgbClr val="1B2A44"/>
                </a:solidFill>
              </a:rPr>
              <a:t>अब कितने बचे? नीचे डिब्बे पर टैप करके सही संख्या लिखिए।</a:t>
            </a:r>
          </a:p>
          <a:p>
            <a:pPr lvl="0">
              <a:defRPr/>
            </a:pPr>
            <a:r>
              <a:rPr lang="en-US" sz="1200" dirty="0">
                <a:solidFill>
                  <a:srgbClr val="1B2A44"/>
                </a:solidFill>
              </a:rPr>
              <a:t>When the child tap on the box, the number keypad will appear. </a:t>
            </a:r>
          </a:p>
          <a:p>
            <a:pPr lvl="0">
              <a:defRPr/>
            </a:pPr>
            <a:endParaRPr lang="hi-IN" sz="1200" dirty="0">
              <a:solidFill>
                <a:srgbClr val="1B2A44"/>
              </a:solidFill>
            </a:endParaRPr>
          </a:p>
          <a:p>
            <a:pPr lvl="0">
              <a:defRPr/>
            </a:pPr>
            <a:r>
              <a:rPr lang="en-GB" sz="1200" dirty="0">
                <a:solidFill>
                  <a:srgbClr val="1B2A44"/>
                </a:solidFill>
              </a:rPr>
              <a:t>Hint: If the child </a:t>
            </a:r>
            <a:r>
              <a:rPr lang="en-US" sz="1200" dirty="0">
                <a:solidFill>
                  <a:srgbClr val="1B2A44"/>
                </a:solidFill>
              </a:rPr>
              <a:t>enters 26</a:t>
            </a:r>
            <a:r>
              <a:rPr lang="en-GB" sz="1200" dirty="0">
                <a:solidFill>
                  <a:srgbClr val="1B2A44"/>
                </a:solidFill>
              </a:rPr>
              <a:t>, the VO</a:t>
            </a:r>
          </a:p>
          <a:p>
            <a:pPr lvl="0">
              <a:defRPr/>
            </a:pPr>
            <a:r>
              <a:rPr lang="hi-IN" sz="1200" dirty="0">
                <a:solidFill>
                  <a:srgbClr val="1B2A44"/>
                </a:solidFill>
              </a:rPr>
              <a:t>शाबाश! </a:t>
            </a:r>
            <a:r>
              <a:rPr lang="en-US" sz="1200" dirty="0">
                <a:solidFill>
                  <a:srgbClr val="1B2A44"/>
                </a:solidFill>
                <a:cs typeface="Mangal" panose="02040503050203030202" pitchFamily="18" charset="0"/>
              </a:rPr>
              <a:t>61</a:t>
            </a:r>
            <a:r>
              <a:rPr lang="hi-IN" sz="1200" dirty="0">
                <a:solidFill>
                  <a:srgbClr val="1B2A44"/>
                </a:solidFill>
              </a:rPr>
              <a:t> में से </a:t>
            </a:r>
            <a:r>
              <a:rPr lang="en-US" sz="1200" dirty="0">
                <a:solidFill>
                  <a:srgbClr val="1B2A44"/>
                </a:solidFill>
              </a:rPr>
              <a:t>35 </a:t>
            </a:r>
            <a:r>
              <a:rPr lang="hi-IN" sz="1200" dirty="0">
                <a:solidFill>
                  <a:srgbClr val="1B2A44"/>
                </a:solidFill>
              </a:rPr>
              <a:t>घटाने पर हमें मिली </a:t>
            </a:r>
            <a:r>
              <a:rPr lang="en-US" sz="1200" dirty="0">
                <a:solidFill>
                  <a:srgbClr val="1B2A44"/>
                </a:solidFill>
              </a:rPr>
              <a:t>26</a:t>
            </a:r>
            <a:r>
              <a:rPr lang="hi-IN" sz="1200" dirty="0">
                <a:solidFill>
                  <a:srgbClr val="1B2A44"/>
                </a:solidFill>
              </a:rPr>
              <a:t>. </a:t>
            </a:r>
          </a:p>
          <a:p>
            <a:pPr lvl="0">
              <a:defRPr/>
            </a:pPr>
            <a:endParaRPr lang="en-GB" sz="1200" dirty="0">
              <a:solidFill>
                <a:srgbClr val="1B2A44"/>
              </a:solidFill>
            </a:endParaRPr>
          </a:p>
          <a:p>
            <a:pPr lvl="0">
              <a:defRPr/>
            </a:pPr>
            <a:r>
              <a:rPr lang="en-GB" sz="1200" dirty="0">
                <a:solidFill>
                  <a:srgbClr val="1B2A44"/>
                </a:solidFill>
              </a:rPr>
              <a:t>If the child enters any number except </a:t>
            </a:r>
            <a:r>
              <a:rPr lang="en-US" sz="1200" dirty="0">
                <a:solidFill>
                  <a:srgbClr val="1B2A44"/>
                </a:solidFill>
              </a:rPr>
              <a:t>26</a:t>
            </a:r>
            <a:r>
              <a:rPr lang="en-GB" sz="1200" dirty="0">
                <a:solidFill>
                  <a:srgbClr val="1B2A44"/>
                </a:solidFill>
              </a:rPr>
              <a:t>, the VO: </a:t>
            </a:r>
            <a:r>
              <a:rPr lang="hi-IN" sz="1200" dirty="0">
                <a:solidFill>
                  <a:srgbClr val="1B2A44"/>
                </a:solidFill>
              </a:rPr>
              <a:t>फिर से सोचिए, कितने बचे। </a:t>
            </a:r>
          </a:p>
          <a:p>
            <a:pPr lvl="0">
              <a:defRPr/>
            </a:pPr>
            <a:r>
              <a:rPr lang="en-GB" sz="1200" dirty="0">
                <a:solidFill>
                  <a:srgbClr val="1B2A44"/>
                </a:solidFill>
              </a:rPr>
              <a:t>If the child enters any number except 26, the VO: </a:t>
            </a:r>
            <a:r>
              <a:rPr lang="en-GB" sz="1200" dirty="0">
                <a:solidFill>
                  <a:srgbClr val="1B2A44"/>
                </a:solidFill>
                <a:cs typeface="Mangal" panose="02040503050203030202" pitchFamily="18" charset="0"/>
              </a:rPr>
              <a:t>61 </a:t>
            </a:r>
            <a:r>
              <a:rPr lang="hi-IN" sz="1200" dirty="0">
                <a:solidFill>
                  <a:srgbClr val="1B2A44"/>
                </a:solidFill>
              </a:rPr>
              <a:t>मे से </a:t>
            </a:r>
            <a:r>
              <a:rPr lang="en-US" sz="1200" dirty="0">
                <a:solidFill>
                  <a:srgbClr val="1B2A44"/>
                </a:solidFill>
                <a:cs typeface="Mangal" panose="02040503050203030202" pitchFamily="18" charset="0"/>
              </a:rPr>
              <a:t>35 </a:t>
            </a:r>
            <a:r>
              <a:rPr lang="hi-IN" sz="1200" dirty="0">
                <a:solidFill>
                  <a:srgbClr val="1B2A44"/>
                </a:solidFill>
              </a:rPr>
              <a:t>घटाने पर </a:t>
            </a:r>
            <a:r>
              <a:rPr lang="en-US" sz="1200" dirty="0">
                <a:solidFill>
                  <a:srgbClr val="1B2A44"/>
                </a:solidFill>
              </a:rPr>
              <a:t>26</a:t>
            </a:r>
            <a:r>
              <a:rPr lang="hi-IN" sz="1200" dirty="0">
                <a:solidFill>
                  <a:srgbClr val="1B2A44"/>
                </a:solidFill>
              </a:rPr>
              <a:t> बचता है। तो सही संख्या यह है। </a:t>
            </a:r>
          </a:p>
          <a:p>
            <a:pPr lvl="0">
              <a:defRPr/>
            </a:pPr>
            <a:r>
              <a:rPr lang="en-GB" sz="1200" dirty="0">
                <a:solidFill>
                  <a:srgbClr val="1B2A44"/>
                </a:solidFill>
              </a:rPr>
              <a:t>Glow number 2 then tap, then 6 and other </a:t>
            </a:r>
            <a:r>
              <a:rPr lang="en-GB" sz="1200" dirty="0" err="1">
                <a:solidFill>
                  <a:srgbClr val="1B2A44"/>
                </a:solidFill>
              </a:rPr>
              <a:t>nos</a:t>
            </a:r>
            <a:r>
              <a:rPr lang="en-GB" sz="1200" dirty="0">
                <a:solidFill>
                  <a:srgbClr val="1B2A44"/>
                </a:solidFill>
              </a:rPr>
              <a:t> non-clickable.</a:t>
            </a:r>
            <a:endParaRPr lang="en-GB" sz="1200" dirty="0">
              <a:solidFill>
                <a:srgbClr val="1B2A44"/>
              </a:solidFill>
              <a:cs typeface="Mangal" panose="02040503050203030202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F6EAB4D-2373-82AF-B9CC-59C208E9D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934797"/>
              </p:ext>
            </p:extLst>
          </p:nvPr>
        </p:nvGraphicFramePr>
        <p:xfrm>
          <a:off x="-1999995" y="2460333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92A88A5E-8F0E-50D8-C2FE-799197CA39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-1514302" y="2924209"/>
            <a:ext cx="246888" cy="1179576"/>
          </a:xfrm>
          <a:prstGeom prst="rect">
            <a:avLst/>
          </a:prstGeom>
        </p:spPr>
      </p:pic>
      <p:pic>
        <p:nvPicPr>
          <p:cNvPr id="13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F5B77B78-C538-766D-A7C0-9083D39C9E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-1301978" y="2924209"/>
            <a:ext cx="246888" cy="1179576"/>
          </a:xfrm>
          <a:prstGeom prst="rect">
            <a:avLst/>
          </a:prstGeom>
        </p:spPr>
      </p:pic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5B90FA4E-7CF2-24B3-4E6A-5F49B61C0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558635"/>
              </p:ext>
            </p:extLst>
          </p:nvPr>
        </p:nvGraphicFramePr>
        <p:xfrm>
          <a:off x="4683655" y="2453707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7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D4891E64-20AD-F64D-87AF-BB64D81058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175" y="3404683"/>
            <a:ext cx="256032" cy="219456"/>
          </a:xfrm>
          <a:prstGeom prst="rect">
            <a:avLst/>
          </a:prstGeom>
        </p:spPr>
      </p:pic>
      <p:pic>
        <p:nvPicPr>
          <p:cNvPr id="18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C4707D8-157F-7FBE-071D-E9648191C7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8487" y="3404683"/>
            <a:ext cx="256032" cy="219456"/>
          </a:xfrm>
          <a:prstGeom prst="rect">
            <a:avLst/>
          </a:prstGeom>
        </p:spPr>
      </p:pic>
      <p:pic>
        <p:nvPicPr>
          <p:cNvPr id="1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3F21E28C-5F03-3DC7-D97A-A41C6D9EB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8799" y="3404683"/>
            <a:ext cx="256032" cy="219456"/>
          </a:xfrm>
          <a:prstGeom prst="rect">
            <a:avLst/>
          </a:prstGeom>
        </p:spPr>
      </p:pic>
      <p:pic>
        <p:nvPicPr>
          <p:cNvPr id="20" name="Picture 19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5C022137-C058-0F96-1441-F58559097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111" y="3404683"/>
            <a:ext cx="256032" cy="219456"/>
          </a:xfrm>
          <a:prstGeom prst="rect">
            <a:avLst/>
          </a:prstGeom>
        </p:spPr>
      </p:pic>
      <p:pic>
        <p:nvPicPr>
          <p:cNvPr id="2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E94013B5-5B12-B2C2-9870-52B8F833E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423" y="3404683"/>
            <a:ext cx="256032" cy="219456"/>
          </a:xfrm>
          <a:prstGeom prst="rect">
            <a:avLst/>
          </a:prstGeom>
        </p:spPr>
      </p:pic>
      <p:pic>
        <p:nvPicPr>
          <p:cNvPr id="22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43346D07-EBD5-054F-6CE0-5636FFED74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-1048212" y="2901349"/>
            <a:ext cx="246888" cy="1179576"/>
          </a:xfrm>
          <a:prstGeom prst="rect">
            <a:avLst/>
          </a:prstGeom>
        </p:spPr>
      </p:pic>
      <p:pic>
        <p:nvPicPr>
          <p:cNvPr id="23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72D7F9E2-FA1A-2486-08EC-87B6F8078E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-772562" y="2915132"/>
            <a:ext cx="246888" cy="1179576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B4741BF-C566-3A79-D58D-0A9A2A3E5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394462"/>
              </p:ext>
            </p:extLst>
          </p:nvPr>
        </p:nvGraphicFramePr>
        <p:xfrm>
          <a:off x="1283738" y="2411398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5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963AD57E-DD82-B799-5EBC-5905E2F63B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1343309" y="2852414"/>
            <a:ext cx="246888" cy="1179576"/>
          </a:xfrm>
          <a:prstGeom prst="rect">
            <a:avLst/>
          </a:prstGeom>
        </p:spPr>
      </p:pic>
      <p:pic>
        <p:nvPicPr>
          <p:cNvPr id="26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A4CBAA1A-D98D-AB7F-909D-68480AA7F9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1570873" y="2852414"/>
            <a:ext cx="246888" cy="1179576"/>
          </a:xfrm>
          <a:prstGeom prst="rect">
            <a:avLst/>
          </a:prstGeom>
        </p:spPr>
      </p:pic>
      <p:pic>
        <p:nvPicPr>
          <p:cNvPr id="29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95D6C2E8-A31C-E4FB-8137-9D5BFB5382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1794901" y="2852414"/>
            <a:ext cx="246888" cy="1179576"/>
          </a:xfrm>
          <a:prstGeom prst="rect">
            <a:avLst/>
          </a:prstGeom>
        </p:spPr>
      </p:pic>
      <p:pic>
        <p:nvPicPr>
          <p:cNvPr id="30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9EED500B-C880-0192-8636-6B72B588B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649" y="2928922"/>
            <a:ext cx="256032" cy="219456"/>
          </a:xfrm>
          <a:prstGeom prst="rect">
            <a:avLst/>
          </a:prstGeom>
        </p:spPr>
      </p:pic>
      <p:pic>
        <p:nvPicPr>
          <p:cNvPr id="3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AF98726F-161C-554A-165D-3A8917B1C5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961" y="2928922"/>
            <a:ext cx="256032" cy="219456"/>
          </a:xfrm>
          <a:prstGeom prst="rect">
            <a:avLst/>
          </a:prstGeom>
        </p:spPr>
      </p:pic>
      <p:pic>
        <p:nvPicPr>
          <p:cNvPr id="32" name="Picture 31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ABE44190-0F74-382E-1CED-58024B7945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273" y="2928922"/>
            <a:ext cx="256032" cy="219456"/>
          </a:xfrm>
          <a:prstGeom prst="rect">
            <a:avLst/>
          </a:prstGeom>
        </p:spPr>
      </p:pic>
      <p:pic>
        <p:nvPicPr>
          <p:cNvPr id="33" name="Picture 32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CAA1D7E-5B2B-4647-8F0A-B5A7CED1D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585" y="2928922"/>
            <a:ext cx="256032" cy="219456"/>
          </a:xfrm>
          <a:prstGeom prst="rect">
            <a:avLst/>
          </a:prstGeom>
        </p:spPr>
      </p:pic>
      <p:pic>
        <p:nvPicPr>
          <p:cNvPr id="3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EDFB07C6-DF8C-D79D-A0C0-63C4973AA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897" y="2929785"/>
            <a:ext cx="256032" cy="219456"/>
          </a:xfrm>
          <a:prstGeom prst="rect">
            <a:avLst/>
          </a:prstGeom>
        </p:spPr>
      </p:pic>
      <p:pic>
        <p:nvPicPr>
          <p:cNvPr id="35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C434A268-DDD3-A0F8-795C-777447B689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649" y="3138559"/>
            <a:ext cx="256032" cy="219456"/>
          </a:xfrm>
          <a:prstGeom prst="rect">
            <a:avLst/>
          </a:prstGeom>
        </p:spPr>
      </p:pic>
      <p:pic>
        <p:nvPicPr>
          <p:cNvPr id="3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811D209F-1BDA-3594-5E3A-A47DB2637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961" y="3138559"/>
            <a:ext cx="256032" cy="219456"/>
          </a:xfrm>
          <a:prstGeom prst="rect">
            <a:avLst/>
          </a:prstGeom>
        </p:spPr>
      </p:pic>
      <p:pic>
        <p:nvPicPr>
          <p:cNvPr id="37" name="Picture 3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30720D92-40C1-F3A1-39C7-26A10EED4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273" y="3138559"/>
            <a:ext cx="256032" cy="219456"/>
          </a:xfrm>
          <a:prstGeom prst="rect">
            <a:avLst/>
          </a:prstGeom>
        </p:spPr>
      </p:pic>
      <p:pic>
        <p:nvPicPr>
          <p:cNvPr id="38" name="Picture 37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AE9710A8-498F-B190-827C-AB56F88735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585" y="3138559"/>
            <a:ext cx="256032" cy="219456"/>
          </a:xfrm>
          <a:prstGeom prst="rect">
            <a:avLst/>
          </a:prstGeom>
        </p:spPr>
      </p:pic>
      <p:pic>
        <p:nvPicPr>
          <p:cNvPr id="3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CA79741-2632-240F-9E51-04F87AE2AA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897" y="3139422"/>
            <a:ext cx="256032" cy="219456"/>
          </a:xfrm>
          <a:prstGeom prst="rect">
            <a:avLst/>
          </a:prstGeom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387C85F-C0FB-D7CC-A1C1-33261D9DC596}"/>
              </a:ext>
            </a:extLst>
          </p:cNvPr>
          <p:cNvSpPr/>
          <p:nvPr/>
        </p:nvSpPr>
        <p:spPr>
          <a:xfrm>
            <a:off x="3080118" y="2901349"/>
            <a:ext cx="1125003" cy="462762"/>
          </a:xfrm>
          <a:prstGeom prst="roundRect">
            <a:avLst>
              <a:gd name="adj" fmla="val 1710"/>
            </a:avLst>
          </a:prstGeom>
          <a:noFill/>
          <a:ln w="19050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3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E43941C0-5881-4AA1-FDAF-CC6BB2D3FD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3638" y="3386832"/>
            <a:ext cx="256032" cy="219456"/>
          </a:xfrm>
          <a:prstGeom prst="rect">
            <a:avLst/>
          </a:prstGeom>
        </p:spPr>
      </p:pic>
      <p:pic>
        <p:nvPicPr>
          <p:cNvPr id="45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0041C86-2844-2E15-0AB8-F7C265ABB7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6195" y="3376511"/>
            <a:ext cx="256032" cy="219456"/>
          </a:xfrm>
          <a:prstGeom prst="rect">
            <a:avLst/>
          </a:prstGeom>
        </p:spPr>
      </p:pic>
      <p:pic>
        <p:nvPicPr>
          <p:cNvPr id="47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758283B5-9A27-C044-18E1-FDF94C6A38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-1695689" y="2948940"/>
            <a:ext cx="246888" cy="1179576"/>
          </a:xfrm>
          <a:prstGeom prst="rect">
            <a:avLst/>
          </a:prstGeom>
        </p:spPr>
      </p:pic>
      <p:pic>
        <p:nvPicPr>
          <p:cNvPr id="48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6B32FF6A-6CA8-0D12-1F39-7D494859DA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-1879601" y="2948940"/>
            <a:ext cx="246888" cy="1179576"/>
          </a:xfrm>
          <a:prstGeom prst="rect">
            <a:avLst/>
          </a:prstGeom>
        </p:spPr>
      </p:pic>
      <p:pic>
        <p:nvPicPr>
          <p:cNvPr id="49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B24A59EA-1C9E-CD7D-4DCB-23F9111DD2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2029851" y="2846470"/>
            <a:ext cx="246888" cy="1179576"/>
          </a:xfrm>
          <a:prstGeom prst="rect">
            <a:avLst/>
          </a:prstGeom>
        </p:spPr>
      </p:pic>
      <p:pic>
        <p:nvPicPr>
          <p:cNvPr id="50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9837E966-E7B1-30BC-96FE-05F88B9C0D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2257415" y="2846470"/>
            <a:ext cx="246888" cy="1179576"/>
          </a:xfrm>
          <a:prstGeom prst="rect">
            <a:avLst/>
          </a:prstGeom>
        </p:spPr>
      </p:pic>
      <p:pic>
        <p:nvPicPr>
          <p:cNvPr id="52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26740311-1E71-3FCC-7D44-D6984EDD78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5595284" y="2846470"/>
            <a:ext cx="246888" cy="1179576"/>
          </a:xfrm>
          <a:prstGeom prst="rect">
            <a:avLst/>
          </a:prstGeom>
        </p:spPr>
      </p:pic>
      <p:pic>
        <p:nvPicPr>
          <p:cNvPr id="53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536DDDDC-379F-784A-7F55-6C68806DE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90058" y="3294541"/>
            <a:ext cx="256032" cy="219456"/>
          </a:xfrm>
          <a:prstGeom prst="rect">
            <a:avLst/>
          </a:prstGeom>
        </p:spPr>
      </p:pic>
      <p:pic>
        <p:nvPicPr>
          <p:cNvPr id="56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480B2885-ED6D-CCD4-B296-C4DDBC6C8E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16" r="35816"/>
          <a:stretch>
            <a:fillRect/>
          </a:stretch>
        </p:blipFill>
        <p:spPr>
          <a:xfrm>
            <a:off x="5353934" y="2860980"/>
            <a:ext cx="246888" cy="11795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0_COUNT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74" y="790296"/>
            <a:ext cx="7220466" cy="3838753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FE89CBCD-7BE3-2F5A-0F4B-103DF8111A8F}"/>
              </a:ext>
            </a:extLst>
          </p:cNvPr>
          <p:cNvSpPr/>
          <p:nvPr/>
        </p:nvSpPr>
        <p:spPr>
          <a:xfrm>
            <a:off x="490974" y="1607820"/>
            <a:ext cx="7220466" cy="294894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10 · 10_COUNT_ACTION.png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D23609-3B22-5896-71F1-5CCA2EEB4A12}"/>
              </a:ext>
            </a:extLst>
          </p:cNvPr>
          <p:cNvSpPr txBox="1"/>
          <p:nvPr/>
        </p:nvSpPr>
        <p:spPr>
          <a:xfrm>
            <a:off x="1344168" y="1051560"/>
            <a:ext cx="493776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hi-IN" dirty="0">
                <a:solidFill>
                  <a:srgbClr val="1B2A44"/>
                </a:solidFill>
              </a:rPr>
              <a:t>संख्याएँ</a:t>
            </a:r>
            <a:r>
              <a:rPr lang="hi-IN" sz="1800" dirty="0">
                <a:solidFill>
                  <a:srgbClr val="1B2A44"/>
                </a:solidFill>
              </a:rPr>
              <a:t> घटाइए।</a:t>
            </a:r>
          </a:p>
        </p:txBody>
      </p:sp>
      <p:sp>
        <p:nvSpPr>
          <p:cNvPr id="28" name="Rectangle: Rounded Corners 10">
            <a:extLst>
              <a:ext uri="{FF2B5EF4-FFF2-40B4-BE49-F238E27FC236}">
                <a16:creationId xmlns:a16="http://schemas.microsoft.com/office/drawing/2014/main" id="{964A343D-F34D-BCC6-2AEB-596D2C1D3A46}"/>
              </a:ext>
            </a:extLst>
          </p:cNvPr>
          <p:cNvSpPr/>
          <p:nvPr/>
        </p:nvSpPr>
        <p:spPr>
          <a:xfrm>
            <a:off x="1920240" y="1609840"/>
            <a:ext cx="670560" cy="6826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84</a:t>
            </a:r>
            <a:endParaRPr lang="en-IN" sz="3200" b="1" dirty="0"/>
          </a:p>
        </p:txBody>
      </p:sp>
      <p:sp>
        <p:nvSpPr>
          <p:cNvPr id="29" name="Rectangle: Rounded Corners 24">
            <a:extLst>
              <a:ext uri="{FF2B5EF4-FFF2-40B4-BE49-F238E27FC236}">
                <a16:creationId xmlns:a16="http://schemas.microsoft.com/office/drawing/2014/main" id="{EFE8BC60-9119-4691-D544-95C7B30A7709}"/>
              </a:ext>
            </a:extLst>
          </p:cNvPr>
          <p:cNvSpPr/>
          <p:nvPr/>
        </p:nvSpPr>
        <p:spPr>
          <a:xfrm>
            <a:off x="1828800" y="3429000"/>
            <a:ext cx="1146543" cy="7672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38</a:t>
            </a:r>
            <a:endParaRPr lang="en-IN" sz="4000" b="1" dirty="0"/>
          </a:p>
        </p:txBody>
      </p:sp>
      <p:sp>
        <p:nvSpPr>
          <p:cNvPr id="30" name="Rectangle: Rounded Corners 24">
            <a:extLst>
              <a:ext uri="{FF2B5EF4-FFF2-40B4-BE49-F238E27FC236}">
                <a16:creationId xmlns:a16="http://schemas.microsoft.com/office/drawing/2014/main" id="{428B7FB3-B30F-CBE6-193A-5D9C0DB27063}"/>
              </a:ext>
            </a:extLst>
          </p:cNvPr>
          <p:cNvSpPr/>
          <p:nvPr/>
        </p:nvSpPr>
        <p:spPr>
          <a:xfrm>
            <a:off x="3712463" y="3429000"/>
            <a:ext cx="1146543" cy="7672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42</a:t>
            </a:r>
            <a:endParaRPr lang="en-IN" sz="4000" b="1" dirty="0"/>
          </a:p>
        </p:txBody>
      </p:sp>
      <p:sp>
        <p:nvSpPr>
          <p:cNvPr id="31" name="Rectangle: Rounded Corners 24">
            <a:extLst>
              <a:ext uri="{FF2B5EF4-FFF2-40B4-BE49-F238E27FC236}">
                <a16:creationId xmlns:a16="http://schemas.microsoft.com/office/drawing/2014/main" id="{1CBD10E9-478D-E831-ADDC-1489385B4FE6}"/>
              </a:ext>
            </a:extLst>
          </p:cNvPr>
          <p:cNvSpPr/>
          <p:nvPr/>
        </p:nvSpPr>
        <p:spPr>
          <a:xfrm>
            <a:off x="5586984" y="3429000"/>
            <a:ext cx="1146543" cy="7672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83</a:t>
            </a:r>
            <a:endParaRPr lang="en-IN" sz="4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306B78-D66B-B928-1168-F53884A69BEF}"/>
              </a:ext>
            </a:extLst>
          </p:cNvPr>
          <p:cNvSpPr txBox="1"/>
          <p:nvPr/>
        </p:nvSpPr>
        <p:spPr>
          <a:xfrm>
            <a:off x="8229600" y="731520"/>
            <a:ext cx="3593592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lang="en-US" sz="1300" b="1" i="0" dirty="0">
                <a:solidFill>
                  <a:srgbClr val="1B2A44"/>
                </a:solidFill>
              </a:rPr>
              <a:t>Instruction: </a:t>
            </a:r>
            <a:r>
              <a:rPr lang="hi-IN" sz="1200" dirty="0">
                <a:solidFill>
                  <a:srgbClr val="1B2A44"/>
                </a:solidFill>
              </a:rPr>
              <a:t>संख्याएँ</a:t>
            </a:r>
            <a:r>
              <a:rPr lang="hi-IN" sz="1300" b="0" i="0" dirty="0">
                <a:solidFill>
                  <a:srgbClr val="1B2A44"/>
                </a:solidFill>
              </a:rPr>
              <a:t> घटाइए।</a:t>
            </a:r>
          </a:p>
          <a:p>
            <a:endParaRPr lang="hi-IN" sz="1300" b="0" i="0" dirty="0">
              <a:solidFill>
                <a:srgbClr val="1B2A44"/>
              </a:solidFill>
            </a:endParaRPr>
          </a:p>
          <a:p>
            <a:r>
              <a:rPr lang="en-US" sz="1300" b="1" i="0" dirty="0">
                <a:solidFill>
                  <a:srgbClr val="1B2A44"/>
                </a:solidFill>
              </a:rPr>
              <a:t>Equation: replace this screen with the shown screen:</a:t>
            </a:r>
          </a:p>
          <a:p>
            <a:endParaRPr lang="hi-IN" sz="1300" b="0" i="0" dirty="0">
              <a:solidFill>
                <a:srgbClr val="1B2A44"/>
              </a:solidFill>
            </a:endParaRPr>
          </a:p>
          <a:p>
            <a:r>
              <a:rPr lang="en-US" sz="1300" b="0" i="0" dirty="0">
                <a:solidFill>
                  <a:srgbClr val="1B2A44"/>
                </a:solidFill>
              </a:rPr>
              <a:t>VO: 84</a:t>
            </a:r>
            <a:r>
              <a:rPr lang="hi-IN" sz="1300" b="0" i="0" dirty="0">
                <a:solidFill>
                  <a:srgbClr val="1B2A44"/>
                </a:solidFill>
              </a:rPr>
              <a:t> में से </a:t>
            </a:r>
            <a:r>
              <a:rPr lang="en-US" sz="1300" b="0" i="0" dirty="0">
                <a:solidFill>
                  <a:srgbClr val="1B2A44"/>
                </a:solidFill>
              </a:rPr>
              <a:t>46</a:t>
            </a:r>
            <a:r>
              <a:rPr lang="hi-IN" sz="1300" b="0" i="0" dirty="0">
                <a:solidFill>
                  <a:srgbClr val="1B2A44"/>
                </a:solidFill>
              </a:rPr>
              <a:t> घटाइए</a:t>
            </a:r>
            <a:r>
              <a:rPr lang="en-US" sz="1300" b="0" i="0" dirty="0">
                <a:solidFill>
                  <a:srgbClr val="1B2A44"/>
                </a:solidFill>
              </a:rPr>
              <a:t> </a:t>
            </a:r>
            <a:r>
              <a:rPr lang="hi-IN" sz="1300" b="0" i="0" dirty="0">
                <a:solidFill>
                  <a:srgbClr val="1B2A44"/>
                </a:solidFill>
              </a:rPr>
              <a:t>और सही संख्या चुनिए।</a:t>
            </a:r>
          </a:p>
          <a:p>
            <a:endParaRPr lang="hi-IN" sz="1300" b="0" i="0" dirty="0">
              <a:solidFill>
                <a:srgbClr val="1B2A44"/>
              </a:solidFill>
            </a:endParaRPr>
          </a:p>
          <a:p>
            <a:endParaRPr lang="hi-IN" sz="1300" b="0" i="0" dirty="0">
              <a:solidFill>
                <a:srgbClr val="1B2A44"/>
              </a:solidFill>
            </a:endParaRPr>
          </a:p>
          <a:p>
            <a:pPr lvl="0">
              <a:defRPr/>
            </a:pPr>
            <a:r>
              <a:rPr lang="en-GB" sz="1400" dirty="0">
                <a:solidFill>
                  <a:srgbClr val="1B2A44"/>
                </a:solidFill>
              </a:rPr>
              <a:t>Hint: If the child choose </a:t>
            </a:r>
            <a:r>
              <a:rPr lang="en-US" sz="1400" dirty="0">
                <a:solidFill>
                  <a:srgbClr val="1B2A44"/>
                </a:solidFill>
              </a:rPr>
              <a:t>38</a:t>
            </a:r>
            <a:r>
              <a:rPr lang="en-GB" sz="1400" dirty="0">
                <a:solidFill>
                  <a:srgbClr val="1B2A44"/>
                </a:solidFill>
              </a:rPr>
              <a:t>, the VO</a:t>
            </a:r>
          </a:p>
          <a:p>
            <a:pPr lvl="0">
              <a:defRPr/>
            </a:pPr>
            <a:r>
              <a:rPr lang="hi-IN" sz="1400" dirty="0">
                <a:solidFill>
                  <a:srgbClr val="1B2A44"/>
                </a:solidFill>
              </a:rPr>
              <a:t>शाबाश! आपने सही संख्या चुन ली। </a:t>
            </a:r>
            <a:r>
              <a:rPr lang="en-US" sz="1400" dirty="0">
                <a:solidFill>
                  <a:srgbClr val="1B2A44"/>
                </a:solidFill>
              </a:rPr>
              <a:t>84</a:t>
            </a:r>
            <a:r>
              <a:rPr lang="hi-IN" sz="1400" dirty="0">
                <a:solidFill>
                  <a:srgbClr val="1B2A44"/>
                </a:solidFill>
              </a:rPr>
              <a:t> घटा </a:t>
            </a:r>
            <a:r>
              <a:rPr lang="en-US" sz="1400" dirty="0">
                <a:solidFill>
                  <a:srgbClr val="1B2A44"/>
                </a:solidFill>
              </a:rPr>
              <a:t>46 </a:t>
            </a:r>
            <a:r>
              <a:rPr lang="hi-IN" sz="1400" dirty="0">
                <a:solidFill>
                  <a:srgbClr val="1B2A44"/>
                </a:solidFill>
              </a:rPr>
              <a:t>बराबर </a:t>
            </a:r>
            <a:r>
              <a:rPr lang="en-US" sz="1400" dirty="0">
                <a:solidFill>
                  <a:srgbClr val="1B2A44"/>
                </a:solidFill>
              </a:rPr>
              <a:t>38</a:t>
            </a:r>
            <a:r>
              <a:rPr lang="hi-IN" sz="1400" dirty="0">
                <a:solidFill>
                  <a:srgbClr val="1B2A44"/>
                </a:solidFill>
              </a:rPr>
              <a:t>।  [</a:t>
            </a:r>
            <a:r>
              <a:rPr lang="en-GB" sz="1400" dirty="0">
                <a:solidFill>
                  <a:srgbClr val="1B2A44"/>
                </a:solidFill>
              </a:rPr>
              <a:t>Number Sync with VO]</a:t>
            </a:r>
            <a:endParaRPr lang="en-GB" sz="1400" dirty="0">
              <a:solidFill>
                <a:srgbClr val="1B2A44"/>
              </a:solidFill>
              <a:cs typeface="Mangal" panose="02040503050203030202" pitchFamily="18" charset="0"/>
            </a:endParaRPr>
          </a:p>
          <a:p>
            <a:pPr lvl="0">
              <a:defRPr/>
            </a:pPr>
            <a:endParaRPr lang="en-GB" sz="1400" dirty="0">
              <a:solidFill>
                <a:srgbClr val="1B2A44"/>
              </a:solidFill>
            </a:endParaRPr>
          </a:p>
          <a:p>
            <a:pPr lvl="0">
              <a:defRPr/>
            </a:pPr>
            <a:r>
              <a:rPr lang="en-GB" sz="1400" dirty="0">
                <a:solidFill>
                  <a:srgbClr val="1B2A44"/>
                </a:solidFill>
              </a:rPr>
              <a:t>If the child choose </a:t>
            </a:r>
            <a:r>
              <a:rPr lang="en-US" sz="1400" dirty="0">
                <a:solidFill>
                  <a:srgbClr val="1B2A44"/>
                </a:solidFill>
              </a:rPr>
              <a:t>42 or 83</a:t>
            </a:r>
            <a:r>
              <a:rPr lang="en-GB" sz="1400" dirty="0">
                <a:solidFill>
                  <a:srgbClr val="1B2A44"/>
                </a:solidFill>
              </a:rPr>
              <a:t>, the VO: </a:t>
            </a:r>
            <a:r>
              <a:rPr lang="hi-IN" sz="1400" dirty="0">
                <a:solidFill>
                  <a:srgbClr val="1B2A44"/>
                </a:solidFill>
              </a:rPr>
              <a:t>फिर से घटाइए। </a:t>
            </a:r>
          </a:p>
          <a:p>
            <a:pPr lvl="0">
              <a:defRPr/>
            </a:pPr>
            <a:r>
              <a:rPr lang="en-GB" sz="1400" dirty="0">
                <a:solidFill>
                  <a:srgbClr val="1B2A44"/>
                </a:solidFill>
              </a:rPr>
              <a:t>If the child choose </a:t>
            </a:r>
            <a:r>
              <a:rPr lang="en-US" sz="1400" dirty="0">
                <a:solidFill>
                  <a:srgbClr val="1B2A44"/>
                </a:solidFill>
              </a:rPr>
              <a:t>42 or 83</a:t>
            </a:r>
            <a:r>
              <a:rPr lang="en-GB" sz="1400" dirty="0">
                <a:solidFill>
                  <a:srgbClr val="1B2A44"/>
                </a:solidFill>
              </a:rPr>
              <a:t>, the VO: </a:t>
            </a:r>
            <a:r>
              <a:rPr lang="en-US" sz="1400" dirty="0">
                <a:solidFill>
                  <a:srgbClr val="1B2A44"/>
                </a:solidFill>
              </a:rPr>
              <a:t>84</a:t>
            </a:r>
            <a:r>
              <a:rPr lang="hi-IN" sz="1400" dirty="0">
                <a:solidFill>
                  <a:srgbClr val="1B2A44"/>
                </a:solidFill>
              </a:rPr>
              <a:t> मे से </a:t>
            </a:r>
            <a:r>
              <a:rPr lang="en-US" sz="1400" dirty="0">
                <a:solidFill>
                  <a:srgbClr val="1B2A44"/>
                </a:solidFill>
              </a:rPr>
              <a:t>46</a:t>
            </a:r>
            <a:r>
              <a:rPr lang="hi-IN" sz="1400" dirty="0">
                <a:solidFill>
                  <a:srgbClr val="1B2A44"/>
                </a:solidFill>
              </a:rPr>
              <a:t> घटाने पर </a:t>
            </a:r>
            <a:r>
              <a:rPr lang="en-US" sz="1400" dirty="0">
                <a:solidFill>
                  <a:srgbClr val="1B2A44"/>
                </a:solidFill>
              </a:rPr>
              <a:t>38 </a:t>
            </a:r>
            <a:r>
              <a:rPr lang="hi-IN" sz="1400" dirty="0">
                <a:solidFill>
                  <a:srgbClr val="1B2A44"/>
                </a:solidFill>
              </a:rPr>
              <a:t>बचता है। तो सही संख्या यह है। </a:t>
            </a:r>
          </a:p>
          <a:p>
            <a:pPr lvl="0">
              <a:defRPr/>
            </a:pPr>
            <a:r>
              <a:rPr lang="en-GB" sz="1400" dirty="0">
                <a:solidFill>
                  <a:srgbClr val="1B2A44"/>
                </a:solidFill>
              </a:rPr>
              <a:t>Glow number </a:t>
            </a:r>
            <a:r>
              <a:rPr lang="en-US" sz="1400" dirty="0">
                <a:solidFill>
                  <a:srgbClr val="1B2A44"/>
                </a:solidFill>
              </a:rPr>
              <a:t>38</a:t>
            </a:r>
            <a:r>
              <a:rPr lang="hi-IN" sz="1400" dirty="0">
                <a:solidFill>
                  <a:srgbClr val="1B2A44"/>
                </a:solidFill>
              </a:rPr>
              <a:t> </a:t>
            </a:r>
            <a:r>
              <a:rPr lang="en-GB" sz="1400" dirty="0">
                <a:solidFill>
                  <a:srgbClr val="1B2A44"/>
                </a:solidFill>
              </a:rPr>
              <a:t>and other two non-clickable.</a:t>
            </a:r>
            <a:endParaRPr lang="hi-IN" sz="1300" b="0" i="0" dirty="0">
              <a:solidFill>
                <a:srgbClr val="1B2A44"/>
              </a:solidFill>
            </a:endParaRPr>
          </a:p>
        </p:txBody>
      </p:sp>
      <p:sp>
        <p:nvSpPr>
          <p:cNvPr id="34" name="Rectangle: Rounded Corners 10">
            <a:extLst>
              <a:ext uri="{FF2B5EF4-FFF2-40B4-BE49-F238E27FC236}">
                <a16:creationId xmlns:a16="http://schemas.microsoft.com/office/drawing/2014/main" id="{DE186462-41A1-F0C9-7C55-B3ECF3AFCF6E}"/>
              </a:ext>
            </a:extLst>
          </p:cNvPr>
          <p:cNvSpPr/>
          <p:nvPr/>
        </p:nvSpPr>
        <p:spPr>
          <a:xfrm>
            <a:off x="2773680" y="1715978"/>
            <a:ext cx="670560" cy="47042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−</a:t>
            </a:r>
            <a:endParaRPr lang="en-IN" sz="3200" b="1" dirty="0"/>
          </a:p>
        </p:txBody>
      </p:sp>
      <p:sp>
        <p:nvSpPr>
          <p:cNvPr id="37" name="Rectangle: Rounded Corners 10">
            <a:extLst>
              <a:ext uri="{FF2B5EF4-FFF2-40B4-BE49-F238E27FC236}">
                <a16:creationId xmlns:a16="http://schemas.microsoft.com/office/drawing/2014/main" id="{889A617D-F0D3-3EC5-152D-C75BF1C33918}"/>
              </a:ext>
            </a:extLst>
          </p:cNvPr>
          <p:cNvSpPr/>
          <p:nvPr/>
        </p:nvSpPr>
        <p:spPr>
          <a:xfrm>
            <a:off x="3627120" y="1609840"/>
            <a:ext cx="670560" cy="6826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46</a:t>
            </a:r>
            <a:endParaRPr lang="en-IN" sz="3200" b="1" dirty="0"/>
          </a:p>
        </p:txBody>
      </p:sp>
      <p:sp>
        <p:nvSpPr>
          <p:cNvPr id="39" name="Rectangle: Rounded Corners 10">
            <a:extLst>
              <a:ext uri="{FF2B5EF4-FFF2-40B4-BE49-F238E27FC236}">
                <a16:creationId xmlns:a16="http://schemas.microsoft.com/office/drawing/2014/main" id="{655359C7-C8D8-CEE6-2038-D327CAB8D2FF}"/>
              </a:ext>
            </a:extLst>
          </p:cNvPr>
          <p:cNvSpPr/>
          <p:nvPr/>
        </p:nvSpPr>
        <p:spPr>
          <a:xfrm>
            <a:off x="5334000" y="1609840"/>
            <a:ext cx="670560" cy="6826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>
                    <a:lumMod val="85000"/>
                  </a:schemeClr>
                </a:solidFill>
              </a:rPr>
              <a:t>?</a:t>
            </a:r>
          </a:p>
        </p:txBody>
      </p:sp>
      <p:sp>
        <p:nvSpPr>
          <p:cNvPr id="40" name="Rectangle: Rounded Corners 10">
            <a:extLst>
              <a:ext uri="{FF2B5EF4-FFF2-40B4-BE49-F238E27FC236}">
                <a16:creationId xmlns:a16="http://schemas.microsoft.com/office/drawing/2014/main" id="{2A496592-816E-9808-3D21-78861585D291}"/>
              </a:ext>
            </a:extLst>
          </p:cNvPr>
          <p:cNvSpPr/>
          <p:nvPr/>
        </p:nvSpPr>
        <p:spPr>
          <a:xfrm>
            <a:off x="4480560" y="1715978"/>
            <a:ext cx="670560" cy="47042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=</a:t>
            </a:r>
            <a:endParaRPr lang="en-IN" sz="3200" b="1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E1851F13-B687-0EB4-30D9-C8DE6CC36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323580"/>
              </p:ext>
            </p:extLst>
          </p:nvPr>
        </p:nvGraphicFramePr>
        <p:xfrm>
          <a:off x="-1693536" y="4864912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2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2A59E134-B0A4-B2FE-2787-A2FB9293DF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1207843" y="5328788"/>
            <a:ext cx="246888" cy="1179576"/>
          </a:xfrm>
          <a:prstGeom prst="rect">
            <a:avLst/>
          </a:prstGeom>
        </p:spPr>
      </p:pic>
      <p:pic>
        <p:nvPicPr>
          <p:cNvPr id="43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15807775-FD05-6306-F85A-95ACE60651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995519" y="5328788"/>
            <a:ext cx="246888" cy="1179576"/>
          </a:xfrm>
          <a:prstGeom prst="rect">
            <a:avLst/>
          </a:prstGeom>
        </p:spPr>
      </p:pic>
      <p:graphicFrame>
        <p:nvGraphicFramePr>
          <p:cNvPr id="44" name="Table 6">
            <a:extLst>
              <a:ext uri="{FF2B5EF4-FFF2-40B4-BE49-F238E27FC236}">
                <a16:creationId xmlns:a16="http://schemas.microsoft.com/office/drawing/2014/main" id="{48325FED-6FF1-571A-2E27-398451FB8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77539"/>
              </p:ext>
            </p:extLst>
          </p:nvPr>
        </p:nvGraphicFramePr>
        <p:xfrm>
          <a:off x="4990114" y="4858286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5" name="Picture 44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74188D53-A5D3-62C4-864A-3ED0D85E9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634" y="5809262"/>
            <a:ext cx="256032" cy="219456"/>
          </a:xfrm>
          <a:prstGeom prst="rect">
            <a:avLst/>
          </a:prstGeom>
        </p:spPr>
      </p:pic>
      <p:pic>
        <p:nvPicPr>
          <p:cNvPr id="4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FCF53D2A-0B7C-068D-74AA-68399F626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946" y="5809262"/>
            <a:ext cx="256032" cy="219456"/>
          </a:xfrm>
          <a:prstGeom prst="rect">
            <a:avLst/>
          </a:prstGeom>
        </p:spPr>
      </p:pic>
      <p:pic>
        <p:nvPicPr>
          <p:cNvPr id="47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201DCBE8-00E2-8576-8D8D-BE4137245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258" y="5809262"/>
            <a:ext cx="256032" cy="219456"/>
          </a:xfrm>
          <a:prstGeom prst="rect">
            <a:avLst/>
          </a:prstGeom>
        </p:spPr>
      </p:pic>
      <p:pic>
        <p:nvPicPr>
          <p:cNvPr id="48" name="Picture 47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8D1E29DE-8A93-348D-B0B5-645AB1BD6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570" y="5809262"/>
            <a:ext cx="256032" cy="219456"/>
          </a:xfrm>
          <a:prstGeom prst="rect">
            <a:avLst/>
          </a:prstGeom>
        </p:spPr>
      </p:pic>
      <p:pic>
        <p:nvPicPr>
          <p:cNvPr id="4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4C657C9E-F08A-7586-EADC-6357F779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5882" y="5809262"/>
            <a:ext cx="256032" cy="219456"/>
          </a:xfrm>
          <a:prstGeom prst="rect">
            <a:avLst/>
          </a:prstGeom>
        </p:spPr>
      </p:pic>
      <p:pic>
        <p:nvPicPr>
          <p:cNvPr id="50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9DB06AB6-60A5-5F28-F975-9E6B92255C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741753" y="5305928"/>
            <a:ext cx="246888" cy="1179576"/>
          </a:xfrm>
          <a:prstGeom prst="rect">
            <a:avLst/>
          </a:prstGeom>
        </p:spPr>
      </p:pic>
      <p:pic>
        <p:nvPicPr>
          <p:cNvPr id="51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5AEB18F7-BA22-E98A-4F18-3B6BDB95CC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466103" y="5319711"/>
            <a:ext cx="246888" cy="1179576"/>
          </a:xfrm>
          <a:prstGeom prst="rect">
            <a:avLst/>
          </a:prstGeom>
        </p:spPr>
      </p:pic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2D37D1D8-4DA9-17E9-E372-B2E60CF98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894128"/>
              </p:ext>
            </p:extLst>
          </p:nvPr>
        </p:nvGraphicFramePr>
        <p:xfrm>
          <a:off x="1590197" y="4815977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14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3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3A45998F-8902-8359-993E-871CF5B6DF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1649768" y="5256993"/>
            <a:ext cx="246888" cy="1179576"/>
          </a:xfrm>
          <a:prstGeom prst="rect">
            <a:avLst/>
          </a:prstGeom>
        </p:spPr>
      </p:pic>
      <p:pic>
        <p:nvPicPr>
          <p:cNvPr id="54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5DBF42E0-54E8-D661-2A0E-0563DDD565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1877332" y="5256993"/>
            <a:ext cx="246888" cy="1179576"/>
          </a:xfrm>
          <a:prstGeom prst="rect">
            <a:avLst/>
          </a:prstGeom>
        </p:spPr>
      </p:pic>
      <p:pic>
        <p:nvPicPr>
          <p:cNvPr id="55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96E0D41B-5352-7756-C1D5-EB97F87142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2101360" y="5256993"/>
            <a:ext cx="246888" cy="1179576"/>
          </a:xfrm>
          <a:prstGeom prst="rect">
            <a:avLst/>
          </a:prstGeom>
        </p:spPr>
      </p:pic>
      <p:pic>
        <p:nvPicPr>
          <p:cNvPr id="5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D0BAD82E-4F6E-67CF-F5EB-88642DD66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108" y="5333501"/>
            <a:ext cx="256032" cy="219456"/>
          </a:xfrm>
          <a:prstGeom prst="rect">
            <a:avLst/>
          </a:prstGeom>
        </p:spPr>
      </p:pic>
      <p:pic>
        <p:nvPicPr>
          <p:cNvPr id="57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CF5D5B36-8FC5-2A9A-98A5-F0CB5AD99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420" y="5333501"/>
            <a:ext cx="256032" cy="219456"/>
          </a:xfrm>
          <a:prstGeom prst="rect">
            <a:avLst/>
          </a:prstGeom>
        </p:spPr>
      </p:pic>
      <p:pic>
        <p:nvPicPr>
          <p:cNvPr id="58" name="Picture 57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5117126A-F9A2-A0DB-A6A8-93DC20C46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732" y="5333501"/>
            <a:ext cx="256032" cy="219456"/>
          </a:xfrm>
          <a:prstGeom prst="rect">
            <a:avLst/>
          </a:prstGeom>
        </p:spPr>
      </p:pic>
      <p:pic>
        <p:nvPicPr>
          <p:cNvPr id="59" name="Picture 58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C9EF790E-D759-BBD5-5FA3-4FEFDE854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044" y="5333501"/>
            <a:ext cx="256032" cy="219456"/>
          </a:xfrm>
          <a:prstGeom prst="rect">
            <a:avLst/>
          </a:prstGeom>
        </p:spPr>
      </p:pic>
      <p:pic>
        <p:nvPicPr>
          <p:cNvPr id="60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3E4EF7A9-4AB1-892A-F671-B458063AC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356" y="5334364"/>
            <a:ext cx="256032" cy="219456"/>
          </a:xfrm>
          <a:prstGeom prst="rect">
            <a:avLst/>
          </a:prstGeom>
        </p:spPr>
      </p:pic>
      <p:pic>
        <p:nvPicPr>
          <p:cNvPr id="6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7FE4CA20-E88A-ACCD-BB71-105613825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108" y="5543138"/>
            <a:ext cx="256032" cy="219456"/>
          </a:xfrm>
          <a:prstGeom prst="rect">
            <a:avLst/>
          </a:prstGeom>
        </p:spPr>
      </p:pic>
      <p:pic>
        <p:nvPicPr>
          <p:cNvPr id="62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BA9AF221-9A95-E766-8D25-8570E47B5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420" y="5543138"/>
            <a:ext cx="256032" cy="219456"/>
          </a:xfrm>
          <a:prstGeom prst="rect">
            <a:avLst/>
          </a:prstGeom>
        </p:spPr>
      </p:pic>
      <p:pic>
        <p:nvPicPr>
          <p:cNvPr id="63" name="Picture 62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7DE69600-FEB3-890C-244D-F90469B18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732" y="5543138"/>
            <a:ext cx="256032" cy="219456"/>
          </a:xfrm>
          <a:prstGeom prst="rect">
            <a:avLst/>
          </a:prstGeom>
        </p:spPr>
      </p:pic>
      <p:pic>
        <p:nvPicPr>
          <p:cNvPr id="64" name="Picture 63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B78F4875-A7D3-197A-1184-F7C00B0A1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044" y="5543138"/>
            <a:ext cx="256032" cy="219456"/>
          </a:xfrm>
          <a:prstGeom prst="rect">
            <a:avLst/>
          </a:prstGeom>
        </p:spPr>
      </p:pic>
      <p:pic>
        <p:nvPicPr>
          <p:cNvPr id="65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E4FB4789-3556-9021-1C81-740822014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356" y="5544001"/>
            <a:ext cx="256032" cy="219456"/>
          </a:xfrm>
          <a:prstGeom prst="rect">
            <a:avLst/>
          </a:prstGeom>
        </p:spPr>
      </p:pic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D492E40-77B2-37B9-8E80-59BA734EC46D}"/>
              </a:ext>
            </a:extLst>
          </p:cNvPr>
          <p:cNvSpPr/>
          <p:nvPr/>
        </p:nvSpPr>
        <p:spPr>
          <a:xfrm>
            <a:off x="3386577" y="5305928"/>
            <a:ext cx="1125003" cy="462762"/>
          </a:xfrm>
          <a:prstGeom prst="roundRect">
            <a:avLst>
              <a:gd name="adj" fmla="val 1710"/>
            </a:avLst>
          </a:prstGeom>
          <a:noFill/>
          <a:ln w="19050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7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6D5FEC15-F25D-4B6A-8F66-8C7791AA6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0097" y="5791411"/>
            <a:ext cx="256032" cy="219456"/>
          </a:xfrm>
          <a:prstGeom prst="rect">
            <a:avLst/>
          </a:prstGeom>
        </p:spPr>
      </p:pic>
      <p:pic>
        <p:nvPicPr>
          <p:cNvPr id="68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D0FC2A52-4D74-4EDC-2886-5F7B15E89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7392" y="5781090"/>
            <a:ext cx="256032" cy="219456"/>
          </a:xfrm>
          <a:prstGeom prst="rect">
            <a:avLst/>
          </a:prstGeom>
        </p:spPr>
      </p:pic>
      <p:pic>
        <p:nvPicPr>
          <p:cNvPr id="69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DA721BA4-4772-434F-1A6A-713E9F7191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1389230" y="5353519"/>
            <a:ext cx="246888" cy="1179576"/>
          </a:xfrm>
          <a:prstGeom prst="rect">
            <a:avLst/>
          </a:prstGeom>
        </p:spPr>
      </p:pic>
      <p:pic>
        <p:nvPicPr>
          <p:cNvPr id="70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92112880-174D-183E-2186-11D780513D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1573142" y="5353519"/>
            <a:ext cx="246888" cy="1179576"/>
          </a:xfrm>
          <a:prstGeom prst="rect">
            <a:avLst/>
          </a:prstGeom>
        </p:spPr>
      </p:pic>
      <p:pic>
        <p:nvPicPr>
          <p:cNvPr id="71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1C172287-D7E7-1EF7-02AE-B3D6F3084A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2336310" y="5251049"/>
            <a:ext cx="246888" cy="1179576"/>
          </a:xfrm>
          <a:prstGeom prst="rect">
            <a:avLst/>
          </a:prstGeom>
        </p:spPr>
      </p:pic>
      <p:pic>
        <p:nvPicPr>
          <p:cNvPr id="72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D43758B8-87B9-D434-C636-9A6CA85163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2563874" y="5251049"/>
            <a:ext cx="246888" cy="1179576"/>
          </a:xfrm>
          <a:prstGeom prst="rect">
            <a:avLst/>
          </a:prstGeom>
        </p:spPr>
      </p:pic>
      <p:pic>
        <p:nvPicPr>
          <p:cNvPr id="7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8EAA6BF8-2D03-F6EC-CEE3-4690489ED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01" y="5699120"/>
            <a:ext cx="256032" cy="219456"/>
          </a:xfrm>
          <a:prstGeom prst="rect">
            <a:avLst/>
          </a:prstGeom>
        </p:spPr>
      </p:pic>
      <p:pic>
        <p:nvPicPr>
          <p:cNvPr id="77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B8299281-C671-BFC4-4B66-1955597A44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1788509" y="5328788"/>
            <a:ext cx="246888" cy="1179576"/>
          </a:xfrm>
          <a:prstGeom prst="rect">
            <a:avLst/>
          </a:prstGeom>
        </p:spPr>
      </p:pic>
      <p:pic>
        <p:nvPicPr>
          <p:cNvPr id="78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44CA9CD7-6737-0947-F09D-6ABBB97F62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2001790" y="5333501"/>
            <a:ext cx="246888" cy="1179576"/>
          </a:xfrm>
          <a:prstGeom prst="rect">
            <a:avLst/>
          </a:prstGeom>
        </p:spPr>
      </p:pic>
      <p:pic>
        <p:nvPicPr>
          <p:cNvPr id="79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8F7E982E-0A00-20C3-7DEC-64531FD48C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2797219" y="5256993"/>
            <a:ext cx="246888" cy="1179576"/>
          </a:xfrm>
          <a:prstGeom prst="rect">
            <a:avLst/>
          </a:prstGeom>
        </p:spPr>
      </p:pic>
      <p:pic>
        <p:nvPicPr>
          <p:cNvPr id="8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66E233F3-E234-3366-1A2C-02E174CD7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419" y="5799771"/>
            <a:ext cx="256032" cy="219456"/>
          </a:xfrm>
          <a:prstGeom prst="rect">
            <a:avLst/>
          </a:prstGeom>
        </p:spPr>
      </p:pic>
      <p:pic>
        <p:nvPicPr>
          <p:cNvPr id="84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D724AA06-AB04-467C-A0B0-663ED5AC3B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5881191" y="5337279"/>
            <a:ext cx="246888" cy="1179576"/>
          </a:xfrm>
          <a:prstGeom prst="rect">
            <a:avLst/>
          </a:prstGeom>
        </p:spPr>
      </p:pic>
      <p:pic>
        <p:nvPicPr>
          <p:cNvPr id="85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ACD7F25A-EB88-D243-5D2B-5983121C1C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5639841" y="5351789"/>
            <a:ext cx="246888" cy="1179576"/>
          </a:xfrm>
          <a:prstGeom prst="rect">
            <a:avLst/>
          </a:prstGeom>
        </p:spPr>
      </p:pic>
      <p:pic>
        <p:nvPicPr>
          <p:cNvPr id="86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8AB14FE8-12D3-CEEB-FE65-8C45600265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5436487" y="5360866"/>
            <a:ext cx="246888" cy="1179576"/>
          </a:xfrm>
          <a:prstGeom prst="rect">
            <a:avLst/>
          </a:prstGeom>
        </p:spPr>
      </p:pic>
      <p:pic>
        <p:nvPicPr>
          <p:cNvPr id="87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AD366F40-EE32-C6EC-E4B5-3400BB224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18" y="5687931"/>
            <a:ext cx="256032" cy="219456"/>
          </a:xfrm>
          <a:prstGeom prst="rect">
            <a:avLst/>
          </a:prstGeom>
        </p:spPr>
      </p:pic>
      <p:pic>
        <p:nvPicPr>
          <p:cNvPr id="88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F493EF80-4909-7E49-C889-0C8DB8075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42" y="5670333"/>
            <a:ext cx="256032" cy="219456"/>
          </a:xfrm>
          <a:prstGeom prst="rect">
            <a:avLst/>
          </a:prstGeom>
        </p:spPr>
      </p:pic>
      <p:pic>
        <p:nvPicPr>
          <p:cNvPr id="8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56B4F27D-1D70-D532-C029-48F770FA0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7" y="5660587"/>
            <a:ext cx="256032" cy="219456"/>
          </a:xfrm>
          <a:prstGeom prst="rect">
            <a:avLst/>
          </a:prstGeom>
        </p:spPr>
      </p:pic>
      <p:pic>
        <p:nvPicPr>
          <p:cNvPr id="90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6D572A8C-CAAA-16A4-69E2-6A2E4413E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210" y="5791118"/>
            <a:ext cx="256032" cy="219456"/>
          </a:xfrm>
          <a:prstGeom prst="rect">
            <a:avLst/>
          </a:prstGeom>
        </p:spPr>
      </p:pic>
      <p:pic>
        <p:nvPicPr>
          <p:cNvPr id="9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DD4FEC8F-9D4F-C210-379D-97EA6DCB0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48" y="5770315"/>
            <a:ext cx="256032" cy="219456"/>
          </a:xfrm>
          <a:prstGeom prst="rect">
            <a:avLst/>
          </a:prstGeom>
        </p:spPr>
      </p:pic>
      <p:pic>
        <p:nvPicPr>
          <p:cNvPr id="92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55EF6C84-9678-85E0-97D7-C249622C1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875" y="5809262"/>
            <a:ext cx="256032" cy="219456"/>
          </a:xfrm>
          <a:prstGeom prst="rect">
            <a:avLst/>
          </a:prstGeom>
        </p:spPr>
      </p:pic>
      <p:pic>
        <p:nvPicPr>
          <p:cNvPr id="93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200E2A0A-4611-918C-3F66-AFB03F21B5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3021053" y="5256993"/>
            <a:ext cx="246888" cy="1179576"/>
          </a:xfrm>
          <a:prstGeom prst="rect">
            <a:avLst/>
          </a:prstGeom>
        </p:spPr>
      </p:pic>
      <p:pic>
        <p:nvPicPr>
          <p:cNvPr id="9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77CF37EC-8A9B-C68F-7D18-5C63E25C2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8389" y="5985550"/>
            <a:ext cx="25603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11 · 11_MAKE_SET.png</a:t>
            </a:r>
          </a:p>
        </p:txBody>
      </p:sp>
      <p:pic>
        <p:nvPicPr>
          <p:cNvPr id="3" name="Picture 2" descr="11_MAKE_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00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D80FB3A-854D-8AF4-60C0-9DF6E03A3132}"/>
              </a:ext>
            </a:extLst>
          </p:cNvPr>
          <p:cNvSpPr/>
          <p:nvPr/>
        </p:nvSpPr>
        <p:spPr>
          <a:xfrm>
            <a:off x="490974" y="1607820"/>
            <a:ext cx="7220466" cy="294894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C9B566-B73A-D66D-AC81-48716A9A1F02}"/>
              </a:ext>
            </a:extLst>
          </p:cNvPr>
          <p:cNvSpPr txBox="1"/>
          <p:nvPr/>
        </p:nvSpPr>
        <p:spPr>
          <a:xfrm>
            <a:off x="1344168" y="1051560"/>
            <a:ext cx="493776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hi-IN" dirty="0">
                <a:solidFill>
                  <a:srgbClr val="1B2A44"/>
                </a:solidFill>
              </a:rPr>
              <a:t>संख्याएँ</a:t>
            </a:r>
            <a:r>
              <a:rPr lang="hi-IN" sz="1800" dirty="0">
                <a:solidFill>
                  <a:srgbClr val="1B2A44"/>
                </a:solidFill>
              </a:rPr>
              <a:t> घटाइए।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8057A630-16C2-FDB2-93B7-5D42A8C8B334}"/>
              </a:ext>
            </a:extLst>
          </p:cNvPr>
          <p:cNvSpPr/>
          <p:nvPr/>
        </p:nvSpPr>
        <p:spPr>
          <a:xfrm>
            <a:off x="1920240" y="1609840"/>
            <a:ext cx="670560" cy="6826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91</a:t>
            </a:r>
            <a:endParaRPr lang="en-IN" sz="3200" b="1" dirty="0"/>
          </a:p>
        </p:txBody>
      </p:sp>
      <p:sp>
        <p:nvSpPr>
          <p:cNvPr id="8" name="Rectangle: Rounded Corners 24">
            <a:extLst>
              <a:ext uri="{FF2B5EF4-FFF2-40B4-BE49-F238E27FC236}">
                <a16:creationId xmlns:a16="http://schemas.microsoft.com/office/drawing/2014/main" id="{A878A48E-D398-98CE-EF57-B1AA50DBE9CF}"/>
              </a:ext>
            </a:extLst>
          </p:cNvPr>
          <p:cNvSpPr/>
          <p:nvPr/>
        </p:nvSpPr>
        <p:spPr>
          <a:xfrm>
            <a:off x="1828800" y="3429000"/>
            <a:ext cx="1146543" cy="7672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77</a:t>
            </a:r>
            <a:endParaRPr lang="en-IN" sz="4000" b="1" dirty="0"/>
          </a:p>
        </p:txBody>
      </p:sp>
      <p:sp>
        <p:nvSpPr>
          <p:cNvPr id="9" name="Rectangle: Rounded Corners 24">
            <a:extLst>
              <a:ext uri="{FF2B5EF4-FFF2-40B4-BE49-F238E27FC236}">
                <a16:creationId xmlns:a16="http://schemas.microsoft.com/office/drawing/2014/main" id="{828F4968-1071-58D3-C799-97B75A3D458B}"/>
              </a:ext>
            </a:extLst>
          </p:cNvPr>
          <p:cNvSpPr/>
          <p:nvPr/>
        </p:nvSpPr>
        <p:spPr>
          <a:xfrm>
            <a:off x="3712463" y="3429000"/>
            <a:ext cx="1146543" cy="7672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83</a:t>
            </a:r>
            <a:endParaRPr lang="en-IN" sz="4000" b="1" dirty="0"/>
          </a:p>
        </p:txBody>
      </p:sp>
      <p:sp>
        <p:nvSpPr>
          <p:cNvPr id="10" name="Rectangle: Rounded Corners 24">
            <a:extLst>
              <a:ext uri="{FF2B5EF4-FFF2-40B4-BE49-F238E27FC236}">
                <a16:creationId xmlns:a16="http://schemas.microsoft.com/office/drawing/2014/main" id="{9A74A976-DB9C-64D8-F836-C406C2E28C72}"/>
              </a:ext>
            </a:extLst>
          </p:cNvPr>
          <p:cNvSpPr/>
          <p:nvPr/>
        </p:nvSpPr>
        <p:spPr>
          <a:xfrm>
            <a:off x="5586984" y="3429000"/>
            <a:ext cx="1146543" cy="7672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87</a:t>
            </a:r>
            <a:endParaRPr lang="en-IN" sz="4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54B691-C03F-D719-94A6-7F8EA27CF04D}"/>
              </a:ext>
            </a:extLst>
          </p:cNvPr>
          <p:cNvSpPr txBox="1"/>
          <p:nvPr/>
        </p:nvSpPr>
        <p:spPr>
          <a:xfrm>
            <a:off x="8229600" y="731520"/>
            <a:ext cx="3593592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lang="en-US" sz="1300" b="1" i="0" dirty="0">
                <a:solidFill>
                  <a:srgbClr val="1B2A44"/>
                </a:solidFill>
              </a:rPr>
              <a:t>Instruction: </a:t>
            </a:r>
            <a:r>
              <a:rPr lang="hi-IN" sz="1200" dirty="0">
                <a:solidFill>
                  <a:srgbClr val="1B2A44"/>
                </a:solidFill>
              </a:rPr>
              <a:t>संख्याएँ</a:t>
            </a:r>
            <a:r>
              <a:rPr lang="hi-IN" sz="1300" b="0" i="0" dirty="0">
                <a:solidFill>
                  <a:srgbClr val="1B2A44"/>
                </a:solidFill>
              </a:rPr>
              <a:t> घटाइए।</a:t>
            </a:r>
          </a:p>
          <a:p>
            <a:endParaRPr lang="hi-IN" sz="1300" b="0" i="0" dirty="0">
              <a:solidFill>
                <a:srgbClr val="1B2A44"/>
              </a:solidFill>
            </a:endParaRPr>
          </a:p>
          <a:p>
            <a:r>
              <a:rPr lang="en-US" sz="1300" b="1" i="0" dirty="0">
                <a:solidFill>
                  <a:srgbClr val="1B2A44"/>
                </a:solidFill>
              </a:rPr>
              <a:t>Equation: replace this screen with the shown screen:</a:t>
            </a:r>
          </a:p>
          <a:p>
            <a:endParaRPr lang="hi-IN" sz="1300" b="0" i="0" dirty="0">
              <a:solidFill>
                <a:srgbClr val="1B2A44"/>
              </a:solidFill>
            </a:endParaRPr>
          </a:p>
          <a:p>
            <a:r>
              <a:rPr lang="en-US" sz="1300" b="0" i="0" dirty="0">
                <a:solidFill>
                  <a:srgbClr val="1B2A44"/>
                </a:solidFill>
              </a:rPr>
              <a:t>VO: 91</a:t>
            </a:r>
            <a:r>
              <a:rPr lang="hi-IN" sz="1300" b="0" i="0" dirty="0">
                <a:solidFill>
                  <a:srgbClr val="1B2A44"/>
                </a:solidFill>
              </a:rPr>
              <a:t> में से </a:t>
            </a:r>
            <a:r>
              <a:rPr lang="en-US" sz="1300" b="0" i="0" dirty="0">
                <a:solidFill>
                  <a:srgbClr val="1B2A44"/>
                </a:solidFill>
              </a:rPr>
              <a:t>14</a:t>
            </a:r>
            <a:r>
              <a:rPr lang="hi-IN" sz="1300" b="0" i="0" dirty="0">
                <a:solidFill>
                  <a:srgbClr val="1B2A44"/>
                </a:solidFill>
              </a:rPr>
              <a:t> घटाइए</a:t>
            </a:r>
            <a:r>
              <a:rPr lang="en-US" sz="1300" b="0" i="0" dirty="0">
                <a:solidFill>
                  <a:srgbClr val="1B2A44"/>
                </a:solidFill>
              </a:rPr>
              <a:t> </a:t>
            </a:r>
            <a:r>
              <a:rPr lang="hi-IN" sz="1300" b="0" i="0" dirty="0">
                <a:solidFill>
                  <a:srgbClr val="1B2A44"/>
                </a:solidFill>
              </a:rPr>
              <a:t>और सही संख्या चुनिए।</a:t>
            </a:r>
          </a:p>
          <a:p>
            <a:endParaRPr lang="hi-IN" sz="1300" b="0" i="0" dirty="0">
              <a:solidFill>
                <a:srgbClr val="1B2A44"/>
              </a:solidFill>
            </a:endParaRPr>
          </a:p>
          <a:p>
            <a:endParaRPr lang="hi-IN" sz="1300" b="0" i="0" dirty="0">
              <a:solidFill>
                <a:srgbClr val="1B2A44"/>
              </a:solidFill>
            </a:endParaRPr>
          </a:p>
          <a:p>
            <a:pPr lvl="0">
              <a:defRPr/>
            </a:pPr>
            <a:r>
              <a:rPr lang="en-GB" sz="1400" dirty="0">
                <a:solidFill>
                  <a:srgbClr val="1B2A44"/>
                </a:solidFill>
              </a:rPr>
              <a:t>Hint: If the child choose </a:t>
            </a:r>
            <a:r>
              <a:rPr lang="en-US" sz="1400" dirty="0">
                <a:solidFill>
                  <a:srgbClr val="1B2A44"/>
                </a:solidFill>
              </a:rPr>
              <a:t>77</a:t>
            </a:r>
            <a:r>
              <a:rPr lang="en-GB" sz="1400" dirty="0">
                <a:solidFill>
                  <a:srgbClr val="1B2A44"/>
                </a:solidFill>
              </a:rPr>
              <a:t>, the VO</a:t>
            </a:r>
          </a:p>
          <a:p>
            <a:pPr lvl="0">
              <a:defRPr/>
            </a:pPr>
            <a:r>
              <a:rPr lang="hi-IN" sz="1400" dirty="0">
                <a:solidFill>
                  <a:srgbClr val="1B2A44"/>
                </a:solidFill>
              </a:rPr>
              <a:t>शाबाश! आपने सही संख्या चुन ली। </a:t>
            </a:r>
            <a:r>
              <a:rPr lang="en-US" sz="1400" dirty="0">
                <a:solidFill>
                  <a:srgbClr val="1B2A44"/>
                </a:solidFill>
              </a:rPr>
              <a:t>91</a:t>
            </a:r>
            <a:r>
              <a:rPr lang="hi-IN" sz="1400" dirty="0">
                <a:solidFill>
                  <a:srgbClr val="1B2A44"/>
                </a:solidFill>
              </a:rPr>
              <a:t> घटा </a:t>
            </a:r>
            <a:r>
              <a:rPr lang="en-US" sz="1400" dirty="0">
                <a:solidFill>
                  <a:srgbClr val="1B2A44"/>
                </a:solidFill>
              </a:rPr>
              <a:t>14</a:t>
            </a:r>
            <a:r>
              <a:rPr lang="hi-IN" sz="1400" dirty="0">
                <a:solidFill>
                  <a:srgbClr val="1B2A44"/>
                </a:solidFill>
              </a:rPr>
              <a:t> बराबर </a:t>
            </a:r>
            <a:r>
              <a:rPr lang="en-US" sz="1400" dirty="0">
                <a:solidFill>
                  <a:srgbClr val="1B2A44"/>
                </a:solidFill>
              </a:rPr>
              <a:t>77</a:t>
            </a:r>
            <a:r>
              <a:rPr lang="hi-IN" sz="1400" dirty="0">
                <a:solidFill>
                  <a:srgbClr val="1B2A44"/>
                </a:solidFill>
              </a:rPr>
              <a:t>।  [</a:t>
            </a:r>
            <a:r>
              <a:rPr lang="en-GB" sz="1400" dirty="0">
                <a:solidFill>
                  <a:srgbClr val="1B2A44"/>
                </a:solidFill>
              </a:rPr>
              <a:t>Number Sync with VO]</a:t>
            </a:r>
            <a:endParaRPr lang="en-GB" sz="1400" dirty="0">
              <a:solidFill>
                <a:srgbClr val="1B2A44"/>
              </a:solidFill>
              <a:cs typeface="Mangal" panose="02040503050203030202" pitchFamily="18" charset="0"/>
            </a:endParaRPr>
          </a:p>
          <a:p>
            <a:pPr lvl="0">
              <a:defRPr/>
            </a:pPr>
            <a:endParaRPr lang="en-GB" sz="1400" dirty="0">
              <a:solidFill>
                <a:srgbClr val="1B2A44"/>
              </a:solidFill>
            </a:endParaRPr>
          </a:p>
          <a:p>
            <a:pPr lvl="0">
              <a:defRPr/>
            </a:pPr>
            <a:r>
              <a:rPr lang="en-GB" sz="1400" dirty="0">
                <a:solidFill>
                  <a:srgbClr val="1B2A44"/>
                </a:solidFill>
              </a:rPr>
              <a:t>If the child choose </a:t>
            </a:r>
            <a:r>
              <a:rPr lang="en-US" sz="1400" dirty="0">
                <a:solidFill>
                  <a:srgbClr val="1B2A44"/>
                </a:solidFill>
              </a:rPr>
              <a:t>83 or 87</a:t>
            </a:r>
            <a:r>
              <a:rPr lang="en-GB" sz="1400" dirty="0">
                <a:solidFill>
                  <a:srgbClr val="1B2A44"/>
                </a:solidFill>
              </a:rPr>
              <a:t>, the VO: </a:t>
            </a:r>
            <a:r>
              <a:rPr lang="hi-IN" sz="1400" dirty="0">
                <a:solidFill>
                  <a:srgbClr val="1B2A44"/>
                </a:solidFill>
              </a:rPr>
              <a:t>फिर से घटाइए। </a:t>
            </a:r>
          </a:p>
          <a:p>
            <a:pPr lvl="0">
              <a:defRPr/>
            </a:pPr>
            <a:r>
              <a:rPr lang="en-GB" sz="1400" dirty="0">
                <a:solidFill>
                  <a:srgbClr val="1B2A44"/>
                </a:solidFill>
              </a:rPr>
              <a:t>If the child choose </a:t>
            </a:r>
            <a:r>
              <a:rPr lang="en-US" sz="1400" dirty="0">
                <a:solidFill>
                  <a:srgbClr val="1B2A44"/>
                </a:solidFill>
              </a:rPr>
              <a:t>83 or 87</a:t>
            </a:r>
            <a:r>
              <a:rPr lang="en-GB" sz="1400" dirty="0">
                <a:solidFill>
                  <a:srgbClr val="1B2A44"/>
                </a:solidFill>
              </a:rPr>
              <a:t>, the VO: </a:t>
            </a:r>
            <a:r>
              <a:rPr lang="en-US" sz="1400" dirty="0">
                <a:solidFill>
                  <a:srgbClr val="1B2A44"/>
                </a:solidFill>
              </a:rPr>
              <a:t>91</a:t>
            </a:r>
            <a:r>
              <a:rPr lang="hi-IN" sz="1400" dirty="0">
                <a:solidFill>
                  <a:srgbClr val="1B2A44"/>
                </a:solidFill>
              </a:rPr>
              <a:t> मे से </a:t>
            </a:r>
            <a:r>
              <a:rPr lang="en-US" sz="1400" dirty="0">
                <a:solidFill>
                  <a:srgbClr val="1B2A44"/>
                </a:solidFill>
              </a:rPr>
              <a:t>14</a:t>
            </a:r>
            <a:r>
              <a:rPr lang="hi-IN" sz="1400" dirty="0">
                <a:solidFill>
                  <a:srgbClr val="1B2A44"/>
                </a:solidFill>
              </a:rPr>
              <a:t> घटाने पर </a:t>
            </a:r>
            <a:r>
              <a:rPr lang="en-US" sz="1400" dirty="0">
                <a:solidFill>
                  <a:srgbClr val="1B2A44"/>
                </a:solidFill>
              </a:rPr>
              <a:t>77</a:t>
            </a:r>
            <a:r>
              <a:rPr lang="hi-IN" sz="1400" dirty="0">
                <a:solidFill>
                  <a:srgbClr val="1B2A44"/>
                </a:solidFill>
              </a:rPr>
              <a:t> बचता है। तो सही संख्या यह है। </a:t>
            </a:r>
          </a:p>
          <a:p>
            <a:pPr lvl="0">
              <a:defRPr/>
            </a:pPr>
            <a:r>
              <a:rPr lang="en-GB" sz="1400" dirty="0">
                <a:solidFill>
                  <a:srgbClr val="1B2A44"/>
                </a:solidFill>
              </a:rPr>
              <a:t>Glow number </a:t>
            </a:r>
            <a:r>
              <a:rPr lang="en-US" sz="1400" dirty="0">
                <a:solidFill>
                  <a:srgbClr val="1B2A44"/>
                </a:solidFill>
              </a:rPr>
              <a:t>77</a:t>
            </a:r>
            <a:r>
              <a:rPr lang="hi-IN" sz="1400" dirty="0">
                <a:solidFill>
                  <a:srgbClr val="1B2A44"/>
                </a:solidFill>
              </a:rPr>
              <a:t> </a:t>
            </a:r>
            <a:r>
              <a:rPr lang="en-GB" sz="1400" dirty="0">
                <a:solidFill>
                  <a:srgbClr val="1B2A44"/>
                </a:solidFill>
              </a:rPr>
              <a:t>and other two non-clickable.</a:t>
            </a:r>
            <a:endParaRPr lang="hi-IN" sz="1300" b="0" i="0" dirty="0">
              <a:solidFill>
                <a:srgbClr val="1B2A44"/>
              </a:solidFill>
            </a:endParaRPr>
          </a:p>
        </p:txBody>
      </p:sp>
      <p:sp>
        <p:nvSpPr>
          <p:cNvPr id="12" name="Rectangle: Rounded Corners 10">
            <a:extLst>
              <a:ext uri="{FF2B5EF4-FFF2-40B4-BE49-F238E27FC236}">
                <a16:creationId xmlns:a16="http://schemas.microsoft.com/office/drawing/2014/main" id="{628D1CDD-082B-A9DF-9B15-7850FD1DFE87}"/>
              </a:ext>
            </a:extLst>
          </p:cNvPr>
          <p:cNvSpPr/>
          <p:nvPr/>
        </p:nvSpPr>
        <p:spPr>
          <a:xfrm>
            <a:off x="2773680" y="1715978"/>
            <a:ext cx="670560" cy="47042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−</a:t>
            </a:r>
            <a:endParaRPr lang="en-IN" sz="3200" b="1" dirty="0"/>
          </a:p>
        </p:txBody>
      </p:sp>
      <p:sp>
        <p:nvSpPr>
          <p:cNvPr id="13" name="Rectangle: Rounded Corners 10">
            <a:extLst>
              <a:ext uri="{FF2B5EF4-FFF2-40B4-BE49-F238E27FC236}">
                <a16:creationId xmlns:a16="http://schemas.microsoft.com/office/drawing/2014/main" id="{56C3DBAF-27AF-06E2-D52E-DEAF99952CAC}"/>
              </a:ext>
            </a:extLst>
          </p:cNvPr>
          <p:cNvSpPr/>
          <p:nvPr/>
        </p:nvSpPr>
        <p:spPr>
          <a:xfrm>
            <a:off x="3627120" y="1609840"/>
            <a:ext cx="670560" cy="6826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14</a:t>
            </a:r>
            <a:endParaRPr lang="en-IN" sz="3200" b="1" dirty="0"/>
          </a:p>
        </p:txBody>
      </p: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3FC5ECEB-8AC7-F507-B64C-C22DBEA02EAA}"/>
              </a:ext>
            </a:extLst>
          </p:cNvPr>
          <p:cNvSpPr/>
          <p:nvPr/>
        </p:nvSpPr>
        <p:spPr>
          <a:xfrm>
            <a:off x="5334000" y="1609840"/>
            <a:ext cx="670560" cy="6826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>
                    <a:lumMod val="85000"/>
                  </a:schemeClr>
                </a:solidFill>
              </a:rPr>
              <a:t>?</a:t>
            </a:r>
          </a:p>
        </p:txBody>
      </p:sp>
      <p:sp>
        <p:nvSpPr>
          <p:cNvPr id="15" name="Rectangle: Rounded Corners 10">
            <a:extLst>
              <a:ext uri="{FF2B5EF4-FFF2-40B4-BE49-F238E27FC236}">
                <a16:creationId xmlns:a16="http://schemas.microsoft.com/office/drawing/2014/main" id="{470CF677-60C1-BA37-4BDA-DF7EA3B38DC6}"/>
              </a:ext>
            </a:extLst>
          </p:cNvPr>
          <p:cNvSpPr/>
          <p:nvPr/>
        </p:nvSpPr>
        <p:spPr>
          <a:xfrm>
            <a:off x="4480560" y="1715978"/>
            <a:ext cx="670560" cy="47042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=</a:t>
            </a:r>
            <a:endParaRPr lang="en-IN" sz="3200" b="1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D31D5AC-31DD-7B3B-CC50-B6DEF851A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320856"/>
              </p:ext>
            </p:extLst>
          </p:nvPr>
        </p:nvGraphicFramePr>
        <p:xfrm>
          <a:off x="-1693536" y="4864912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7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FB50E520-F45C-467E-A929-F6BF4AE39B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1207843" y="5328788"/>
            <a:ext cx="246888" cy="1179576"/>
          </a:xfrm>
          <a:prstGeom prst="rect">
            <a:avLst/>
          </a:prstGeom>
        </p:spPr>
      </p:pic>
      <p:pic>
        <p:nvPicPr>
          <p:cNvPr id="18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4054085A-C2AC-FF98-E43D-3A3D40FC75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995519" y="5328788"/>
            <a:ext cx="246888" cy="1179576"/>
          </a:xfrm>
          <a:prstGeom prst="rect">
            <a:avLst/>
          </a:prstGeom>
        </p:spPr>
      </p:pic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51283B05-01CB-2982-469F-35C94E685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390482"/>
              </p:ext>
            </p:extLst>
          </p:nvPr>
        </p:nvGraphicFramePr>
        <p:xfrm>
          <a:off x="4990114" y="4858286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" name="Picture 19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F823BDD4-BE8D-3DF0-3367-1266E8C48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634" y="5809262"/>
            <a:ext cx="256032" cy="219456"/>
          </a:xfrm>
          <a:prstGeom prst="rect">
            <a:avLst/>
          </a:prstGeom>
        </p:spPr>
      </p:pic>
      <p:pic>
        <p:nvPicPr>
          <p:cNvPr id="2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3ECFEAA3-74F9-B482-2621-1C36017A0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946" y="5809262"/>
            <a:ext cx="256032" cy="219456"/>
          </a:xfrm>
          <a:prstGeom prst="rect">
            <a:avLst/>
          </a:prstGeom>
        </p:spPr>
      </p:pic>
      <p:pic>
        <p:nvPicPr>
          <p:cNvPr id="22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3430E844-51E3-E9C7-707F-3682AF47F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258" y="5809262"/>
            <a:ext cx="256032" cy="219456"/>
          </a:xfrm>
          <a:prstGeom prst="rect">
            <a:avLst/>
          </a:prstGeom>
        </p:spPr>
      </p:pic>
      <p:pic>
        <p:nvPicPr>
          <p:cNvPr id="23" name="Picture 22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A202E31D-2000-38C3-3D13-472FFDD03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570" y="5809262"/>
            <a:ext cx="256032" cy="219456"/>
          </a:xfrm>
          <a:prstGeom prst="rect">
            <a:avLst/>
          </a:prstGeom>
        </p:spPr>
      </p:pic>
      <p:pic>
        <p:nvPicPr>
          <p:cNvPr id="24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99E161AE-D981-0A4A-1CF0-F54FED537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5882" y="5809262"/>
            <a:ext cx="256032" cy="219456"/>
          </a:xfrm>
          <a:prstGeom prst="rect">
            <a:avLst/>
          </a:prstGeom>
        </p:spPr>
      </p:pic>
      <p:pic>
        <p:nvPicPr>
          <p:cNvPr id="25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D227CE6B-F31B-D3FD-5E97-DE6B626CE2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741753" y="5305928"/>
            <a:ext cx="246888" cy="1179576"/>
          </a:xfrm>
          <a:prstGeom prst="rect">
            <a:avLst/>
          </a:prstGeom>
        </p:spPr>
      </p:pic>
      <p:pic>
        <p:nvPicPr>
          <p:cNvPr id="26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08EB395B-17DF-A2C7-5078-2828DC5E86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466103" y="5319711"/>
            <a:ext cx="246888" cy="1179576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5B4D538-90C9-91FE-0C36-F1B08A3BC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561611"/>
              </p:ext>
            </p:extLst>
          </p:nvPr>
        </p:nvGraphicFramePr>
        <p:xfrm>
          <a:off x="1590197" y="4815977"/>
          <a:ext cx="3225796" cy="176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 </a:t>
                      </a:r>
                      <a:r>
                        <a:rPr lang="hi-IN" sz="1200" dirty="0"/>
                        <a:t>दहाई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 </a:t>
                      </a:r>
                      <a:r>
                        <a:rPr lang="hi-IN" sz="1200" dirty="0"/>
                        <a:t>इकाई 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5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8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15717EF7-36AB-EAAC-8780-BC49F4C67A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1649768" y="5256993"/>
            <a:ext cx="246888" cy="1179576"/>
          </a:xfrm>
          <a:prstGeom prst="rect">
            <a:avLst/>
          </a:prstGeom>
        </p:spPr>
      </p:pic>
      <p:pic>
        <p:nvPicPr>
          <p:cNvPr id="29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C28F1D42-349C-5346-153C-0FD721B38F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1877332" y="5256993"/>
            <a:ext cx="246888" cy="1179576"/>
          </a:xfrm>
          <a:prstGeom prst="rect">
            <a:avLst/>
          </a:prstGeom>
        </p:spPr>
      </p:pic>
      <p:pic>
        <p:nvPicPr>
          <p:cNvPr id="30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73A2B284-7DCB-0227-B017-7CB260154D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2101360" y="5256993"/>
            <a:ext cx="246888" cy="1179576"/>
          </a:xfrm>
          <a:prstGeom prst="rect">
            <a:avLst/>
          </a:prstGeom>
        </p:spPr>
      </p:pic>
      <p:pic>
        <p:nvPicPr>
          <p:cNvPr id="31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F778F5A1-793C-EC20-5E17-EF511A572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108" y="5333501"/>
            <a:ext cx="256032" cy="219456"/>
          </a:xfrm>
          <a:prstGeom prst="rect">
            <a:avLst/>
          </a:prstGeom>
        </p:spPr>
      </p:pic>
      <p:pic>
        <p:nvPicPr>
          <p:cNvPr id="32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B5828D32-8FB1-53B5-3013-87B3D5D72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420" y="5333501"/>
            <a:ext cx="256032" cy="219456"/>
          </a:xfrm>
          <a:prstGeom prst="rect">
            <a:avLst/>
          </a:prstGeom>
        </p:spPr>
      </p:pic>
      <p:pic>
        <p:nvPicPr>
          <p:cNvPr id="33" name="Picture 32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87F8D596-8547-C475-987E-B1A916347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732" y="5333501"/>
            <a:ext cx="256032" cy="219456"/>
          </a:xfrm>
          <a:prstGeom prst="rect">
            <a:avLst/>
          </a:prstGeom>
        </p:spPr>
      </p:pic>
      <p:pic>
        <p:nvPicPr>
          <p:cNvPr id="34" name="Picture 33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F38E7A19-9D01-B9F7-2C60-96DF4F2ED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044" y="5333501"/>
            <a:ext cx="256032" cy="219456"/>
          </a:xfrm>
          <a:prstGeom prst="rect">
            <a:avLst/>
          </a:prstGeom>
        </p:spPr>
      </p:pic>
      <p:pic>
        <p:nvPicPr>
          <p:cNvPr id="35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7B86C8A5-54C7-0F39-15DD-BFE994E9A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356" y="5334364"/>
            <a:ext cx="256032" cy="219456"/>
          </a:xfrm>
          <a:prstGeom prst="rect">
            <a:avLst/>
          </a:prstGeom>
        </p:spPr>
      </p:pic>
      <p:pic>
        <p:nvPicPr>
          <p:cNvPr id="3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ACDF18D5-D3AC-B0A7-22E5-D8F177284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108" y="5543138"/>
            <a:ext cx="256032" cy="219456"/>
          </a:xfrm>
          <a:prstGeom prst="rect">
            <a:avLst/>
          </a:prstGeom>
        </p:spPr>
      </p:pic>
      <p:pic>
        <p:nvPicPr>
          <p:cNvPr id="37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424E0829-1312-0983-E5B6-45BE3EBC2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420" y="5543138"/>
            <a:ext cx="256032" cy="219456"/>
          </a:xfrm>
          <a:prstGeom prst="rect">
            <a:avLst/>
          </a:prstGeom>
        </p:spPr>
      </p:pic>
      <p:pic>
        <p:nvPicPr>
          <p:cNvPr id="38" name="Picture 37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F394F0C-F6C8-C602-2143-A97BB6072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732" y="5543138"/>
            <a:ext cx="256032" cy="219456"/>
          </a:xfrm>
          <a:prstGeom prst="rect">
            <a:avLst/>
          </a:prstGeom>
        </p:spPr>
      </p:pic>
      <p:pic>
        <p:nvPicPr>
          <p:cNvPr id="39" name="Picture 38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721B2DB6-BBEC-DDD8-4D20-107CA4DDE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044" y="5543138"/>
            <a:ext cx="256032" cy="219456"/>
          </a:xfrm>
          <a:prstGeom prst="rect">
            <a:avLst/>
          </a:prstGeom>
        </p:spPr>
      </p:pic>
      <p:pic>
        <p:nvPicPr>
          <p:cNvPr id="40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DBBF2AF-39AA-2EAB-C0FC-8872E9ACD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356" y="5544001"/>
            <a:ext cx="256032" cy="219456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E1EF43F-2A4C-C25B-E0F9-60257A6967A1}"/>
              </a:ext>
            </a:extLst>
          </p:cNvPr>
          <p:cNvSpPr/>
          <p:nvPr/>
        </p:nvSpPr>
        <p:spPr>
          <a:xfrm>
            <a:off x="3386577" y="5305928"/>
            <a:ext cx="1125003" cy="462762"/>
          </a:xfrm>
          <a:prstGeom prst="roundRect">
            <a:avLst>
              <a:gd name="adj" fmla="val 1710"/>
            </a:avLst>
          </a:prstGeom>
          <a:noFill/>
          <a:ln w="19050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2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41E53168-5817-E69F-0D19-14FD9580F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0097" y="5791411"/>
            <a:ext cx="256032" cy="219456"/>
          </a:xfrm>
          <a:prstGeom prst="rect">
            <a:avLst/>
          </a:prstGeom>
        </p:spPr>
      </p:pic>
      <p:pic>
        <p:nvPicPr>
          <p:cNvPr id="43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9CFCC420-F488-C299-C07D-C1AD47731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2654" y="5781090"/>
            <a:ext cx="256032" cy="219456"/>
          </a:xfrm>
          <a:prstGeom prst="rect">
            <a:avLst/>
          </a:prstGeom>
        </p:spPr>
      </p:pic>
      <p:pic>
        <p:nvPicPr>
          <p:cNvPr id="44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DAEF3897-051B-5492-5CB7-A2189BBA6A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1389230" y="5353519"/>
            <a:ext cx="246888" cy="1179576"/>
          </a:xfrm>
          <a:prstGeom prst="rect">
            <a:avLst/>
          </a:prstGeom>
        </p:spPr>
      </p:pic>
      <p:pic>
        <p:nvPicPr>
          <p:cNvPr id="45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0ABD93C8-C0B1-3BDE-CBD1-F73C8A1CDA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1573142" y="5353519"/>
            <a:ext cx="246888" cy="1179576"/>
          </a:xfrm>
          <a:prstGeom prst="rect">
            <a:avLst/>
          </a:prstGeom>
        </p:spPr>
      </p:pic>
      <p:pic>
        <p:nvPicPr>
          <p:cNvPr id="46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795C11E0-595D-1140-7FC2-4F3F963D47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2336310" y="5251049"/>
            <a:ext cx="246888" cy="1179576"/>
          </a:xfrm>
          <a:prstGeom prst="rect">
            <a:avLst/>
          </a:prstGeom>
        </p:spPr>
      </p:pic>
      <p:pic>
        <p:nvPicPr>
          <p:cNvPr id="47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EAB92712-8C0C-9D40-0FFD-B2AED2CB39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2563874" y="5251049"/>
            <a:ext cx="246888" cy="1179576"/>
          </a:xfrm>
          <a:prstGeom prst="rect">
            <a:avLst/>
          </a:prstGeom>
        </p:spPr>
      </p:pic>
      <p:pic>
        <p:nvPicPr>
          <p:cNvPr id="48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DDB1C060-AF3C-319F-FA07-A30CDF4C1A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6297748" y="5256993"/>
            <a:ext cx="246888" cy="1179576"/>
          </a:xfrm>
          <a:prstGeom prst="rect">
            <a:avLst/>
          </a:prstGeom>
        </p:spPr>
      </p:pic>
      <p:pic>
        <p:nvPicPr>
          <p:cNvPr id="49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DE54B875-16FA-B12F-9705-2426E3143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01" y="5699120"/>
            <a:ext cx="256032" cy="219456"/>
          </a:xfrm>
          <a:prstGeom prst="rect">
            <a:avLst/>
          </a:prstGeom>
        </p:spPr>
      </p:pic>
      <p:pic>
        <p:nvPicPr>
          <p:cNvPr id="50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8B0D14CE-E0FD-61CC-0D8B-3CC45B2314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6056398" y="5271503"/>
            <a:ext cx="246888" cy="1179576"/>
          </a:xfrm>
          <a:prstGeom prst="rect">
            <a:avLst/>
          </a:prstGeom>
        </p:spPr>
      </p:pic>
      <p:pic>
        <p:nvPicPr>
          <p:cNvPr id="51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0745A40E-8D51-F5E4-5458-FD1F1BB21A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2194481" y="5353519"/>
            <a:ext cx="246888" cy="1179576"/>
          </a:xfrm>
          <a:prstGeom prst="rect">
            <a:avLst/>
          </a:prstGeom>
        </p:spPr>
      </p:pic>
      <p:pic>
        <p:nvPicPr>
          <p:cNvPr id="52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BBC7C3A9-C0C9-5992-0D67-4CF9C19836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1788509" y="5328788"/>
            <a:ext cx="246888" cy="1179576"/>
          </a:xfrm>
          <a:prstGeom prst="rect">
            <a:avLst/>
          </a:prstGeom>
        </p:spPr>
      </p:pic>
      <p:pic>
        <p:nvPicPr>
          <p:cNvPr id="53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345F7236-A394-FB0C-F82F-6AC806ECA3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-2001790" y="5333501"/>
            <a:ext cx="246888" cy="1179576"/>
          </a:xfrm>
          <a:prstGeom prst="rect">
            <a:avLst/>
          </a:prstGeom>
        </p:spPr>
      </p:pic>
      <p:pic>
        <p:nvPicPr>
          <p:cNvPr id="54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F0B5D944-32CD-6073-2C88-AED1BDBAB0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2797219" y="5256993"/>
            <a:ext cx="246888" cy="1179576"/>
          </a:xfrm>
          <a:prstGeom prst="rect">
            <a:avLst/>
          </a:prstGeom>
        </p:spPr>
      </p:pic>
      <p:pic>
        <p:nvPicPr>
          <p:cNvPr id="55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96BD0C65-AAF7-0942-EB15-F7CF3091BC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3020026" y="5224442"/>
            <a:ext cx="246888" cy="1179576"/>
          </a:xfrm>
          <a:prstGeom prst="rect">
            <a:avLst/>
          </a:prstGeom>
        </p:spPr>
      </p:pic>
      <p:pic>
        <p:nvPicPr>
          <p:cNvPr id="56" name="Picture 16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1E5E3ADD-122D-F0C8-BB43-4709C6628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419" y="5799771"/>
            <a:ext cx="256032" cy="219456"/>
          </a:xfrm>
          <a:prstGeom prst="rect">
            <a:avLst/>
          </a:prstGeom>
        </p:spPr>
      </p:pic>
      <p:pic>
        <p:nvPicPr>
          <p:cNvPr id="57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FCD2C8A2-3874-AD69-AA08-B2ADFD6975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5779729" y="5291418"/>
            <a:ext cx="246888" cy="1179576"/>
          </a:xfrm>
          <a:prstGeom prst="rect">
            <a:avLst/>
          </a:prstGeom>
        </p:spPr>
      </p:pic>
      <p:pic>
        <p:nvPicPr>
          <p:cNvPr id="58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29032840-90B5-C003-40F6-061AEC3EB7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5538379" y="5305928"/>
            <a:ext cx="246888" cy="1179576"/>
          </a:xfrm>
          <a:prstGeom prst="rect">
            <a:avLst/>
          </a:prstGeom>
        </p:spPr>
      </p:pic>
      <p:pic>
        <p:nvPicPr>
          <p:cNvPr id="59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859F2B35-BF10-A963-FD3D-126393FC2B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5322529" y="5305201"/>
            <a:ext cx="246888" cy="1179576"/>
          </a:xfrm>
          <a:prstGeom prst="rect">
            <a:avLst/>
          </a:prstGeom>
        </p:spPr>
      </p:pic>
      <p:pic>
        <p:nvPicPr>
          <p:cNvPr id="60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26D70C40-D8BC-CABC-1A83-2D31880665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5081179" y="5319711"/>
            <a:ext cx="246888" cy="1179576"/>
          </a:xfrm>
          <a:prstGeom prst="rect">
            <a:avLst/>
          </a:prstGeom>
        </p:spPr>
      </p:pic>
      <p:pic>
        <p:nvPicPr>
          <p:cNvPr id="61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EB86D397-6763-0489-A134-651706D5EE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4877825" y="5328788"/>
            <a:ext cx="246888" cy="1179576"/>
          </a:xfrm>
          <a:prstGeom prst="rect">
            <a:avLst/>
          </a:prstGeom>
        </p:spPr>
      </p:pic>
      <p:pic>
        <p:nvPicPr>
          <p:cNvPr id="62" name="Picture 9" descr="A green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05F83016-EF8D-AF02-431B-65D4A43168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16" r="35816"/>
          <a:stretch>
            <a:fillRect/>
          </a:stretch>
        </p:blipFill>
        <p:spPr>
          <a:xfrm>
            <a:off x="1465852" y="5244111"/>
            <a:ext cx="246888" cy="11795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12 · 12_COUNT_DRAG_MATCH.png</a:t>
            </a:r>
          </a:p>
        </p:txBody>
      </p:sp>
      <p:pic>
        <p:nvPicPr>
          <p:cNvPr id="3" name="Picture 2" descr="12_COUNT_DRAG_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0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 </a:t>
            </a:r>
            <a:r>
              <a:rPr lang="en-US" sz="2800" dirty="0">
                <a:solidFill>
                  <a:srgbClr val="1B2A44"/>
                </a:solidFill>
              </a:rPr>
              <a:t>delete</a:t>
            </a:r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13 · 13_MAKE_SET.png</a:t>
            </a:r>
          </a:p>
        </p:txBody>
      </p:sp>
      <p:pic>
        <p:nvPicPr>
          <p:cNvPr id="3" name="Picture 2" descr="13_MAKE_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0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lang="en-GB" sz="900" dirty="0">
                <a:solidFill>
                  <a:srgbClr val="1B2A44"/>
                </a:solidFill>
              </a:rPr>
              <a:t>• </a:t>
            </a:r>
            <a:r>
              <a:rPr lang="en-GB" sz="3200" dirty="0">
                <a:solidFill>
                  <a:srgbClr val="1B2A44"/>
                </a:solidFill>
              </a:rPr>
              <a:t>delete</a:t>
            </a:r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14 · 14_COUNT_ACTION.png</a:t>
            </a:r>
          </a:p>
        </p:txBody>
      </p:sp>
      <p:pic>
        <p:nvPicPr>
          <p:cNvPr id="3" name="Picture 2" descr="14_COUNT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0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 </a:t>
            </a:r>
            <a:r>
              <a:rPr lang="en-GB" sz="900" dirty="0">
                <a:solidFill>
                  <a:srgbClr val="1B2A44"/>
                </a:solidFill>
              </a:rPr>
              <a:t> </a:t>
            </a:r>
            <a:r>
              <a:rPr lang="en-GB" sz="1400" dirty="0">
                <a:solidFill>
                  <a:srgbClr val="1B2A44"/>
                </a:solidFill>
              </a:rPr>
              <a:t>delete</a:t>
            </a:r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15 · 15_PICK_SET_BY_NUMBER.png</a:t>
            </a:r>
          </a:p>
        </p:txBody>
      </p:sp>
      <p:pic>
        <p:nvPicPr>
          <p:cNvPr id="3" name="Picture 2" descr="15_PICK_SET_BY_NU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0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 </a:t>
            </a:r>
            <a:r>
              <a:rPr lang="en-GB" sz="900" dirty="0">
                <a:solidFill>
                  <a:srgbClr val="1B2A44"/>
                </a:solidFill>
              </a:rPr>
              <a:t>• </a:t>
            </a:r>
            <a:r>
              <a:rPr lang="en-GB" sz="1400" dirty="0">
                <a:solidFill>
                  <a:srgbClr val="1B2A44"/>
                </a:solidFill>
              </a:rPr>
              <a:t>delete</a:t>
            </a:r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16 · 16_SEQUENCE_COMPLETE.png</a:t>
            </a:r>
          </a:p>
        </p:txBody>
      </p:sp>
      <p:pic>
        <p:nvPicPr>
          <p:cNvPr id="3" name="Picture 2" descr="16_SEQUENCE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0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 </a:t>
            </a:r>
            <a:r>
              <a:rPr lang="en-GB" sz="900" dirty="0">
                <a:solidFill>
                  <a:srgbClr val="1B2A44"/>
                </a:solidFill>
              </a:rPr>
              <a:t>• </a:t>
            </a:r>
            <a:r>
              <a:rPr lang="en-GB" sz="1400" dirty="0">
                <a:solidFill>
                  <a:srgbClr val="1B2A44"/>
                </a:solidFill>
              </a:rPr>
              <a:t>delete</a:t>
            </a:r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17 · 17_CELEBRATION.png</a:t>
            </a:r>
          </a:p>
        </p:txBody>
      </p:sp>
      <p:pic>
        <p:nvPicPr>
          <p:cNvPr id="3" name="Picture 2" descr="17_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310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 </a:t>
            </a:r>
            <a:r>
              <a:rPr lang="hi-IN" sz="1300" dirty="0">
                <a:solidFill>
                  <a:srgbClr val="1B2A44"/>
                </a:solidFill>
              </a:rPr>
              <a:t>VO:</a:t>
            </a:r>
            <a:r>
              <a:rPr sz="1300" dirty="0">
                <a:solidFill>
                  <a:srgbClr val="1B2A44"/>
                </a:solidFill>
              </a:rPr>
              <a:t> '</a:t>
            </a:r>
            <a:r>
              <a:rPr sz="1300" dirty="0" err="1">
                <a:solidFill>
                  <a:srgbClr val="1B2A44"/>
                </a:solidFill>
              </a:rPr>
              <a:t>शाबाश</a:t>
            </a:r>
            <a:r>
              <a:rPr sz="1300" dirty="0">
                <a:solidFill>
                  <a:srgbClr val="1B2A44"/>
                </a:solidFill>
              </a:rPr>
              <a:t>! </a:t>
            </a:r>
            <a:r>
              <a:rPr lang="hi-IN" sz="1300" dirty="0">
                <a:solidFill>
                  <a:srgbClr val="1B2A44"/>
                </a:solidFill>
              </a:rPr>
              <a:t>आपने </a:t>
            </a:r>
            <a:r>
              <a:rPr sz="1300" dirty="0" err="1">
                <a:solidFill>
                  <a:srgbClr val="1B2A44"/>
                </a:solidFill>
              </a:rPr>
              <a:t>दहाई</a:t>
            </a:r>
            <a:r>
              <a:rPr sz="1300" dirty="0">
                <a:solidFill>
                  <a:srgbClr val="1B2A44"/>
                </a:solidFill>
              </a:rPr>
              <a:t> </a:t>
            </a:r>
            <a:r>
              <a:rPr sz="1300" dirty="0" err="1">
                <a:solidFill>
                  <a:srgbClr val="1B2A44"/>
                </a:solidFill>
              </a:rPr>
              <a:t>खोलकर</a:t>
            </a:r>
            <a:r>
              <a:rPr sz="1300" dirty="0">
                <a:solidFill>
                  <a:srgbClr val="1B2A44"/>
                </a:solidFill>
              </a:rPr>
              <a:t> </a:t>
            </a:r>
            <a:r>
              <a:rPr lang="hi-IN" sz="1300" dirty="0">
                <a:solidFill>
                  <a:srgbClr val="1B2A44"/>
                </a:solidFill>
              </a:rPr>
              <a:t>घटाना</a:t>
            </a:r>
            <a:r>
              <a:rPr sz="1300" dirty="0">
                <a:solidFill>
                  <a:srgbClr val="1B2A44"/>
                </a:solidFill>
              </a:rPr>
              <a:t> </a:t>
            </a:r>
            <a:r>
              <a:rPr lang="hi-IN" sz="1300" dirty="0">
                <a:solidFill>
                  <a:srgbClr val="1B2A44"/>
                </a:solidFill>
              </a:rPr>
              <a:t>सीख लिया</a:t>
            </a:r>
            <a:r>
              <a:rPr sz="1300" dirty="0">
                <a:solidFill>
                  <a:srgbClr val="1B2A44"/>
                </a:solidFill>
              </a:rPr>
              <a:t>!'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3363</Words>
  <Application>Microsoft Office PowerPoint</Application>
  <PresentationFormat>Widescreen</PresentationFormat>
  <Paragraphs>407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ADLaM Display</vt:lpstr>
      <vt:lpstr>Aptos</vt:lpstr>
      <vt:lpstr>Arial</vt:lpstr>
      <vt:lpstr>Calibri</vt:lpstr>
      <vt:lpstr>Mangal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Saifur Rehman</cp:lastModifiedBy>
  <cp:revision>8</cp:revision>
  <dcterms:created xsi:type="dcterms:W3CDTF">2013-01-27T09:14:16Z</dcterms:created>
  <dcterms:modified xsi:type="dcterms:W3CDTF">2026-09-30T17:52:50Z</dcterms:modified>
  <cp:category/>
</cp:coreProperties>
</file>